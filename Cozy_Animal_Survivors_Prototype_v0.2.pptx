
<file path=[Content_Types].xml><?xml version="1.0" encoding="utf-8"?>
<Types xmlns="http://schemas.openxmlformats.org/package/2006/content-types">
  <Default Extension="xml" ContentType="application/vnd.openxmlformats-package.core-properties+xml"/>
  <Default Extension="png" ContentType="image/pn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19dd1ab1e0e4494" /><Relationship Type="http://schemas.openxmlformats.org/officeDocument/2006/relationships/extended-properties" Target="/docProps/app.xml" Id="Rfbda61a901be480b" /><Relationship Type="http://schemas.openxmlformats.org/officeDocument/2006/relationships/officeDocument" Target="/ppt/presentation.xml" Id="R78ace1345ffb46b4" /></Relationships>
</file>

<file path=ppt/presentation.xml><?xml version="1.0" encoding="utf-8"?>
<p:presentation xmlns:p="http://schemas.openxmlformats.org/presentationml/2006/main">
  <p:sldMasterIdLst>
    <p:sldMasterId xmlns:r="http://schemas.openxmlformats.org/officeDocument/2006/relationships" id="2147483648" r:id="Rdace381f3bd94250"/>
  </p:sldMasterIdLst>
  <p:notesMasterIdLst>
    <p:notesMasterId xmlns:r="http://schemas.openxmlformats.org/officeDocument/2006/relationships" r:id="Rc4054b8a54c04caf"/>
  </p:notesMasterIdLst>
  <p:sldIdLst>
    <p:sldId xmlns:r="http://schemas.openxmlformats.org/officeDocument/2006/relationships" id="256" r:id="Rc3e16c1600a04511"/>
    <p:sldId xmlns:r="http://schemas.openxmlformats.org/officeDocument/2006/relationships" id="257" r:id="R3858480e5c6e4522"/>
    <p:sldId xmlns:r="http://schemas.openxmlformats.org/officeDocument/2006/relationships" id="258" r:id="Rc090999c8e574cf5"/>
    <p:sldId xmlns:r="http://schemas.openxmlformats.org/officeDocument/2006/relationships" id="259" r:id="Rdf4241b95dbd4929"/>
    <p:sldId xmlns:r="http://schemas.openxmlformats.org/officeDocument/2006/relationships" id="260" r:id="Rc688e1317b5e4f50"/>
    <p:sldId xmlns:r="http://schemas.openxmlformats.org/officeDocument/2006/relationships" id="261" r:id="Rcf3e19337afd4963"/>
    <p:sldId xmlns:r="http://schemas.openxmlformats.org/officeDocument/2006/relationships" id="262" r:id="R20a991f6ea674783"/>
    <p:sldId xmlns:r="http://schemas.openxmlformats.org/officeDocument/2006/relationships" id="263" r:id="R51da7cf1e7014139"/>
    <p:sldId xmlns:r="http://schemas.openxmlformats.org/officeDocument/2006/relationships" id="264" r:id="R7b911371643c4402"/>
    <p:sldId xmlns:r="http://schemas.openxmlformats.org/officeDocument/2006/relationships" id="265" r:id="R44ec56688df049c9"/>
    <p:sldId xmlns:r="http://schemas.openxmlformats.org/officeDocument/2006/relationships" id="266" r:id="R06b81a53fbc448dd"/>
    <p:sldId xmlns:r="http://schemas.openxmlformats.org/officeDocument/2006/relationships" id="267" r:id="R51b5a94cdb0e4e16"/>
    <p:sldId xmlns:r="http://schemas.openxmlformats.org/officeDocument/2006/relationships" id="268" r:id="R70cd395fec8f4f0d"/>
    <p:sldId xmlns:r="http://schemas.openxmlformats.org/officeDocument/2006/relationships" id="269" r:id="R6e842ec5e3264742"/>
    <p:sldId xmlns:r="http://schemas.openxmlformats.org/officeDocument/2006/relationships" id="270" r:id="Re4b2bc3f372b4d46"/>
    <p:sldId xmlns:r="http://schemas.openxmlformats.org/officeDocument/2006/relationships" id="271" r:id="Rd83e36f99ecf4a74"/>
    <p:sldId xmlns:r="http://schemas.openxmlformats.org/officeDocument/2006/relationships" id="272" r:id="Rf052041618b14006"/>
    <p:sldId xmlns:r="http://schemas.openxmlformats.org/officeDocument/2006/relationships" id="273" r:id="R3eaef107d83741bc"/>
    <p:sldId xmlns:r="http://schemas.openxmlformats.org/officeDocument/2006/relationships" id="274" r:id="R5061362f39c049fe"/>
    <p:sldId xmlns:r="http://schemas.openxmlformats.org/officeDocument/2006/relationships" id="275" r:id="R236d5d38887f4a27"/>
    <p:sldId xmlns:r="http://schemas.openxmlformats.org/officeDocument/2006/relationships" id="276" r:id="Raf3bf9301af74905"/>
    <p:sldId xmlns:r="http://schemas.openxmlformats.org/officeDocument/2006/relationships" id="277" r:id="Rbe4d3845731d40a4"/>
    <p:sldId xmlns:r="http://schemas.openxmlformats.org/officeDocument/2006/relationships" id="278" r:id="R01898263f4da42c4"/>
    <p:sldId xmlns:r="http://schemas.openxmlformats.org/officeDocument/2006/relationships" id="279" r:id="Re1f7ab4a86844d2b"/>
    <p:sldId xmlns:r="http://schemas.openxmlformats.org/officeDocument/2006/relationships" id="280" r:id="R46d11396fa2e47c4"/>
    <p:sldId xmlns:r="http://schemas.openxmlformats.org/officeDocument/2006/relationships" id="281" r:id="Rd558ae9d83b649dd"/>
    <p:sldId xmlns:r="http://schemas.openxmlformats.org/officeDocument/2006/relationships" id="282" r:id="R6dfe50fdcc8a4200"/>
    <p:sldId xmlns:r="http://schemas.openxmlformats.org/officeDocument/2006/relationships" id="283" r:id="R80b3a3482ea1457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43035e24a5e4f89" /><Relationship Type="http://schemas.openxmlformats.org/officeDocument/2006/relationships/slideMaster" Target="/ppt/slideMasters/slideMaster1.xml" Id="Rdace381f3bd94250" /><Relationship Type="http://schemas.openxmlformats.org/officeDocument/2006/relationships/notesMaster" Target="/ppt/notesMasters/notesMaster1.xml" Id="Rc4054b8a54c04caf" /><Relationship Type="http://schemas.openxmlformats.org/officeDocument/2006/relationships/presProps" Target="/ppt/presProps.xml" Id="R52a1ebc4b771461b" /><Relationship Type="http://schemas.openxmlformats.org/officeDocument/2006/relationships/tableStyles" Target="/ppt/tableStyles.xml" Id="Re4aba963586742a4" /><Relationship Type="http://schemas.openxmlformats.org/officeDocument/2006/relationships/slide" Target="/ppt/slides/slide1.xml" Id="Rc3e16c1600a04511" /><Relationship Type="http://schemas.openxmlformats.org/officeDocument/2006/relationships/slide" Target="/ppt/slides/slide2.xml" Id="R3858480e5c6e4522" /><Relationship Type="http://schemas.openxmlformats.org/officeDocument/2006/relationships/slide" Target="/ppt/slides/slide3.xml" Id="Rc090999c8e574cf5" /><Relationship Type="http://schemas.openxmlformats.org/officeDocument/2006/relationships/slide" Target="/ppt/slides/slide4.xml" Id="Rdf4241b95dbd4929" /><Relationship Type="http://schemas.openxmlformats.org/officeDocument/2006/relationships/slide" Target="/ppt/slides/slide5.xml" Id="Rc688e1317b5e4f50" /><Relationship Type="http://schemas.openxmlformats.org/officeDocument/2006/relationships/slide" Target="/ppt/slides/slide6.xml" Id="Rcf3e19337afd4963" /><Relationship Type="http://schemas.openxmlformats.org/officeDocument/2006/relationships/slide" Target="/ppt/slides/slide7.xml" Id="R20a991f6ea674783" /><Relationship Type="http://schemas.openxmlformats.org/officeDocument/2006/relationships/slide" Target="/ppt/slides/slide8.xml" Id="R51da7cf1e7014139" /><Relationship Type="http://schemas.openxmlformats.org/officeDocument/2006/relationships/slide" Target="/ppt/slides/slide9.xml" Id="R7b911371643c4402" /><Relationship Type="http://schemas.openxmlformats.org/officeDocument/2006/relationships/slide" Target="/ppt/slides/slide10.xml" Id="R44ec56688df049c9" /><Relationship Type="http://schemas.openxmlformats.org/officeDocument/2006/relationships/slide" Target="/ppt/slides/slide11.xml" Id="R06b81a53fbc448dd" /><Relationship Type="http://schemas.openxmlformats.org/officeDocument/2006/relationships/slide" Target="/ppt/slides/slide12.xml" Id="R51b5a94cdb0e4e16" /><Relationship Type="http://schemas.openxmlformats.org/officeDocument/2006/relationships/slide" Target="/ppt/slides/slide13.xml" Id="R70cd395fec8f4f0d" /><Relationship Type="http://schemas.openxmlformats.org/officeDocument/2006/relationships/slide" Target="/ppt/slides/slide14.xml" Id="R6e842ec5e3264742" /><Relationship Type="http://schemas.openxmlformats.org/officeDocument/2006/relationships/slide" Target="/ppt/slides/slide15.xml" Id="Re4b2bc3f372b4d46" /><Relationship Type="http://schemas.openxmlformats.org/officeDocument/2006/relationships/slide" Target="/ppt/slides/slide16.xml" Id="Rd83e36f99ecf4a74" /><Relationship Type="http://schemas.openxmlformats.org/officeDocument/2006/relationships/slide" Target="/ppt/slides/slide17.xml" Id="Rf052041618b14006" /><Relationship Type="http://schemas.openxmlformats.org/officeDocument/2006/relationships/slide" Target="/ppt/slides/slide18.xml" Id="R3eaef107d83741bc" /><Relationship Type="http://schemas.openxmlformats.org/officeDocument/2006/relationships/slide" Target="/ppt/slides/slide19.xml" Id="R5061362f39c049fe" /><Relationship Type="http://schemas.openxmlformats.org/officeDocument/2006/relationships/slide" Target="/ppt/slides/slide20.xml" Id="R236d5d38887f4a27" /><Relationship Type="http://schemas.openxmlformats.org/officeDocument/2006/relationships/slide" Target="/ppt/slides/slide21.xml" Id="Raf3bf9301af74905" /><Relationship Type="http://schemas.openxmlformats.org/officeDocument/2006/relationships/slide" Target="/ppt/slides/slide22.xml" Id="Rbe4d3845731d40a4" /><Relationship Type="http://schemas.openxmlformats.org/officeDocument/2006/relationships/slide" Target="/ppt/slides/slide23.xml" Id="R01898263f4da42c4" /><Relationship Type="http://schemas.openxmlformats.org/officeDocument/2006/relationships/slide" Target="/ppt/slides/slide24.xml" Id="Re1f7ab4a86844d2b" /><Relationship Type="http://schemas.openxmlformats.org/officeDocument/2006/relationships/slide" Target="/ppt/slides/slide25.xml" Id="R46d11396fa2e47c4" /><Relationship Type="http://schemas.openxmlformats.org/officeDocument/2006/relationships/slide" Target="/ppt/slides/slide26.xml" Id="Rd558ae9d83b649dd" /><Relationship Type="http://schemas.openxmlformats.org/officeDocument/2006/relationships/slide" Target="/ppt/slides/slide27.xml" Id="R6dfe50fdcc8a4200" /><Relationship Type="http://schemas.openxmlformats.org/officeDocument/2006/relationships/slide" Target="/ppt/slides/slide28.xml" Id="R80b3a3482ea145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a21793b7ceb48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96e468b2be14114" /><Relationship Type="http://schemas.openxmlformats.org/officeDocument/2006/relationships/notesMaster" Target="/ppt/notesMasters/notesMaster1.xml" Id="Rf3173b4c514443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ce85e965574072" /><Relationship Type="http://schemas.openxmlformats.org/officeDocument/2006/relationships/notesMaster" Target="/ppt/notesMasters/notesMaster1.xml" Id="R4bcf8f01458e4c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8773ffc7b63412f" /><Relationship Type="http://schemas.openxmlformats.org/officeDocument/2006/relationships/notesMaster" Target="/ppt/notesMasters/notesMaster1.xml" Id="R79ee2edd6d6745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de7bb2f949a240c2" /><Relationship Type="http://schemas.openxmlformats.org/officeDocument/2006/relationships/notesMaster" Target="/ppt/notesMasters/notesMaster1.xml" Id="R2969fd482b4d4b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1f192f71a74d86" /><Relationship Type="http://schemas.openxmlformats.org/officeDocument/2006/relationships/notesMaster" Target="/ppt/notesMasters/notesMaster1.xml" Id="Rc39c1acb73aa42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53de3f4e0cdf452b" /><Relationship Type="http://schemas.openxmlformats.org/officeDocument/2006/relationships/notesMaster" Target="/ppt/notesMasters/notesMaster1.xml" Id="Rd577008220f44c4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a8c502ffd79442c" /><Relationship Type="http://schemas.openxmlformats.org/officeDocument/2006/relationships/notesMaster" Target="/ppt/notesMasters/notesMaster1.xml" Id="R4fefab63145e427f" /></Relationships>
</file>

<file path=ppt/notesSlides/_rels/notesSlide8.xml.rels>&#65279;<?xml version="1.0" encoding="utf-8"?><Relationships xmlns="http://schemas.openxmlformats.org/package/2006/relationships"><Relationship Type="http://schemas.openxmlformats.org/officeDocument/2006/relationships/slide" Target="/ppt/slides/slide8.xml" Id="R188745610c7b4682" /><Relationship Type="http://schemas.openxmlformats.org/officeDocument/2006/relationships/notesMaster" Target="/ppt/notesMasters/notesMaster1.xml" Id="Rcd5f9107aa8445b2" /></Relationships>
</file>

<file path=ppt/notesSlides/_rels/notesSlide9.xml.rels>&#65279;<?xml version="1.0" encoding="utf-8"?><Relationships xmlns="http://schemas.openxmlformats.org/package/2006/relationships"><Relationship Type="http://schemas.openxmlformats.org/officeDocument/2006/relationships/slide" Target="/ppt/slides/slide9.xml" Id="R597d315251144da9" /><Relationship Type="http://schemas.openxmlformats.org/officeDocument/2006/relationships/notesMaster" Target="/ppt/notesMasters/notesMaster1.xml" Id="Ra8b1b851fd72491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8231f6337d9426a" /><Relationship Type="http://schemas.openxmlformats.org/officeDocument/2006/relationships/notesMaster" Target="/ppt/notesMasters/notesMaster1.xml" Id="R91a4ce28cc8b451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dffa29baf5a4132" /><Relationship Type="http://schemas.openxmlformats.org/officeDocument/2006/relationships/notesMaster" Target="/ppt/notesMasters/notesMaster1.xml" Id="Rf12213a0acf34fb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c2bcec9e63e4efc" /><Relationship Type="http://schemas.openxmlformats.org/officeDocument/2006/relationships/notesMaster" Target="/ppt/notesMasters/notesMaster1.xml" Id="R7fefd44ee4e7438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7992c96e220489f" /><Relationship Type="http://schemas.openxmlformats.org/officeDocument/2006/relationships/notesMaster" Target="/ppt/notesMasters/notesMaster1.xml" Id="Ree4224b2dc63460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cb680f815ff4463" /><Relationship Type="http://schemas.openxmlformats.org/officeDocument/2006/relationships/notesMaster" Target="/ppt/notesMasters/notesMaster1.xml" Id="Raf8eb7b06f0a4a3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bc22c737d9f40c0" /><Relationship Type="http://schemas.openxmlformats.org/officeDocument/2006/relationships/notesMaster" Target="/ppt/notesMasters/notesMaster1.xml" Id="R37fc53f385d547a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1e488866e3c4b05" /><Relationship Type="http://schemas.openxmlformats.org/officeDocument/2006/relationships/notesMaster" Target="/ppt/notesMasters/notesMaster1.xml" Id="R4c876fe6a899406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8c8e295ec88486d" /><Relationship Type="http://schemas.openxmlformats.org/officeDocument/2006/relationships/notesMaster" Target="/ppt/notesMasters/notesMaster1.xml" Id="R295ca143081c480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ef7c71ddeb1488a" /><Relationship Type="http://schemas.openxmlformats.org/officeDocument/2006/relationships/notesMaster" Target="/ppt/notesMasters/notesMaster1.xml" Id="R912a947e4adf4bd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d6cae9f998f4a73" /><Relationship Type="http://schemas.openxmlformats.org/officeDocument/2006/relationships/notesMaster" Target="/ppt/notesMasters/notesMaster1.xml" Id="Rf4c4df878a71488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36a27a7972142ba" /><Relationship Type="http://schemas.openxmlformats.org/officeDocument/2006/relationships/notesMaster" Target="/ppt/notesMasters/notesMaster1.xml" Id="Rc6034a53c97c4f5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b27385f38494c56" /><Relationship Type="http://schemas.openxmlformats.org/officeDocument/2006/relationships/notesMaster" Target="/ppt/notesMasters/notesMaster1.xml" Id="R300ed0ac7d2745a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0addd323e754400" /><Relationship Type="http://schemas.openxmlformats.org/officeDocument/2006/relationships/notesMaster" Target="/ppt/notesMasters/notesMaster1.xml" Id="Rc775bdd473f9480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4fa652e83114016" /><Relationship Type="http://schemas.openxmlformats.org/officeDocument/2006/relationships/notesMaster" Target="/ppt/notesMasters/notesMaster1.xml" Id="R9a96d8a9b5ec426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025f5dec01c4e44" /><Relationship Type="http://schemas.openxmlformats.org/officeDocument/2006/relationships/notesMaster" Target="/ppt/notesMasters/notesMaster1.xml" Id="R39c8ad29907c452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133d490082c4f46" /><Relationship Type="http://schemas.openxmlformats.org/officeDocument/2006/relationships/notesMaster" Target="/ppt/notesMasters/notesMaster1.xml" Id="R69a65755c9384a4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d003cd3fcc04af0" /><Relationship Type="http://schemas.openxmlformats.org/officeDocument/2006/relationships/notesMaster" Target="/ppt/notesMasters/notesMaster1.xml" Id="R6a647a083b65490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3d483ed45474562" /><Relationship Type="http://schemas.openxmlformats.org/officeDocument/2006/relationships/notesMaster" Target="/ppt/notesMasters/notesMaster1.xml" Id="Rb9a9a8d2555242e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4f7c5dd42144c83" /><Relationship Type="http://schemas.openxmlformats.org/officeDocument/2006/relationships/notesMaster" Target="/ppt/notesMasters/notesMaster1.xml" Id="Raf251e6e66d842b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 개발 상세</a:t>
            </a:r>
          </a:p>
          <a:p xmlns:a="http://schemas.openxmlformats.org/drawingml/2006/main">
            <a:r>
              <a:t/>
            </a:r>
          </a:p>
          <a:p xmlns:a="http://schemas.openxmlformats.org/drawingml/2006/main">
            <a:r>
              <a:t>용도: 이 PPT를 검토하고 수정한 뒤 같은 문서를 개발 지시서로 전달한다.</a:t>
            </a:r>
          </a:p>
          <a:p xmlns:a="http://schemas.openxmlformats.org/drawingml/2006/main">
            <a:r>
              <a:t>시안 2, 3, 7과 펭귄 GIF 5종을 반영했다. 모든 수치와 PC 브라우저 선택은 검토용 제안이다. 상업용 성장 시스템은 이번 범위에 없다.</a:t>
            </a:r>
          </a:p>
          <a:p xmlns:a="http://schemas.openxmlformats.org/drawingml/2006/main">
            <a:r>
              <a:t>표지 이미지 출처: output/penguin-animation-v0.1/frames/idle/03.png, 내장 이미지 생성 도구로 만든 사용자 작업 산출물.</a:t>
            </a:r>
          </a:p>
          <a:p xmlns:a="http://schemas.openxmlformats.org/drawingml/2006/main">
            <a:r>
              <a:t/>
            </a:r>
          </a:p>
          <a:p xmlns:a="http://schemas.openxmlformats.org/drawingml/2006/main">
            <a:r>
              <a:t>기획 원문: output/animal-survivors-prototype-v0.1.md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문서 기준: 사용자 검토용 프로토타입 개발 기획 v0.2, 2026-09-10. 수치는 별도 명시가 없으면 초기 구현 제안값이다.</a:t>
            </a:r>
          </a:p>
          <a:p xmlns:a="http://schemas.openxmlformats.org/drawingml/2006/main">
            <a:r>
              <a:t/>
            </a:r>
          </a:p>
          <a:p xmlns:a="http://schemas.openxmlformats.org/drawingml/2006/main">
            <a:r>
              <a:t>기획 원문: output/animal-survivors-prototype-v0.1.md</a:t>
            </a:r>
          </a:p>
          <a:p xmlns:a="http://schemas.openxmlformats.org/drawingml/2006/main">
            <a:r>
              <a:t/>
            </a:r>
          </a:p>
          <a:p xmlns:a="http://schemas.openxmlformats.org/drawingml/2006/main">
            <a:r>
              <a:t>## 1. 이번에 만들 게임</a:t>
            </a:r>
          </a:p>
          <a:p xmlns:a="http://schemas.openxmlformats.org/drawingml/2006/main">
            <a:r>
              <a:t/>
            </a:r>
          </a:p>
          <a:p xmlns:a="http://schemas.openxmlformats.org/drawingml/2006/main">
            <a:r>
              <a:t>인트로에서 펭귄·카피바라·고양이 중 하나를 누르면, 해당 동물과 배경으로 구성된 플레이 씬에 들어간다. 플레이어는 이동만 조작하며 캐릭터는 자동으로 공격한다. 몬스터는 시간 제한 없이 계속 등장하고, 처치할 때마다 점수가 오른다. 체력이 모두 소진되면 결과 화면에서 기록을 확인하고 재도전하거나 다른 동물을 선택한다.</a:t>
            </a:r>
          </a:p>
          <a:p xmlns:a="http://schemas.openxmlformats.org/drawingml/2006/main">
            <a:r>
              <a:t/>
            </a:r>
          </a:p>
          <a:p xmlns:a="http://schemas.openxmlformats.org/drawingml/2006/main">
            <a:r>
              <a:t>핵심 경험: **귀여운 동물을 움직여 몰려오는 몬스터를 피하고, 보기 좋은 자동 공격으로 처치하며 최고 점수에 도전한다.**</a:t>
            </a:r>
          </a:p>
          <a:p xmlns:a="http://schemas.openxmlformats.org/drawingml/2006/main">
            <a:r>
              <a:t/>
            </a:r>
          </a:p>
          <a:p xmlns:a="http://schemas.openxmlformats.org/drawingml/2006/main">
            <a:r>
              <a:t>### 확정된 요청과 이번 초안의 제안</a:t>
            </a:r>
          </a:p>
          <a:p xmlns:a="http://schemas.openxmlformats.org/drawingml/2006/main">
            <a:r>
              <a:t/>
            </a:r>
          </a:p>
          <a:p xmlns:a="http://schemas.openxmlformats.org/drawingml/2006/main">
            <a:r>
              <a:t>| 구분 | 내용 |</a:t>
            </a:r>
          </a:p>
          <a:p xmlns:a="http://schemas.openxmlformats.org/drawingml/2006/main">
            <a:r>
              <a:t>|---|---|</a:t>
            </a:r>
          </a:p>
          <a:p xmlns:a="http://schemas.openxmlformats.org/drawingml/2006/main">
            <a:r>
              <a:t>| 사용자 요청 | 시안 2·3·7 사용, 캐릭터 선택 인트로, 캐릭터별 플레이 씬 3개, 단순 공격, 무한 몬스터, 점수 증가, 움직임·애니메이션·이펙트 포함 |</a:t>
            </a:r>
          </a:p>
          <a:p xmlns:a="http://schemas.openxmlformats.org/drawingml/2006/main">
            <a:r>
              <a:t>| 초안의 제안 | PC 브라우저에서 먼저 검증, 가로 화면, 이동만 직접 조작, 자동 공격, 체력 5칸, 사망 시 종료, 캐릭터별 최고 점수 저장 |</a:t>
            </a:r>
          </a:p>
          <a:p xmlns:a="http://schemas.openxmlformats.org/drawingml/2006/main">
            <a:r>
              <a:t>| 이번 버전에서 제외 | 경험치와 레벨업, 스킬 선택, 장비, 재화, 영구 성장, 상점, 보스, 스테이지 클리어, 온라인 랭킹, 계정, 광고·결제 |</a:t>
            </a:r>
          </a:p>
          <a:p xmlns:a="http://schemas.openxmlformats.org/drawingml/2006/main">
            <a:r>
              <a:t/>
            </a:r>
          </a:p>
          <a:p xmlns:a="http://schemas.openxmlformats.org/drawingml/2006/main">
            <a:r>
              <a:t>이전에 논의한 장기 성장·10스테이지 묶음·절차적 스테이지 생성은 이번 프로토타입에 넣지 않는다. 이번 버전은 **캐릭터 선택 → 이동·자동 공격 → 무한 생성 → 점수 → 재도전**을 완성하는 데 집중한다.</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문서 기준: 사용자 검토용 프로토타입 개발 기획 v0.2, 2026-09-10. 수치는 별도 명시가 없으면 초기 구현 제안값이다.</a:t>
            </a:r>
          </a:p>
          <a:p xmlns:a="http://schemas.openxmlformats.org/drawingml/2006/main">
            <a:r>
              <a:t/>
            </a:r>
          </a:p>
          <a:p xmlns:a="http://schemas.openxmlformats.org/drawingml/2006/main">
            <a:r>
              <a:t>기획 원문: output/animal-survivors-prototype-v0.1.md</a:t>
            </a:r>
          </a:p>
          <a:p xmlns:a="http://schemas.openxmlformats.org/drawingml/2006/main">
            <a:r>
              <a:t/>
            </a:r>
          </a:p>
          <a:p xmlns:a="http://schemas.openxmlformats.org/drawingml/2006/main">
            <a:r>
              <a:t>## 2. 시안 적용 방향</a:t>
            </a:r>
          </a:p>
          <a:p xmlns:a="http://schemas.openxmlformats.org/drawingml/2006/main">
            <a:r>
              <a:t/>
            </a:r>
          </a:p>
          <a:p xmlns:a="http://schemas.openxmlformats.org/drawingml/2006/main">
            <a:r>
              <a:t>| 선택 순서 | 캐릭터 | 기준 시안 | 플레이 씬 | 공격 이미지 |</a:t>
            </a:r>
          </a:p>
          <a:p xmlns:a="http://schemas.openxmlformats.org/drawingml/2006/main">
            <a:r>
              <a:t>|---|---|---|---|---|</a:t>
            </a:r>
          </a:p>
          <a:p xmlns:a="http://schemas.openxmlformats.org/drawingml/2006/main">
            <a:r>
              <a:t>| 1 | 펭귄 | 7번 | 오로라 눈밭 | 주변을 도는 눈꽃 |</a:t>
            </a:r>
          </a:p>
          <a:p xmlns:a="http://schemas.openxmlformats.org/drawingml/2006/main">
            <a:r>
              <a:t>| 2 | 카피바라 | 2번 | 온천 마을 | 바깥으로 퍼지는 온천방울 |</a:t>
            </a:r>
          </a:p>
          <a:p xmlns:a="http://schemas.openxmlformats.org/drawingml/2006/main">
            <a:r>
              <a:t>| 3 | 고양이 | 3번 | 달빛 우체국 | 적을 향해 날아가는 별빛 편지 |</a:t>
            </a:r>
          </a:p>
          <a:p xmlns:a="http://schemas.openxmlformats.org/drawingml/2006/main">
            <a:r>
              <a:t/>
            </a:r>
          </a:p>
          <a:p xmlns:a="http://schemas.openxmlformats.org/drawingml/2006/main">
            <a:r>
              <a:t>### 기준 이미지</a:t>
            </a:r>
          </a:p>
          <a:p xmlns:a="http://schemas.openxmlformats.org/drawingml/2006/main">
            <a:r>
              <a:t/>
            </a:r>
          </a:p>
          <a:p xmlns:a="http://schemas.openxmlformats.org/drawingml/2006/main">
            <a:r>
              <a:t>**7번 · 펭귄 오로라 눈밭**</a:t>
            </a:r>
          </a:p>
          <a:p xmlns:a="http://schemas.openxmlformats.org/drawingml/2006/main">
            <a:r>
              <a:t/>
            </a:r>
          </a:p>
          <a:p xmlns:a="http://schemas.openxmlformats.org/drawingml/2006/main">
            <a:r>
              <a:t>![펭귄 오로라 눈밭](animal-concepts/07.png)</a:t>
            </a:r>
          </a:p>
          <a:p xmlns:a="http://schemas.openxmlformats.org/drawingml/2006/main">
            <a:r>
              <a:t/>
            </a:r>
          </a:p>
          <a:p xmlns:a="http://schemas.openxmlformats.org/drawingml/2006/main">
            <a:r>
              <a:t>**2번 · 카피바라 온천 마을**</a:t>
            </a:r>
          </a:p>
          <a:p xmlns:a="http://schemas.openxmlformats.org/drawingml/2006/main">
            <a:r>
              <a:t/>
            </a:r>
          </a:p>
          <a:p xmlns:a="http://schemas.openxmlformats.org/drawingml/2006/main">
            <a:r>
              <a:t>![카피바라 온천 마을](animal-concepts/02.png)</a:t>
            </a:r>
          </a:p>
          <a:p xmlns:a="http://schemas.openxmlformats.org/drawingml/2006/main">
            <a:r>
              <a:t/>
            </a:r>
          </a:p>
          <a:p xmlns:a="http://schemas.openxmlformats.org/drawingml/2006/main">
            <a:r>
              <a:t>**3번 · 고양이 달빛 우체국**</a:t>
            </a:r>
          </a:p>
          <a:p xmlns:a="http://schemas.openxmlformats.org/drawingml/2006/main">
            <a:r>
              <a:t/>
            </a:r>
          </a:p>
          <a:p xmlns:a="http://schemas.openxmlformats.org/drawingml/2006/main">
            <a:r>
              <a:t>![고양이 달빛 우체국](animal-concepts/03.png)</a:t>
            </a:r>
          </a:p>
          <a:p xmlns:a="http://schemas.openxmlformats.org/drawingml/2006/main">
            <a:r>
              <a:t/>
            </a:r>
          </a:p>
          <a:p xmlns:a="http://schemas.openxmlformats.org/drawingml/2006/main">
            <a:r>
              <a:t>### 그래픽 해석</a:t>
            </a:r>
          </a:p>
          <a:p xmlns:a="http://schemas.openxmlformats.org/drawingml/2006/main">
            <a:r>
              <a:t/>
            </a:r>
          </a:p>
          <a:p xmlns:a="http://schemas.openxmlformats.org/drawingml/2006/main">
            <a:r>
              <a:t>- 펭귄 씬은 7번의 파스텔 픽셀 느낌, 카피바라·고양이 씬은 2·3번의 부드러운 일러스트 느낌을 유지한다. 이번에는 화풍별 플레이 인상도 함께 비교한다.</a:t>
            </a:r>
          </a:p>
          <a:p xmlns:a="http://schemas.openxmlformats.org/drawingml/2006/main">
            <a:r>
              <a:t>- 공통 UI의 배치·글꼴·크기·아이콘 문법은 통일한다. 씬에 따라 포인트 색만 바뀐다.</a:t>
            </a:r>
          </a:p>
          <a:p xmlns:a="http://schemas.openxmlformats.org/drawingml/2006/main">
            <a:r>
              <a:t>- 기준 이미지는 구성과 분위기를 위한 참고다. 완성 이미지를 배경으로 그대로 깔면 이미지 속 주인공·몬스터·공격이 중복되므로 사용하지 않는다.</a:t>
            </a:r>
          </a:p>
          <a:p xmlns:a="http://schemas.openxmlformats.org/drawingml/2006/main">
            <a:r>
              <a:t>- 실제 제작에서는 배경, 주인공, 몬스터, 전경, 공격 이펙트를 분리된 에셋으로 만든다.</a:t>
            </a:r>
          </a:p>
          <a:p xmlns:a="http://schemas.openxmlformats.org/drawingml/2006/main">
            <a:r>
              <a:t>- 플레이 영역 바닥은 기준 이미지보다 단순하게 만들고, 디테일은 가장자리로 보낸다. 주인공과 적의 외곽선이 바닥에서 분명하게 구분되어야 한다.</a:t>
            </a:r>
          </a:p>
          <a:p xmlns:a="http://schemas.openxmlformats.org/drawingml/2006/main">
            <a:r>
              <a:t>- 정적인 공격 고리나 몬스터를 배경에 그려 넣지 않는다. 움직이는 게임 오브젝트로 구현한다.</a:t>
            </a:r>
          </a:p>
          <a:p xmlns:a="http://schemas.openxmlformats.org/drawingml/2006/main">
            <a:r>
              <a:t/>
            </a:r>
          </a:p>
          <a:p xmlns:a="http://schemas.openxmlformats.org/drawingml/2006/main">
            <a:r>
              <a:t/>
            </a:r>
          </a:p>
          <a:p xmlns:a="http://schemas.openxmlformats.org/drawingml/2006/main">
            <a:r>
              <a:t/>
            </a:r>
          </a:p>
          <a:p xmlns:a="http://schemas.openxmlformats.org/drawingml/2006/main">
            <a:r>
              <a:t>## 3. 화면 흐름</a:t>
            </a:r>
          </a:p>
          <a:p xmlns:a="http://schemas.openxmlformats.org/drawingml/2006/main">
            <a:r>
              <a:t/>
            </a:r>
          </a:p>
          <a:p xmlns:a="http://schemas.openxmlformats.org/drawingml/2006/main">
            <a:r>
              <a:t>```text</a:t>
            </a:r>
          </a:p>
          <a:p xmlns:a="http://schemas.openxmlformats.org/drawingml/2006/main">
            <a:r>
              <a:t>실행 → 인트로 / 캐릭터 선택</a:t>
            </a:r>
          </a:p>
          <a:p xmlns:a="http://schemas.openxmlformats.org/drawingml/2006/main">
            <a:r>
              <a:t>         ├ 펭귄 선택 → 펭귄 씬 ───┐</a:t>
            </a:r>
          </a:p>
          <a:p xmlns:a="http://schemas.openxmlformats.org/drawingml/2006/main">
            <a:r>
              <a:t>         ├ 카피바라 선택 → 카피바라 씬 ─┤</a:t>
            </a:r>
          </a:p>
          <a:p xmlns:a="http://schemas.openxmlformats.org/drawingml/2006/main">
            <a:r>
              <a:t>         └ 고양이 선택 → 고양이 씬 ──┤</a:t>
            </a:r>
          </a:p>
          <a:p xmlns:a="http://schemas.openxmlformats.org/drawingml/2006/main">
            <a:r>
              <a:t>                                   ↓</a:t>
            </a:r>
          </a:p>
          <a:p xmlns:a="http://schemas.openxmlformats.org/drawingml/2006/main">
            <a:r>
              <a:t>                              체력 0 → 결과</a:t>
            </a:r>
          </a:p>
          <a:p xmlns:a="http://schemas.openxmlformats.org/drawingml/2006/main">
            <a:r>
              <a:t>                                   ├ 다시 하기 → 같은 씬 새 게임</a:t>
            </a:r>
          </a:p>
          <a:p xmlns:a="http://schemas.openxmlformats.org/drawingml/2006/main">
            <a:r>
              <a:t>                                   └ 캐릭터 선택 → 인트로</a:t>
            </a:r>
          </a:p>
          <a:p xmlns:a="http://schemas.openxmlformats.org/drawingml/2006/main">
            <a:r>
              <a:t/>
            </a:r>
          </a:p>
          <a:p xmlns:a="http://schemas.openxmlformats.org/drawingml/2006/main">
            <a:r>
              <a:t>플레이 중 일시정지 → 계속하기 / 다시 하기 / 캐릭터 선택</a:t>
            </a:r>
          </a:p>
          <a:p xmlns:a="http://schemas.openxmlformats.org/drawingml/2006/main">
            <a:r>
              <a:t>```</a:t>
            </a:r>
          </a:p>
          <a:p xmlns:a="http://schemas.openxmlformats.org/drawingml/2006/main">
            <a:r>
              <a:t/>
            </a:r>
          </a:p>
          <a:p xmlns:a="http://schemas.openxmlformats.org/drawingml/2006/main">
            <a:r>
              <a:t>별도 월드맵이나 캐릭터 상세 화면은 없다. 카드 한 번 선택으로 바로 게임에 들어간다. 세 플레이 씬은 서로 구분하되, 이동·점수·생성·피격·종료 규칙은 공통 시스템을 사용한다.</a:t>
            </a:r>
          </a:p>
          <a:p xmlns:a="http://schemas.openxmlformats.org/drawingml/2006/main">
            <a:r>
              <a:t/>
            </a:r>
          </a:p>
          <a:p xmlns:a="http://schemas.openxmlformats.org/drawingml/2006/main">
            <a:r>
              <a:t>### 3.1 인트로 / 캐릭터 선택</a:t>
            </a:r>
          </a:p>
          <a:p xmlns:a="http://schemas.openxmlformats.org/drawingml/2006/main">
            <a:r>
              <a:t/>
            </a:r>
          </a:p>
          <a:p xmlns:a="http://schemas.openxmlformats.org/drawingml/2006/main">
            <a:r>
              <a:t>- 상단: 가제 `포근한 모험`과 안내 `함께할 친구를 골라 주세요`.</a:t>
            </a:r>
          </a:p>
          <a:p xmlns:a="http://schemas.openxmlformats.org/drawingml/2006/main">
            <a:r>
              <a:t>- 중앙: 펭귄 / 카피바라 / 고양이 카드 3개. 각 카드에는 움직이는 캐릭터, 배경 일부, 이름, 공격 설명 한 줄, 개인 최고 점수를 표시한다.</a:t>
            </a:r>
          </a:p>
          <a:p xmlns:a="http://schemas.openxmlformats.org/drawingml/2006/main">
            <a:r>
              <a:t>- 설명: 펭귄 `눈꽃을 두르고 뒤뚱뒤뚱`, 카피바라 `온천방울로 포근하게`, 고양이 `별빛 편지를 슝슝`.</a:t>
            </a:r>
          </a:p>
          <a:p xmlns:a="http://schemas.openxmlformats.org/drawingml/2006/main">
            <a:r>
              <a:t>- 하단: `WASD / 방향키 이동 · 공격은 자동이에요` 및 소리 켜기/끄기.</a:t>
            </a:r>
          </a:p>
          <a:p xmlns:a="http://schemas.openxmlformats.org/drawingml/2006/main">
            <a:r>
              <a:t>- 마우스 오버 또는 키보드 포커스 시 카드가 약 3% 커지고 테두리가 밝아진다. 카드 위에서 캐릭터가 한 번 반응한다.</a:t>
            </a:r>
          </a:p>
          <a:p xmlns:a="http://schemas.openxmlformats.org/drawingml/2006/main">
            <a:r>
              <a:t>- 클릭 또는 포커스 상태에서 Enter를 누르면 선택된다. 선택 이후 중복 입력을 막고 약 0.35초 페이드로 해당 씬에 진입한다.</a:t>
            </a:r>
          </a:p>
          <a:p xmlns:a="http://schemas.openxmlformats.org/drawingml/2006/main">
            <a:r>
              <a:t>- 별도의 확인 버튼은 두지 않는다. 카드 안에서 최고 점수는 해당 동물의 기록을 표시한다.</a:t>
            </a:r>
          </a:p>
          <a:p xmlns:a="http://schemas.openxmlformats.org/drawingml/2006/main">
            <a:r>
              <a:t/>
            </a:r>
          </a:p>
          <a:p xmlns:a="http://schemas.openxmlformats.org/drawingml/2006/main">
            <a:r>
              <a:t>### 3.2 플레이 시작</a:t>
            </a:r>
          </a:p>
          <a:p xmlns:a="http://schemas.openxmlformats.org/drawingml/2006/main">
            <a:r>
              <a:t/>
            </a:r>
          </a:p>
          <a:p xmlns:a="http://schemas.openxmlformats.org/drawingml/2006/main">
            <a:r>
              <a:t>- 캐릭터는 맵 중앙의 안전한 위치에 등장한다.</a:t>
            </a:r>
          </a:p>
          <a:p xmlns:a="http://schemas.openxmlformats.org/drawingml/2006/main">
            <a:r>
              <a:t>- 첫 조작 가능 시점을 생존 시간 0초로 한다. 첫 1.5초는 적을 생성하지 않는다.</a:t>
            </a:r>
          </a:p>
          <a:p xmlns:a="http://schemas.openxmlformats.org/drawingml/2006/main">
            <a:r>
              <a:t>- `이동해서 친구를 지켜 주세요!` 안내를 약 2.5초 표시하되 이동과 전투를 가리지 않는다.</a:t>
            </a:r>
          </a:p>
          <a:p xmlns:a="http://schemas.openxmlformats.org/drawingml/2006/main">
            <a:r>
              <a:t>- 선택 화면에서부터 재생 중인 음악은 짧게 전환한다. 브라우저에서는 사용자 선택 입력 이후 오디오를 시작한다.</a:t>
            </a:r>
          </a:p>
          <a:p xmlns:a="http://schemas.openxmlformats.org/drawingml/2006/main">
            <a:r>
              <a:t/>
            </a:r>
          </a:p>
          <a:p xmlns:a="http://schemas.openxmlformats.org/drawingml/2006/main">
            <a:r>
              <a:t>### 3.3 결과 화면</a:t>
            </a:r>
          </a:p>
          <a:p xmlns:a="http://schemas.openxmlformats.org/drawingml/2006/main">
            <a:r>
              <a:t/>
            </a:r>
          </a:p>
          <a:p xmlns:a="http://schemas.openxmlformats.org/drawingml/2006/main">
            <a:r>
              <a:t>- 체력이 0이 되면 추가 공격·점수·몬스터 생성을 즉시 중지한다.</a:t>
            </a:r>
          </a:p>
          <a:p xmlns:a="http://schemas.openxmlformats.org/drawingml/2006/main">
            <a:r>
              <a:t>- 주인공의 주저앉는 연출 약 0.6초 후 결과 패널을 표시한다.</a:t>
            </a:r>
          </a:p>
          <a:p xmlns:a="http://schemas.openxmlformats.org/drawingml/2006/main">
            <a:r>
              <a:t>- 문구: `잠깐 쉬어갈까요?`.</a:t>
            </a:r>
          </a:p>
          <a:p xmlns:a="http://schemas.openxmlformats.org/drawingml/2006/main">
            <a:r>
              <a:t>- 표시: 캐릭터 이름, 이번 점수, 생존 시간, 처치 수, 해당 캐릭터 최고 점수.</a:t>
            </a:r>
          </a:p>
          <a:p xmlns:a="http://schemas.openxmlformats.org/drawingml/2006/main">
            <a:r>
              <a:t>- 최고 기록을 넘겼을 때만 `새로운 최고 기록!`과 짧은 축하 반짝임을 표시한다.</a:t>
            </a:r>
          </a:p>
          <a:p xmlns:a="http://schemas.openxmlformats.org/drawingml/2006/main">
            <a:r>
              <a:t>- 버튼: `다시 하기` / `캐릭터 선택`.</a:t>
            </a:r>
          </a:p>
          <a:p xmlns:a="http://schemas.openxmlformats.org/drawingml/2006/main">
            <a:r>
              <a:t>- 재시작 시 체력·시간·점수·적·공격 오브젝트를 모두 초기화한다. 최고 점수와 음소거 설정만 유지한다.</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문서 기준: 사용자 검토용 프로토타입 개발 기획 v0.2, 2026-09-10. 수치는 별도 명시가 없으면 초기 구현 제안값이다.</a:t>
            </a:r>
          </a:p>
          <a:p xmlns:a="http://schemas.openxmlformats.org/drawingml/2006/main">
            <a:r>
              <a:t/>
            </a:r>
          </a:p>
          <a:p xmlns:a="http://schemas.openxmlformats.org/drawingml/2006/main">
            <a:r>
              <a:t>기획 원문: output/animal-survivors-prototype-v0.1.md</a:t>
            </a:r>
          </a:p>
          <a:p xmlns:a="http://schemas.openxmlformats.org/drawingml/2006/main">
            <a:r>
              <a:t/>
            </a:r>
          </a:p>
          <a:p xmlns:a="http://schemas.openxmlformats.org/drawingml/2006/main">
            <a:r>
              <a:t>## 3. 화면 흐름</a:t>
            </a:r>
          </a:p>
          <a:p xmlns:a="http://schemas.openxmlformats.org/drawingml/2006/main">
            <a:r>
              <a:t/>
            </a:r>
          </a:p>
          <a:p xmlns:a="http://schemas.openxmlformats.org/drawingml/2006/main">
            <a:r>
              <a:t>```text</a:t>
            </a:r>
          </a:p>
          <a:p xmlns:a="http://schemas.openxmlformats.org/drawingml/2006/main">
            <a:r>
              <a:t>실행 → 인트로 / 캐릭터 선택</a:t>
            </a:r>
          </a:p>
          <a:p xmlns:a="http://schemas.openxmlformats.org/drawingml/2006/main">
            <a:r>
              <a:t>         ├ 펭귄 선택 → 펭귄 씬 ───┐</a:t>
            </a:r>
          </a:p>
          <a:p xmlns:a="http://schemas.openxmlformats.org/drawingml/2006/main">
            <a:r>
              <a:t>         ├ 카피바라 선택 → 카피바라 씬 ─┤</a:t>
            </a:r>
          </a:p>
          <a:p xmlns:a="http://schemas.openxmlformats.org/drawingml/2006/main">
            <a:r>
              <a:t>         └ 고양이 선택 → 고양이 씬 ──┤</a:t>
            </a:r>
          </a:p>
          <a:p xmlns:a="http://schemas.openxmlformats.org/drawingml/2006/main">
            <a:r>
              <a:t>                                   ↓</a:t>
            </a:r>
          </a:p>
          <a:p xmlns:a="http://schemas.openxmlformats.org/drawingml/2006/main">
            <a:r>
              <a:t>                              체력 0 → 결과</a:t>
            </a:r>
          </a:p>
          <a:p xmlns:a="http://schemas.openxmlformats.org/drawingml/2006/main">
            <a:r>
              <a:t>                                   ├ 다시 하기 → 같은 씬 새 게임</a:t>
            </a:r>
          </a:p>
          <a:p xmlns:a="http://schemas.openxmlformats.org/drawingml/2006/main">
            <a:r>
              <a:t>                                   └ 캐릭터 선택 → 인트로</a:t>
            </a:r>
          </a:p>
          <a:p xmlns:a="http://schemas.openxmlformats.org/drawingml/2006/main">
            <a:r>
              <a:t/>
            </a:r>
          </a:p>
          <a:p xmlns:a="http://schemas.openxmlformats.org/drawingml/2006/main">
            <a:r>
              <a:t>플레이 중 일시정지 → 계속하기 / 다시 하기 / 캐릭터 선택</a:t>
            </a:r>
          </a:p>
          <a:p xmlns:a="http://schemas.openxmlformats.org/drawingml/2006/main">
            <a:r>
              <a:t>```</a:t>
            </a:r>
          </a:p>
          <a:p xmlns:a="http://schemas.openxmlformats.org/drawingml/2006/main">
            <a:r>
              <a:t/>
            </a:r>
          </a:p>
          <a:p xmlns:a="http://schemas.openxmlformats.org/drawingml/2006/main">
            <a:r>
              <a:t>별도 월드맵이나 캐릭터 상세 화면은 없다. 카드 한 번 선택으로 바로 게임에 들어간다. 세 플레이 씬은 서로 구분하되, 이동·점수·생성·피격·종료 규칙은 공통 시스템을 사용한다.</a:t>
            </a:r>
          </a:p>
          <a:p xmlns:a="http://schemas.openxmlformats.org/drawingml/2006/main">
            <a:r>
              <a:t/>
            </a:r>
          </a:p>
          <a:p xmlns:a="http://schemas.openxmlformats.org/drawingml/2006/main">
            <a:r>
              <a:t>### 3.1 인트로 / 캐릭터 선택</a:t>
            </a:r>
          </a:p>
          <a:p xmlns:a="http://schemas.openxmlformats.org/drawingml/2006/main">
            <a:r>
              <a:t/>
            </a:r>
          </a:p>
          <a:p xmlns:a="http://schemas.openxmlformats.org/drawingml/2006/main">
            <a:r>
              <a:t>- 상단: 가제 `포근한 모험`과 안내 `함께할 친구를 골라 주세요`.</a:t>
            </a:r>
          </a:p>
          <a:p xmlns:a="http://schemas.openxmlformats.org/drawingml/2006/main">
            <a:r>
              <a:t>- 중앙: 펭귄 / 카피바라 / 고양이 카드 3개. 각 카드에는 움직이는 캐릭터, 배경 일부, 이름, 공격 설명 한 줄, 개인 최고 점수를 표시한다.</a:t>
            </a:r>
          </a:p>
          <a:p xmlns:a="http://schemas.openxmlformats.org/drawingml/2006/main">
            <a:r>
              <a:t>- 설명: 펭귄 `눈꽃을 두르고 뒤뚱뒤뚱`, 카피바라 `온천방울로 포근하게`, 고양이 `별빛 편지를 슝슝`.</a:t>
            </a:r>
          </a:p>
          <a:p xmlns:a="http://schemas.openxmlformats.org/drawingml/2006/main">
            <a:r>
              <a:t>- 하단: `WASD / 방향키 이동 · 공격은 자동이에요` 및 소리 켜기/끄기.</a:t>
            </a:r>
          </a:p>
          <a:p xmlns:a="http://schemas.openxmlformats.org/drawingml/2006/main">
            <a:r>
              <a:t>- 마우스 오버 또는 키보드 포커스 시 카드가 약 3% 커지고 테두리가 밝아진다. 카드 위에서 캐릭터가 한 번 반응한다.</a:t>
            </a:r>
          </a:p>
          <a:p xmlns:a="http://schemas.openxmlformats.org/drawingml/2006/main">
            <a:r>
              <a:t>- 클릭 또는 포커스 상태에서 Enter를 누르면 선택된다. 선택 이후 중복 입력을 막고 약 0.35초 페이드로 해당 씬에 진입한다.</a:t>
            </a:r>
          </a:p>
          <a:p xmlns:a="http://schemas.openxmlformats.org/drawingml/2006/main">
            <a:r>
              <a:t>- 별도의 확인 버튼은 두지 않는다. 카드 안에서 최고 점수는 해당 동물의 기록을 표시한다.</a:t>
            </a:r>
          </a:p>
          <a:p xmlns:a="http://schemas.openxmlformats.org/drawingml/2006/main">
            <a:r>
              <a:t/>
            </a:r>
          </a:p>
          <a:p xmlns:a="http://schemas.openxmlformats.org/drawingml/2006/main">
            <a:r>
              <a:t>### 3.2 플레이 시작</a:t>
            </a:r>
          </a:p>
          <a:p xmlns:a="http://schemas.openxmlformats.org/drawingml/2006/main">
            <a:r>
              <a:t/>
            </a:r>
          </a:p>
          <a:p xmlns:a="http://schemas.openxmlformats.org/drawingml/2006/main">
            <a:r>
              <a:t>- 캐릭터는 맵 중앙의 안전한 위치에 등장한다.</a:t>
            </a:r>
          </a:p>
          <a:p xmlns:a="http://schemas.openxmlformats.org/drawingml/2006/main">
            <a:r>
              <a:t>- 첫 조작 가능 시점을 생존 시간 0초로 한다. 첫 1.5초는 적을 생성하지 않는다.</a:t>
            </a:r>
          </a:p>
          <a:p xmlns:a="http://schemas.openxmlformats.org/drawingml/2006/main">
            <a:r>
              <a:t>- `이동해서 친구를 지켜 주세요!` 안내를 약 2.5초 표시하되 이동과 전투를 가리지 않는다.</a:t>
            </a:r>
          </a:p>
          <a:p xmlns:a="http://schemas.openxmlformats.org/drawingml/2006/main">
            <a:r>
              <a:t>- 선택 화면에서부터 재생 중인 음악은 짧게 전환한다. 브라우저에서는 사용자 선택 입력 이후 오디오를 시작한다.</a:t>
            </a:r>
          </a:p>
          <a:p xmlns:a="http://schemas.openxmlformats.org/drawingml/2006/main">
            <a:r>
              <a:t/>
            </a:r>
          </a:p>
          <a:p xmlns:a="http://schemas.openxmlformats.org/drawingml/2006/main">
            <a:r>
              <a:t>### 3.3 결과 화면</a:t>
            </a:r>
          </a:p>
          <a:p xmlns:a="http://schemas.openxmlformats.org/drawingml/2006/main">
            <a:r>
              <a:t/>
            </a:r>
          </a:p>
          <a:p xmlns:a="http://schemas.openxmlformats.org/drawingml/2006/main">
            <a:r>
              <a:t>- 체력이 0이 되면 추가 공격·점수·몬스터 생성을 즉시 중지한다.</a:t>
            </a:r>
          </a:p>
          <a:p xmlns:a="http://schemas.openxmlformats.org/drawingml/2006/main">
            <a:r>
              <a:t>- 주인공의 주저앉는 연출 약 0.6초 후 결과 패널을 표시한다.</a:t>
            </a:r>
          </a:p>
          <a:p xmlns:a="http://schemas.openxmlformats.org/drawingml/2006/main">
            <a:r>
              <a:t>- 문구: `잠깐 쉬어갈까요?`.</a:t>
            </a:r>
          </a:p>
          <a:p xmlns:a="http://schemas.openxmlformats.org/drawingml/2006/main">
            <a:r>
              <a:t>- 표시: 캐릭터 이름, 이번 점수, 생존 시간, 처치 수, 해당 캐릭터 최고 점수.</a:t>
            </a:r>
          </a:p>
          <a:p xmlns:a="http://schemas.openxmlformats.org/drawingml/2006/main">
            <a:r>
              <a:t>- 최고 기록을 넘겼을 때만 `새로운 최고 기록!`과 짧은 축하 반짝임을 표시한다.</a:t>
            </a:r>
          </a:p>
          <a:p xmlns:a="http://schemas.openxmlformats.org/drawingml/2006/main">
            <a:r>
              <a:t>- 버튼: `다시 하기` / `캐릭터 선택`.</a:t>
            </a:r>
          </a:p>
          <a:p xmlns:a="http://schemas.openxmlformats.org/drawingml/2006/main">
            <a:r>
              <a:t>- 재시작 시 체력·시간·점수·적·공격 오브젝트를 모두 초기화한다. 최고 점수와 음소거 설정만 유지한다.</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문서 기준: 사용자 검토용 프로토타입 개발 기획 v0.2, 2026-09-10. 수치는 별도 명시가 없으면 초기 구현 제안값이다.</a:t>
            </a:r>
          </a:p>
          <a:p xmlns:a="http://schemas.openxmlformats.org/drawingml/2006/main">
            <a:r>
              <a:t/>
            </a:r>
          </a:p>
          <a:p xmlns:a="http://schemas.openxmlformats.org/drawingml/2006/main">
            <a:r>
              <a:t>기획 원문: output/animal-survivors-prototype-v0.1.md</a:t>
            </a:r>
          </a:p>
          <a:p xmlns:a="http://schemas.openxmlformats.org/drawingml/2006/main">
            <a:r>
              <a:t/>
            </a:r>
          </a:p>
          <a:p xmlns:a="http://schemas.openxmlformats.org/drawingml/2006/main">
            <a:r>
              <a:t>## 4. 조작과 기본 규칙</a:t>
            </a:r>
          </a:p>
          <a:p xmlns:a="http://schemas.openxmlformats.org/drawingml/2006/main">
            <a:r>
              <a:t/>
            </a:r>
          </a:p>
          <a:p xmlns:a="http://schemas.openxmlformats.org/drawingml/2006/main">
            <a:r>
              <a:t>### 4.1 플랫폼·좌표 기준</a:t>
            </a:r>
          </a:p>
          <a:p xmlns:a="http://schemas.openxmlformats.org/drawingml/2006/main">
            <a:r>
              <a:t/>
            </a:r>
          </a:p>
          <a:p xmlns:a="http://schemas.openxmlformats.org/drawingml/2006/main">
            <a:r>
              <a:t>- 초안 기준은 PC 브라우저, 가로 16:9 화면이다. 터치 조이스틱은 후속 범위로 둔다.</a:t>
            </a:r>
          </a:p>
          <a:p xmlns:a="http://schemas.openxmlformats.org/drawingml/2006/main">
            <a:r>
              <a:t>- 논리 해상도: 1280×720. 아래 거리와 속도는 모두 이 논리 좌표의 픽셀 기준이다.</a:t>
            </a:r>
          </a:p>
          <a:p xmlns:a="http://schemas.openxmlformats.org/drawingml/2006/main">
            <a:r>
              <a:t>- 다른 창 크기에서는 같은 플레이 영역을 비율대로 확대·축소한다. 비율이 다르면 여백을 사용해 화면 크기에 따라 난이도가 바뀌지 않게 한다.</a:t>
            </a:r>
          </a:p>
          <a:p xmlns:a="http://schemas.openxmlformats.org/drawingml/2006/main">
            <a:r>
              <a:t>- 카메라는 고정한다. 이번 맵은 한 화면의 작은 경기장이고, 무한은 공간 크기가 아닌 **플레이 시간과 몬스터 생성**을 의미한다.</a:t>
            </a:r>
          </a:p>
          <a:p xmlns:a="http://schemas.openxmlformats.org/drawingml/2006/main">
            <a:r>
              <a:t>- 화면 가장자리 약 48px 안쪽에 이동 경계를 둔다. 경계는 울타리·눈더미·수풀 등으로 자연스럽게 표시한다.</a:t>
            </a:r>
          </a:p>
          <a:p xmlns:a="http://schemas.openxmlformats.org/drawingml/2006/main">
            <a:r>
              <a:t/>
            </a:r>
          </a:p>
          <a:p xmlns:a="http://schemas.openxmlformats.org/drawingml/2006/main">
            <a:r>
              <a:t>### 4.2 입력</a:t>
            </a:r>
          </a:p>
          <a:p xmlns:a="http://schemas.openxmlformats.org/drawingml/2006/main">
            <a:r>
              <a:t/>
            </a:r>
          </a:p>
          <a:p xmlns:a="http://schemas.openxmlformats.org/drawingml/2006/main">
            <a:r>
              <a:t>| 입력 | 동작 |</a:t>
            </a:r>
          </a:p>
          <a:p xmlns:a="http://schemas.openxmlformats.org/drawingml/2006/main">
            <a:r>
              <a:t>|---|---|</a:t>
            </a:r>
          </a:p>
          <a:p xmlns:a="http://schemas.openxmlformats.org/drawingml/2006/main">
            <a:r>
              <a:t>| WASD / 방향키 | 상하좌우 및 대각선 이동 |</a:t>
            </a:r>
          </a:p>
          <a:p xmlns:a="http://schemas.openxmlformats.org/drawingml/2006/main">
            <a:r>
              <a:t>| 이동 입력 해제 | 즉시 감속해 정지 |</a:t>
            </a:r>
          </a:p>
          <a:p xmlns:a="http://schemas.openxmlformats.org/drawingml/2006/main">
            <a:r>
              <a:t>| Esc / 일시정지 버튼 | 일시정지와 복귀 |</a:t>
            </a:r>
          </a:p>
          <a:p xmlns:a="http://schemas.openxmlformats.org/drawingml/2006/main">
            <a:r>
              <a:t>| 마우스 클릭 / Enter | 메뉴 선택 |</a:t>
            </a:r>
          </a:p>
          <a:p xmlns:a="http://schemas.openxmlformats.org/drawingml/2006/main">
            <a:r>
              <a:t/>
            </a:r>
          </a:p>
          <a:p xmlns:a="http://schemas.openxmlformats.org/drawingml/2006/main">
            <a:r>
              <a:t>- 대각선 속도를 정규화해 직선 이동보다 빨라지지 않도록 한다.</a:t>
            </a:r>
          </a:p>
          <a:p xmlns:a="http://schemas.openxmlformats.org/drawingml/2006/main">
            <a:r>
              <a:t>- 최대 이동 속도는 세 캐릭터 모두 220px/s로 시작한다. 초기 비교에서는 공격 방식의 차이를 중심으로 본다.</a:t>
            </a:r>
          </a:p>
          <a:p xmlns:a="http://schemas.openxmlformats.org/drawingml/2006/main">
            <a:r>
              <a:t>- 가속·정지에는 약 0.08초의 짧은 완충만 둔다. 펭귄도 실제 조작이 미끄러지지는 않는다.</a:t>
            </a:r>
          </a:p>
          <a:p xmlns:a="http://schemas.openxmlformats.org/drawingml/2006/main">
            <a:r>
              <a:t>- 대시·점프·수동 조준·공격 버튼은 이번 범위에서 제외한다.</a:t>
            </a:r>
          </a:p>
          <a:p xmlns:a="http://schemas.openxmlformats.org/drawingml/2006/main">
            <a:r>
              <a:t>- 좌우 이동 방향으로 캐릭터가 바라보는 방향을 바꾸고, 수직 이동 중에는 마지막 좌우 방향을 유지한다.</a:t>
            </a:r>
          </a:p>
          <a:p xmlns:a="http://schemas.openxmlformats.org/drawingml/2006/main">
            <a:r>
              <a:t/>
            </a:r>
          </a:p>
          <a:p xmlns:a="http://schemas.openxmlformats.org/drawingml/2006/main">
            <a:r>
              <a:t>### 4.3 충돌과 체력</a:t>
            </a:r>
          </a:p>
          <a:p xmlns:a="http://schemas.openxmlformats.org/drawingml/2006/main">
            <a:r>
              <a:t/>
            </a:r>
          </a:p>
          <a:p xmlns:a="http://schemas.openxmlformats.org/drawingml/2006/main">
            <a:r>
              <a:t>- 체력: 5칸. 몬스터와 접촉하면 1칸 감소한다. 자연 회복과 회복 아이템은 없다.</a:t>
            </a:r>
          </a:p>
          <a:p xmlns:a="http://schemas.openxmlformats.org/drawingml/2006/main">
            <a:r>
              <a:t>- 피격 후 1.0초 무적. 여러 몬스터와 동시에 닿아도 같은 피격 순간에는 1칸만 감소한다.</a:t>
            </a:r>
          </a:p>
          <a:p xmlns:a="http://schemas.openxmlformats.org/drawingml/2006/main">
            <a:r>
              <a:t>- 플레이어 판정은 발 주변 반지름 약 13px의 원으로 둔다. 목도리·귀·꼬리 전체를 피격 판정에 넣지 않는다.</a:t>
            </a:r>
          </a:p>
          <a:p xmlns:a="http://schemas.openxmlformats.org/drawingml/2006/main">
            <a:r>
              <a:t>- 몬스터 접촉 피격 시 플레이어를 약 18px 짧게 밀어내고, 접촉한 적을 약 40px 밀어낸다. 밀려도 경기장 밖으로 나갈 수 없다.</a:t>
            </a:r>
          </a:p>
          <a:p xmlns:a="http://schemas.openxmlformats.org/drawingml/2006/main">
            <a:r>
              <a:t>- 무적 시간 동안 이동과 자동 공격은 계속 가능하다. 캐릭터는 반투명 펄스로 상태를 알린다.</a:t>
            </a:r>
          </a:p>
          <a:p xmlns:a="http://schemas.openxmlformats.org/drawingml/2006/main">
            <a:r>
              <a:t>- 몬스터끼리는 완전히 겹치지 않도록 약한 분리 이동을 적용한다. 적 무리가 통과 불가능한 물리 벽이 되지는 않게 한다.</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문서 기준: 사용자 검토용 프로토타입 개발 기획 v0.2, 2026-09-10. 수치는 별도 명시가 없으면 초기 구현 제안값이다.</a:t>
            </a:r>
          </a:p>
          <a:p xmlns:a="http://schemas.openxmlformats.org/drawingml/2006/main">
            <a:r>
              <a:t/>
            </a:r>
          </a:p>
          <a:p xmlns:a="http://schemas.openxmlformats.org/drawingml/2006/main">
            <a:r>
              <a:t>기획 원문: output/animal-survivors-prototype-v0.1.md</a:t>
            </a:r>
          </a:p>
          <a:p xmlns:a="http://schemas.openxmlformats.org/drawingml/2006/main">
            <a:r>
              <a:t/>
            </a:r>
          </a:p>
          <a:p xmlns:a="http://schemas.openxmlformats.org/drawingml/2006/main">
            <a:r>
              <a:t>## 3. 화면 흐름</a:t>
            </a:r>
          </a:p>
          <a:p xmlns:a="http://schemas.openxmlformats.org/drawingml/2006/main">
            <a:r>
              <a:t/>
            </a:r>
          </a:p>
          <a:p xmlns:a="http://schemas.openxmlformats.org/drawingml/2006/main">
            <a:r>
              <a:t>```text</a:t>
            </a:r>
          </a:p>
          <a:p xmlns:a="http://schemas.openxmlformats.org/drawingml/2006/main">
            <a:r>
              <a:t>실행 → 인트로 / 캐릭터 선택</a:t>
            </a:r>
          </a:p>
          <a:p xmlns:a="http://schemas.openxmlformats.org/drawingml/2006/main">
            <a:r>
              <a:t>         ├ 펭귄 선택 → 펭귄 씬 ───┐</a:t>
            </a:r>
          </a:p>
          <a:p xmlns:a="http://schemas.openxmlformats.org/drawingml/2006/main">
            <a:r>
              <a:t>         ├ 카피바라 선택 → 카피바라 씬 ─┤</a:t>
            </a:r>
          </a:p>
          <a:p xmlns:a="http://schemas.openxmlformats.org/drawingml/2006/main">
            <a:r>
              <a:t>         └ 고양이 선택 → 고양이 씬 ──┤</a:t>
            </a:r>
          </a:p>
          <a:p xmlns:a="http://schemas.openxmlformats.org/drawingml/2006/main">
            <a:r>
              <a:t>                                   ↓</a:t>
            </a:r>
          </a:p>
          <a:p xmlns:a="http://schemas.openxmlformats.org/drawingml/2006/main">
            <a:r>
              <a:t>                              체력 0 → 결과</a:t>
            </a:r>
          </a:p>
          <a:p xmlns:a="http://schemas.openxmlformats.org/drawingml/2006/main">
            <a:r>
              <a:t>                                   ├ 다시 하기 → 같은 씬 새 게임</a:t>
            </a:r>
          </a:p>
          <a:p xmlns:a="http://schemas.openxmlformats.org/drawingml/2006/main">
            <a:r>
              <a:t>                                   └ 캐릭터 선택 → 인트로</a:t>
            </a:r>
          </a:p>
          <a:p xmlns:a="http://schemas.openxmlformats.org/drawingml/2006/main">
            <a:r>
              <a:t/>
            </a:r>
          </a:p>
          <a:p xmlns:a="http://schemas.openxmlformats.org/drawingml/2006/main">
            <a:r>
              <a:t>플레이 중 일시정지 → 계속하기 / 다시 하기 / 캐릭터 선택</a:t>
            </a:r>
          </a:p>
          <a:p xmlns:a="http://schemas.openxmlformats.org/drawingml/2006/main">
            <a:r>
              <a:t>```</a:t>
            </a:r>
          </a:p>
          <a:p xmlns:a="http://schemas.openxmlformats.org/drawingml/2006/main">
            <a:r>
              <a:t/>
            </a:r>
          </a:p>
          <a:p xmlns:a="http://schemas.openxmlformats.org/drawingml/2006/main">
            <a:r>
              <a:t>별도 월드맵이나 캐릭터 상세 화면은 없다. 카드 한 번 선택으로 바로 게임에 들어간다. 세 플레이 씬은 서로 구분하되, 이동·점수·생성·피격·종료 규칙은 공통 시스템을 사용한다.</a:t>
            </a:r>
          </a:p>
          <a:p xmlns:a="http://schemas.openxmlformats.org/drawingml/2006/main">
            <a:r>
              <a:t/>
            </a:r>
          </a:p>
          <a:p xmlns:a="http://schemas.openxmlformats.org/drawingml/2006/main">
            <a:r>
              <a:t>### 3.1 인트로 / 캐릭터 선택</a:t>
            </a:r>
          </a:p>
          <a:p xmlns:a="http://schemas.openxmlformats.org/drawingml/2006/main">
            <a:r>
              <a:t/>
            </a:r>
          </a:p>
          <a:p xmlns:a="http://schemas.openxmlformats.org/drawingml/2006/main">
            <a:r>
              <a:t>- 상단: 가제 `포근한 모험`과 안내 `함께할 친구를 골라 주세요`.</a:t>
            </a:r>
          </a:p>
          <a:p xmlns:a="http://schemas.openxmlformats.org/drawingml/2006/main">
            <a:r>
              <a:t>- 중앙: 펭귄 / 카피바라 / 고양이 카드 3개. 각 카드에는 움직이는 캐릭터, 배경 일부, 이름, 공격 설명 한 줄, 개인 최고 점수를 표시한다.</a:t>
            </a:r>
          </a:p>
          <a:p xmlns:a="http://schemas.openxmlformats.org/drawingml/2006/main">
            <a:r>
              <a:t>- 설명: 펭귄 `눈꽃을 두르고 뒤뚱뒤뚱`, 카피바라 `온천방울로 포근하게`, 고양이 `별빛 편지를 슝슝`.</a:t>
            </a:r>
          </a:p>
          <a:p xmlns:a="http://schemas.openxmlformats.org/drawingml/2006/main">
            <a:r>
              <a:t>- 하단: `WASD / 방향키 이동 · 공격은 자동이에요` 및 소리 켜기/끄기.</a:t>
            </a:r>
          </a:p>
          <a:p xmlns:a="http://schemas.openxmlformats.org/drawingml/2006/main">
            <a:r>
              <a:t>- 마우스 오버 또는 키보드 포커스 시 카드가 약 3% 커지고 테두리가 밝아진다. 카드 위에서 캐릭터가 한 번 반응한다.</a:t>
            </a:r>
          </a:p>
          <a:p xmlns:a="http://schemas.openxmlformats.org/drawingml/2006/main">
            <a:r>
              <a:t>- 클릭 또는 포커스 상태에서 Enter를 누르면 선택된다. 선택 이후 중복 입력을 막고 약 0.35초 페이드로 해당 씬에 진입한다.</a:t>
            </a:r>
          </a:p>
          <a:p xmlns:a="http://schemas.openxmlformats.org/drawingml/2006/main">
            <a:r>
              <a:t>- 별도의 확인 버튼은 두지 않는다. 카드 안에서 최고 점수는 해당 동물의 기록을 표시한다.</a:t>
            </a:r>
          </a:p>
          <a:p xmlns:a="http://schemas.openxmlformats.org/drawingml/2006/main">
            <a:r>
              <a:t/>
            </a:r>
          </a:p>
          <a:p xmlns:a="http://schemas.openxmlformats.org/drawingml/2006/main">
            <a:r>
              <a:t>### 3.2 플레이 시작</a:t>
            </a:r>
          </a:p>
          <a:p xmlns:a="http://schemas.openxmlformats.org/drawingml/2006/main">
            <a:r>
              <a:t/>
            </a:r>
          </a:p>
          <a:p xmlns:a="http://schemas.openxmlformats.org/drawingml/2006/main">
            <a:r>
              <a:t>- 캐릭터는 맵 중앙의 안전한 위치에 등장한다.</a:t>
            </a:r>
          </a:p>
          <a:p xmlns:a="http://schemas.openxmlformats.org/drawingml/2006/main">
            <a:r>
              <a:t>- 첫 조작 가능 시점을 생존 시간 0초로 한다. 첫 1.5초는 적을 생성하지 않는다.</a:t>
            </a:r>
          </a:p>
          <a:p xmlns:a="http://schemas.openxmlformats.org/drawingml/2006/main">
            <a:r>
              <a:t>- `이동해서 친구를 지켜 주세요!` 안내를 약 2.5초 표시하되 이동과 전투를 가리지 않는다.</a:t>
            </a:r>
          </a:p>
          <a:p xmlns:a="http://schemas.openxmlformats.org/drawingml/2006/main">
            <a:r>
              <a:t>- 선택 화면에서부터 재생 중인 음악은 짧게 전환한다. 브라우저에서는 사용자 선택 입력 이후 오디오를 시작한다.</a:t>
            </a:r>
          </a:p>
          <a:p xmlns:a="http://schemas.openxmlformats.org/drawingml/2006/main">
            <a:r>
              <a:t/>
            </a:r>
          </a:p>
          <a:p xmlns:a="http://schemas.openxmlformats.org/drawingml/2006/main">
            <a:r>
              <a:t>### 3.3 결과 화면</a:t>
            </a:r>
          </a:p>
          <a:p xmlns:a="http://schemas.openxmlformats.org/drawingml/2006/main">
            <a:r>
              <a:t/>
            </a:r>
          </a:p>
          <a:p xmlns:a="http://schemas.openxmlformats.org/drawingml/2006/main">
            <a:r>
              <a:t>- 체력이 0이 되면 추가 공격·점수·몬스터 생성을 즉시 중지한다.</a:t>
            </a:r>
          </a:p>
          <a:p xmlns:a="http://schemas.openxmlformats.org/drawingml/2006/main">
            <a:r>
              <a:t>- 주인공의 주저앉는 연출 약 0.6초 후 결과 패널을 표시한다.</a:t>
            </a:r>
          </a:p>
          <a:p xmlns:a="http://schemas.openxmlformats.org/drawingml/2006/main">
            <a:r>
              <a:t>- 문구: `잠깐 쉬어갈까요?`.</a:t>
            </a:r>
          </a:p>
          <a:p xmlns:a="http://schemas.openxmlformats.org/drawingml/2006/main">
            <a:r>
              <a:t>- 표시: 캐릭터 이름, 이번 점수, 생존 시간, 처치 수, 해당 캐릭터 최고 점수.</a:t>
            </a:r>
          </a:p>
          <a:p xmlns:a="http://schemas.openxmlformats.org/drawingml/2006/main">
            <a:r>
              <a:t>- 최고 기록을 넘겼을 때만 `새로운 최고 기록!`과 짧은 축하 반짝임을 표시한다.</a:t>
            </a:r>
          </a:p>
          <a:p xmlns:a="http://schemas.openxmlformats.org/drawingml/2006/main">
            <a:r>
              <a:t>- 버튼: `다시 하기` / `캐릭터 선택`.</a:t>
            </a:r>
          </a:p>
          <a:p xmlns:a="http://schemas.openxmlformats.org/drawingml/2006/main">
            <a:r>
              <a:t>- 재시작 시 체력·시간·점수·적·공격 오브젝트를 모두 초기화한다. 최고 점수와 음소거 설정만 유지한다.</a:t>
            </a:r>
          </a:p>
          <a:p xmlns:a="http://schemas.openxmlformats.org/drawingml/2006/main">
            <a:r>
              <a:t/>
            </a:r>
          </a:p>
          <a:p xmlns:a="http://schemas.openxmlformats.org/drawingml/2006/main">
            <a:r>
              <a:t/>
            </a:r>
          </a:p>
          <a:p xmlns:a="http://schemas.openxmlformats.org/drawingml/2006/main">
            <a:r>
              <a:t/>
            </a:r>
          </a:p>
          <a:p xmlns:a="http://schemas.openxmlformats.org/drawingml/2006/main">
            <a:r>
              <a:t>## 7. 점수와 HUD</a:t>
            </a:r>
          </a:p>
          <a:p xmlns:a="http://schemas.openxmlformats.org/drawingml/2006/main">
            <a:r>
              <a:t/>
            </a:r>
          </a:p>
          <a:p xmlns:a="http://schemas.openxmlformats.org/drawingml/2006/main">
            <a:r>
              <a:t>### 점수 규칙</a:t>
            </a:r>
          </a:p>
          <a:p xmlns:a="http://schemas.openxmlformats.org/drawingml/2006/main">
            <a:r>
              <a:t/>
            </a:r>
          </a:p>
          <a:p xmlns:a="http://schemas.openxmlformats.org/drawingml/2006/main">
            <a:r>
              <a:t>- 기본형 처치 +10점, 튼튼형 처치 +30점.</a:t>
            </a:r>
          </a:p>
          <a:p xmlns:a="http://schemas.openxmlformats.org/drawingml/2006/main">
            <a:r>
              <a:t>- 시간 생존만으로는 점수가 오르지 않는다. 처치 수와 생존 시간은 보조 기록이다.</a:t>
            </a:r>
          </a:p>
          <a:p xmlns:a="http://schemas.openxmlformats.org/drawingml/2006/main">
            <a:r>
              <a:t>- 경험치 구슬과 줍는 아이템은 없다. 처치가 확정되면 즉시 점수에 반영한다.</a:t>
            </a:r>
          </a:p>
          <a:p xmlns:a="http://schemas.openxmlformats.org/drawingml/2006/main">
            <a:r>
              <a:t>- 콤보·배율·동전은 넣지 않는다.</a:t>
            </a:r>
          </a:p>
          <a:p xmlns:a="http://schemas.openxmlformats.org/drawingml/2006/main">
            <a:r>
              <a:t>- 세 동물은 공격 성능이 다르므로 최고 점수도 캐릭터별로 따로 저장한다. 통합 경쟁 랭킹은 만들지 않는다.</a:t>
            </a:r>
          </a:p>
          <a:p xmlns:a="http://schemas.openxmlformats.org/drawingml/2006/main">
            <a:r>
              <a:t>- 최초 기록은 0점으로 표시한다. 같은 브라우저의 로컬 저장을 사용하며 계정 간 동기화는 없다.</a:t>
            </a:r>
          </a:p>
          <a:p xmlns:a="http://schemas.openxmlformats.org/drawingml/2006/main">
            <a:r>
              <a:t>- 새 최고 기록은 플레이 도중 경신할 때도 저장하되 기록 유실과 과도한 저장을 피하도록 적절히 묶어서 갱신한다. 결과 화면에서 마지막 값을 확정 저장한다.</a:t>
            </a:r>
          </a:p>
          <a:p xmlns:a="http://schemas.openxmlformats.org/drawingml/2006/main">
            <a:r>
              <a:t/>
            </a:r>
          </a:p>
          <a:p xmlns:a="http://schemas.openxmlformats.org/drawingml/2006/main">
            <a:r>
              <a:t>### HUD 배치</a:t>
            </a:r>
          </a:p>
          <a:p xmlns:a="http://schemas.openxmlformats.org/drawingml/2006/main">
            <a:r>
              <a:t/>
            </a:r>
          </a:p>
          <a:p xmlns:a="http://schemas.openxmlformats.org/drawingml/2006/main">
            <a:r>
              <a:t>```text</a:t>
            </a:r>
          </a:p>
          <a:p xmlns:a="http://schemas.openxmlformats.org/drawingml/2006/main">
            <a:r>
              <a:t>┌──────────────────────────────────────────────────┐</a:t>
            </a:r>
          </a:p>
          <a:p xmlns:a="http://schemas.openxmlformats.org/drawingml/2006/main">
            <a:r>
              <a:t>│ ♥ ♥ ♥ ♥ ♥               SCORE 001250     ⏱ 02:14 Ⅱ │</a:t>
            </a:r>
          </a:p>
          <a:p xmlns:a="http://schemas.openxmlformats.org/drawingml/2006/main">
            <a:r>
              <a:t>│                                                  │</a:t>
            </a:r>
          </a:p>
          <a:p xmlns:a="http://schemas.openxmlformats.org/drawingml/2006/main">
            <a:r>
              <a:t>│                                                  │</a:t>
            </a:r>
          </a:p>
          <a:p xmlns:a="http://schemas.openxmlformats.org/drawingml/2006/main">
            <a:r>
              <a:t>│                  플레이 영역                     │</a:t>
            </a:r>
          </a:p>
          <a:p xmlns:a="http://schemas.openxmlformats.org/drawingml/2006/main">
            <a:r>
              <a:t>│                                                  │</a:t>
            </a:r>
          </a:p>
          <a:p xmlns:a="http://schemas.openxmlformats.org/drawingml/2006/main">
            <a:r>
              <a:t>│                                                  │</a:t>
            </a:r>
          </a:p>
          <a:p xmlns:a="http://schemas.openxmlformats.org/drawingml/2006/main">
            <a:r>
              <a:t>└──────────────────────────────────────────────────┘</a:t>
            </a:r>
          </a:p>
          <a:p xmlns:a="http://schemas.openxmlformats.org/drawingml/2006/main">
            <a:r>
              <a:t>```</a:t>
            </a:r>
          </a:p>
          <a:p xmlns:a="http://schemas.openxmlformats.org/drawingml/2006/main">
            <a:r>
              <a:t/>
            </a:r>
          </a:p>
          <a:p xmlns:a="http://schemas.openxmlformats.org/drawingml/2006/main">
            <a:r>
              <a:t>- 좌상단: 체력 5칸. 잃은 체력은 빈 아이콘으로 유지한다.</a:t>
            </a:r>
          </a:p>
          <a:p xmlns:a="http://schemas.openxmlformats.org/drawingml/2006/main">
            <a:r>
              <a:t>- 상단 중앙: 점수. 증가 시 0.12초간 약 8% 커졌다가 원래 크기로 돌아온다. 빠른 연속 처치는 연출을 합친다.</a:t>
            </a:r>
          </a:p>
          <a:p xmlns:a="http://schemas.openxmlformats.org/drawingml/2006/main">
            <a:r>
              <a:t>- 우상단: 생존 시간과 일시정지 버튼. 시간은 1시간 이상도 표시할 수 있다.</a:t>
            </a:r>
          </a:p>
          <a:p xmlns:a="http://schemas.openxmlformats.org/drawingml/2006/main">
            <a:r>
              <a:t>- HUD 뒤에는 옅은 판을 둬 어떤 배경에서도 읽히게 한다.</a:t>
            </a:r>
          </a:p>
          <a:p xmlns:a="http://schemas.openxmlformats.org/drawingml/2006/main">
            <a:r>
              <a:t>- 처치 위치에는 작은 `+10` / `+30`이 0.45초 떠오른다. 동시에 최대 12개만 표시하고 초과 표시는 생략한다. 실제 점수는 모두 지급한다.</a:t>
            </a:r>
          </a:p>
          <a:p xmlns:a="http://schemas.openxmlformats.org/drawingml/2006/main">
            <a:r>
              <a:t>- 피해 숫자는 표시하지 않는다. 맞았는지는 반짝임·표정·넉백으로 알린다.</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7 개발 상세</a:t>
            </a:r>
          </a:p>
          <a:p xmlns:a="http://schemas.openxmlformats.org/drawingml/2006/main">
            <a:r>
              <a:t/>
            </a:r>
          </a:p>
          <a:p xmlns:a="http://schemas.openxmlformats.org/drawingml/2006/main">
            <a:r>
              <a:t>## 2. 시안 적용 방향</a:t>
            </a:r>
          </a:p>
          <a:p xmlns:a="http://schemas.openxmlformats.org/drawingml/2006/main">
            <a:r>
              <a:t/>
            </a:r>
          </a:p>
          <a:p xmlns:a="http://schemas.openxmlformats.org/drawingml/2006/main">
            <a:r>
              <a:t>| 선택 순서 | 캐릭터 | 기준 시안 | 플레이 씬 | 공격 이미지 |</a:t>
            </a:r>
          </a:p>
          <a:p xmlns:a="http://schemas.openxmlformats.org/drawingml/2006/main">
            <a:r>
              <a:t>|---|---|---|---|---|</a:t>
            </a:r>
          </a:p>
          <a:p xmlns:a="http://schemas.openxmlformats.org/drawingml/2006/main">
            <a:r>
              <a:t>| 1 | 펭귄 | 7번 | 오로라 눈밭 | 주변을 도는 눈꽃 |</a:t>
            </a:r>
          </a:p>
          <a:p xmlns:a="http://schemas.openxmlformats.org/drawingml/2006/main">
            <a:r>
              <a:t>| 2 | 카피바라 | 2번 | 온천 마을 | 바깥으로 퍼지는 온천방울 |</a:t>
            </a:r>
          </a:p>
          <a:p xmlns:a="http://schemas.openxmlformats.org/drawingml/2006/main">
            <a:r>
              <a:t>| 3 | 고양이 | 3번 | 달빛 우체국 | 적을 향해 날아가는 별빛 편지 |</a:t>
            </a:r>
          </a:p>
          <a:p xmlns:a="http://schemas.openxmlformats.org/drawingml/2006/main">
            <a:r>
              <a:t/>
            </a:r>
          </a:p>
          <a:p xmlns:a="http://schemas.openxmlformats.org/drawingml/2006/main">
            <a:r>
              <a:t>### 기준 이미지</a:t>
            </a:r>
          </a:p>
          <a:p xmlns:a="http://schemas.openxmlformats.org/drawingml/2006/main">
            <a:r>
              <a:t/>
            </a:r>
          </a:p>
          <a:p xmlns:a="http://schemas.openxmlformats.org/drawingml/2006/main">
            <a:r>
              <a:t>**7번 · 펭귄 오로라 눈밭**</a:t>
            </a:r>
          </a:p>
          <a:p xmlns:a="http://schemas.openxmlformats.org/drawingml/2006/main">
            <a:r>
              <a:t/>
            </a:r>
          </a:p>
          <a:p xmlns:a="http://schemas.openxmlformats.org/drawingml/2006/main">
            <a:r>
              <a:t>![펭귄 오로라 눈밭](animal-concepts/07.png)</a:t>
            </a:r>
          </a:p>
          <a:p xmlns:a="http://schemas.openxmlformats.org/drawingml/2006/main">
            <a:r>
              <a:t/>
            </a:r>
          </a:p>
          <a:p xmlns:a="http://schemas.openxmlformats.org/drawingml/2006/main">
            <a:r>
              <a:t>**2번 · 카피바라 온천 마을**</a:t>
            </a:r>
          </a:p>
          <a:p xmlns:a="http://schemas.openxmlformats.org/drawingml/2006/main">
            <a:r>
              <a:t/>
            </a:r>
          </a:p>
          <a:p xmlns:a="http://schemas.openxmlformats.org/drawingml/2006/main">
            <a:r>
              <a:t>![카피바라 온천 마을](animal-concepts/02.png)</a:t>
            </a:r>
          </a:p>
          <a:p xmlns:a="http://schemas.openxmlformats.org/drawingml/2006/main">
            <a:r>
              <a:t/>
            </a:r>
          </a:p>
          <a:p xmlns:a="http://schemas.openxmlformats.org/drawingml/2006/main">
            <a:r>
              <a:t>**3번 · 고양이 달빛 우체국**</a:t>
            </a:r>
          </a:p>
          <a:p xmlns:a="http://schemas.openxmlformats.org/drawingml/2006/main">
            <a:r>
              <a:t/>
            </a:r>
          </a:p>
          <a:p xmlns:a="http://schemas.openxmlformats.org/drawingml/2006/main">
            <a:r>
              <a:t>![고양이 달빛 우체국](animal-concepts/03.png)</a:t>
            </a:r>
          </a:p>
          <a:p xmlns:a="http://schemas.openxmlformats.org/drawingml/2006/main">
            <a:r>
              <a:t/>
            </a:r>
          </a:p>
          <a:p xmlns:a="http://schemas.openxmlformats.org/drawingml/2006/main">
            <a:r>
              <a:t>### 그래픽 해석</a:t>
            </a:r>
          </a:p>
          <a:p xmlns:a="http://schemas.openxmlformats.org/drawingml/2006/main">
            <a:r>
              <a:t/>
            </a:r>
          </a:p>
          <a:p xmlns:a="http://schemas.openxmlformats.org/drawingml/2006/main">
            <a:r>
              <a:t>- 펭귄 씬은 7번의 파스텔 픽셀 느낌, 카피바라·고양이 씬은 2·3번의 부드러운 일러스트 느낌을 유지한다. 이번에는 화풍별 플레이 인상도 함께 비교한다.</a:t>
            </a:r>
          </a:p>
          <a:p xmlns:a="http://schemas.openxmlformats.org/drawingml/2006/main">
            <a:r>
              <a:t>- 공통 UI의 배치·글꼴·크기·아이콘 문법은 통일한다. 씬에 따라 포인트 색만 바뀐다.</a:t>
            </a:r>
          </a:p>
          <a:p xmlns:a="http://schemas.openxmlformats.org/drawingml/2006/main">
            <a:r>
              <a:t>- 기준 이미지는 구성과 분위기를 위한 참고다. 완성 이미지를 배경으로 그대로 깔면 이미지 속 주인공·몬스터·공격이 중복되므로 사용하지 않는다.</a:t>
            </a:r>
          </a:p>
          <a:p xmlns:a="http://schemas.openxmlformats.org/drawingml/2006/main">
            <a:r>
              <a:t>- 실제 제작에서는 배경, 주인공, 몬스터, 전경, 공격 이펙트를 분리된 에셋으로 만든다.</a:t>
            </a:r>
          </a:p>
          <a:p xmlns:a="http://schemas.openxmlformats.org/drawingml/2006/main">
            <a:r>
              <a:t>- 플레이 영역 바닥은 기준 이미지보다 단순하게 만들고, 디테일은 가장자리로 보낸다. 주인공과 적의 외곽선이 바닥에서 분명하게 구분되어야 한다.</a:t>
            </a:r>
          </a:p>
          <a:p xmlns:a="http://schemas.openxmlformats.org/drawingml/2006/main">
            <a:r>
              <a:t>- 정적인 공격 고리나 몬스터를 배경에 그려 넣지 않는다. 움직이는 게임 오브젝트로 구현한다.</a:t>
            </a:r>
          </a:p>
          <a:p xmlns:a="http://schemas.openxmlformats.org/drawingml/2006/main">
            <a:r>
              <a:t/>
            </a:r>
          </a:p>
          <a:p xmlns:a="http://schemas.openxmlformats.org/drawingml/2006/main">
            <a:r>
              <a:t/>
            </a:r>
          </a:p>
          <a:p xmlns:a="http://schemas.openxmlformats.org/drawingml/2006/main">
            <a:r>
              <a:t>## 5. 캐릭터별 공격과 씬</a:t>
            </a:r>
          </a:p>
          <a:p xmlns:a="http://schemas.openxmlformats.org/drawingml/2006/main">
            <a:r>
              <a:t/>
            </a:r>
          </a:p>
          <a:p xmlns:a="http://schemas.openxmlformats.org/drawingml/2006/main">
            <a:r>
              <a:t>공통으로 공격력 강화와 스킬 획득은 없다. 시작부터 종료까지 같은 능력을 사용한다. 공격 수치는 체감 비교를 위한 시작값이며, 세 공격의 유효 처치 성능이 지나치게 벌어지면 조정한다.</a:t>
            </a:r>
          </a:p>
          <a:p xmlns:a="http://schemas.openxmlformats.org/drawingml/2006/main">
            <a:r>
              <a:t/>
            </a:r>
          </a:p>
          <a:p xmlns:a="http://schemas.openxmlformats.org/drawingml/2006/main">
            <a:r>
              <a:t>### 5.1 펭귄 — 오로라 눈밭</a:t>
            </a:r>
          </a:p>
          <a:p xmlns:a="http://schemas.openxmlformats.org/drawingml/2006/main">
            <a:r>
              <a:t/>
            </a:r>
          </a:p>
          <a:p xmlns:a="http://schemas.openxmlformats.org/drawingml/2006/main">
            <a:r>
              <a:t>**인상:** 뒤뚱뒤뚱 걸으며 몸 주변의 눈꽃으로 적을 밀어내는 캐릭터.</a:t>
            </a:r>
          </a:p>
          <a:p xmlns:a="http://schemas.openxmlformats.org/drawingml/2006/main">
            <a:r>
              <a:t/>
            </a:r>
          </a:p>
          <a:p xmlns:a="http://schemas.openxmlformats.org/drawingml/2006/main">
            <a:r>
              <a:t>- 배경: 연보라 눈밭, 가장자리의 전나무와 얼음 개울, 은은한 오로라. 중앙은 밝고 단순한 눈 바닥이다.</a:t>
            </a:r>
          </a:p>
          <a:p xmlns:a="http://schemas.openxmlformats.org/drawingml/2006/main">
            <a:r>
              <a:t>- 주인공: 작은 펭귄과 분홍 목도리. 그림자·발자국·목도리 흔들림으로 이동을 읽게 한다.</a:t>
            </a:r>
          </a:p>
          <a:p xmlns:a="http://schemas.openxmlformats.org/drawingml/2006/main">
            <a:r>
              <a:t>- 몬스터: 작은 눈뭉치 정령과 조금 큰 우박 정령. 흰색 몸에 청보라 외곽선과 그림자를 넣어 눈밭에 묻히지 않게 한다.</a:t>
            </a:r>
          </a:p>
          <a:p xmlns:a="http://schemas.openxmlformats.org/drawingml/2006/main">
            <a:r>
              <a:t/>
            </a:r>
          </a:p>
          <a:p xmlns:a="http://schemas.openxmlformats.org/drawingml/2006/main">
            <a:r>
              <a:t>**공격: 회전 눈꽃**</a:t>
            </a:r>
          </a:p>
          <a:p xmlns:a="http://schemas.openxmlformats.org/drawingml/2006/main">
            <a:r>
              <a:t/>
            </a:r>
          </a:p>
          <a:p xmlns:a="http://schemas.openxmlformats.org/drawingml/2006/main">
            <a:r>
              <a:t>| 항목 | 시작값 |</a:t>
            </a:r>
          </a:p>
          <a:p xmlns:a="http://schemas.openxmlformats.org/drawingml/2006/main">
            <a:r>
              <a:t>|---|---|</a:t>
            </a:r>
          </a:p>
          <a:p xmlns:a="http://schemas.openxmlformats.org/drawingml/2006/main">
            <a:r>
              <a:t>| 눈꽃 수 | 3개, 서로 120도 간격 |</a:t>
            </a:r>
          </a:p>
          <a:p xmlns:a="http://schemas.openxmlformats.org/drawingml/2006/main">
            <a:r>
              <a:t>| 회전 반경 | 캐릭터 중심에서 88px |</a:t>
            </a:r>
          </a:p>
          <a:p xmlns:a="http://schemas.openxmlformats.org/drawingml/2006/main">
            <a:r>
              <a:t>| 회전 속도 | 1회전 / 2.4초 |</a:t>
            </a:r>
          </a:p>
          <a:p xmlns:a="http://schemas.openxmlformats.org/drawingml/2006/main">
            <a:r>
              <a:t>| 눈꽃 판정 | 반지름 16px |</a:t>
            </a:r>
          </a:p>
          <a:p xmlns:a="http://schemas.openxmlformats.org/drawingml/2006/main">
            <a:r>
              <a:t>| 피해량 | 10 |</a:t>
            </a:r>
          </a:p>
          <a:p xmlns:a="http://schemas.openxmlformats.org/drawingml/2006/main">
            <a:r>
              <a:t>| 동일 적 연속 피해 제한 | 모든 눈꽃을 합쳐 0.4초당 최대 1회 |</a:t>
            </a:r>
          </a:p>
          <a:p xmlns:a="http://schemas.openxmlformats.org/drawingml/2006/main">
            <a:r>
              <a:t>| 넉백 | 적 진행 반대 방향으로 18px |</a:t>
            </a:r>
          </a:p>
          <a:p xmlns:a="http://schemas.openxmlformats.org/drawingml/2006/main">
            <a:r>
              <a:t/>
            </a:r>
          </a:p>
          <a:p xmlns:a="http://schemas.openxmlformats.org/drawingml/2006/main">
            <a:r>
              <a:t>- 실제 눈꽃과 적이 닿을 때 피해가 발생한다. 궤도 원 전체에 피해를 주지 않는다.</a:t>
            </a:r>
          </a:p>
          <a:p xmlns:a="http://schemas.openxmlformats.org/drawingml/2006/main">
            <a:r>
              <a:t>- 눈꽃은 적을 맞혀도 사라지지 않는다. 시각적 꼬리는 짧고 옅게 표시한다.</a:t>
            </a:r>
          </a:p>
          <a:p xmlns:a="http://schemas.openxmlformats.org/drawingml/2006/main">
            <a:r>
              <a:t>- 적이 고리 안으로 들어오면 위험해지므로, 거리 유지와 이동이 중요하다.</a:t>
            </a:r>
          </a:p>
          <a:p xmlns:a="http://schemas.openxmlformats.org/drawingml/2006/main">
            <a:r>
              <a:t>- 적을 맞힐 때 눈꽃이 반짝이고 작은 얼음 조각이 퍼진다. 둔화 상태이상은 넣지 않는다.</a:t>
            </a:r>
          </a:p>
          <a:p xmlns:a="http://schemas.openxmlformats.org/drawingml/2006/main">
            <a:r>
              <a:t/>
            </a:r>
          </a:p>
          <a:p xmlns:a="http://schemas.openxmlformats.org/drawingml/2006/main">
            <a:r>
              <a:t>### 5.2 카피바라 — 온천 마을</a:t>
            </a:r>
          </a:p>
          <a:p xmlns:a="http://schemas.openxmlformats.org/drawingml/2006/main">
            <a:r>
              <a:t/>
            </a:r>
          </a:p>
          <a:p xmlns:a="http://schemas.openxmlformats.org/drawingml/2006/main">
            <a:r>
              <a:t>**인상:** 느긋한 표정으로 걷지만, 주기적으로 터지는 방울로 주변을 정리하는 캐릭터.</a:t>
            </a:r>
          </a:p>
          <a:p xmlns:a="http://schemas.openxmlformats.org/drawingml/2006/main">
            <a:r>
              <a:t/>
            </a:r>
          </a:p>
          <a:p xmlns:a="http://schemas.openxmlformats.org/drawingml/2006/main">
            <a:r>
              <a:t>- 배경: 살구색 온천 마당, 가장자리의 탕과 나무 건물, 꽃나무, 낮게 올라오는 수증기.</a:t>
            </a:r>
          </a:p>
          <a:p xmlns:a="http://schemas.openxmlformats.org/drawingml/2006/main">
            <a:r>
              <a:t>- 주인공: 머리에 유자를 올린 카피바라. 몸의 느긋한 흔들림과 유자의 작은 지연 움직임을 사용한다.</a:t>
            </a:r>
          </a:p>
          <a:p xmlns:a="http://schemas.openxmlformats.org/drawingml/2006/main">
            <a:r>
              <a:t>- 몬스터: 둥근 잿빛 김 정령과 커다란 먹구름 정령. 가시·피·공포 표현은 쓰지 않는다.</a:t>
            </a:r>
          </a:p>
          <a:p xmlns:a="http://schemas.openxmlformats.org/drawingml/2006/main">
            <a:r>
              <a:t/>
            </a:r>
          </a:p>
          <a:p xmlns:a="http://schemas.openxmlformats.org/drawingml/2006/main">
            <a:r>
              <a:t>**공격: 온천방울 파동**</a:t>
            </a:r>
          </a:p>
          <a:p xmlns:a="http://schemas.openxmlformats.org/drawingml/2006/main">
            <a:r>
              <a:t/>
            </a:r>
          </a:p>
          <a:p xmlns:a="http://schemas.openxmlformats.org/drawingml/2006/main">
            <a:r>
              <a:t>| 항목 | 시작값 |</a:t>
            </a:r>
          </a:p>
          <a:p xmlns:a="http://schemas.openxmlformats.org/drawingml/2006/main">
            <a:r>
              <a:t>|---|---|</a:t>
            </a:r>
          </a:p>
          <a:p xmlns:a="http://schemas.openxmlformats.org/drawingml/2006/main">
            <a:r>
              <a:t>| 발동 간격 | 1.6초 |</a:t>
            </a:r>
          </a:p>
          <a:p xmlns:a="http://schemas.openxmlformats.org/drawingml/2006/main">
            <a:r>
              <a:t>| 발동 예고 | 0.2초, 몸 주변 방울이 모임 |</a:t>
            </a:r>
          </a:p>
          <a:p xmlns:a="http://schemas.openxmlformats.org/drawingml/2006/main">
            <a:r>
              <a:t>| 최대 반경 | 145px |</a:t>
            </a:r>
          </a:p>
          <a:p xmlns:a="http://schemas.openxmlformats.org/drawingml/2006/main">
            <a:r>
              <a:t>| 확산 시간 | 0.35초 |</a:t>
            </a:r>
          </a:p>
          <a:p xmlns:a="http://schemas.openxmlformats.org/drawingml/2006/main">
            <a:r>
              <a:t>| 피해량 | 10 |</a:t>
            </a:r>
          </a:p>
          <a:p xmlns:a="http://schemas.openxmlformats.org/drawingml/2006/main">
            <a:r>
              <a:t>| 동일 적 피해 | 파동 한 번에 최대 1회 |</a:t>
            </a:r>
          </a:p>
          <a:p xmlns:a="http://schemas.openxmlformats.org/drawingml/2006/main">
            <a:r>
              <a:t>| 넉백 | 파동 중심에서 바깥으로 32px |</a:t>
            </a:r>
          </a:p>
          <a:p xmlns:a="http://schemas.openxmlformats.org/drawingml/2006/main">
            <a:r>
              <a:t/>
            </a:r>
          </a:p>
          <a:p xmlns:a="http://schemas.openxmlformats.org/drawingml/2006/main">
            <a:r>
              <a:t>- 발동 순간의 캐릭터 위치를 파동 중심으로 고정한다. 발동 후 이동해도 기존 파동은 캐릭터를 따라오지 않는다.</a:t>
            </a:r>
          </a:p>
          <a:p xmlns:a="http://schemas.openxmlformats.org/drawingml/2006/main">
            <a:r>
              <a:t>- 확장하는 파동이 적에게 도달할 때 피해를 준다. 한 번 맞은 적은 같은 파동에서 다시 피해를 받지 않는다.</a:t>
            </a:r>
          </a:p>
          <a:p xmlns:a="http://schemas.openxmlformats.org/drawingml/2006/main">
            <a:r>
              <a:t>- 파동 판정은 이전 프레임과 현재 프레임의 확장 구간을 함께 검사해 빠르게 지나간 적을 놓치지 않게 한다.</a:t>
            </a:r>
          </a:p>
          <a:p xmlns:a="http://schemas.openxmlformats.org/drawingml/2006/main">
            <a:r>
              <a:t>- 공격 사이의 공백에는 이동으로 버텨야 한다. 치유 능력은 이번 버전에는 없다.</a:t>
            </a:r>
          </a:p>
          <a:p xmlns:a="http://schemas.openxmlformats.org/drawingml/2006/main">
            <a:r>
              <a:t>- 방울은 반투명으로 표시해 안쪽의 적과 발밑이 계속 보이게 한다.</a:t>
            </a:r>
          </a:p>
          <a:p xmlns:a="http://schemas.openxmlformats.org/drawingml/2006/main">
            <a:r>
              <a:t/>
            </a:r>
          </a:p>
          <a:p xmlns:a="http://schemas.openxmlformats.org/drawingml/2006/main">
            <a:r>
              <a:t>### 5.3 고양이 — 달빛 우체국</a:t>
            </a:r>
          </a:p>
          <a:p xmlns:a="http://schemas.openxmlformats.org/drawingml/2006/main">
            <a:r>
              <a:t/>
            </a:r>
          </a:p>
          <a:p xmlns:a="http://schemas.openxmlformats.org/drawingml/2006/main">
            <a:r>
              <a:t>**인상:** 편지를 날려 가까운 적을 처리하며 사뿐사뿐 움직이는 캐릭터.</a:t>
            </a:r>
          </a:p>
          <a:p xmlns:a="http://schemas.openxmlformats.org/drawingml/2006/main">
            <a:r>
              <a:t/>
            </a:r>
          </a:p>
          <a:p xmlns:a="http://schemas.openxmlformats.org/drawingml/2006/main">
            <a:r>
              <a:t>- 배경: 보랏빛 우체국 마당, 따뜻한 우편함·랜턴, 가장자리의 나무와 돌길. 전투 바닥은 중간 명도로 유지한다.</a:t>
            </a:r>
          </a:p>
          <a:p xmlns:a="http://schemas.openxmlformats.org/drawingml/2006/main">
            <a:r>
              <a:t>- 주인공: 우편 가방을 멘 고양이. 귀·꼬리·가방의 보조 움직임을 사용한다.</a:t>
            </a:r>
          </a:p>
          <a:p xmlns:a="http://schemas.openxmlformats.org/drawingml/2006/main">
            <a:r>
              <a:t>- 몬스터: 보라색 그림자 솜뭉치와 커다란 밤구름. 외곽에 옅은 라벤더 선을 넣는다.</a:t>
            </a:r>
          </a:p>
          <a:p xmlns:a="http://schemas.openxmlformats.org/drawingml/2006/main">
            <a:r>
              <a:t/>
            </a:r>
          </a:p>
          <a:p xmlns:a="http://schemas.openxmlformats.org/drawingml/2006/main">
            <a:r>
              <a:t>**공격: 별빛 편지**</a:t>
            </a:r>
          </a:p>
          <a:p xmlns:a="http://schemas.openxmlformats.org/drawingml/2006/main">
            <a:r>
              <a:t/>
            </a:r>
          </a:p>
          <a:p xmlns:a="http://schemas.openxmlformats.org/drawingml/2006/main">
            <a:r>
              <a:t>| 항목 | 시작값 |</a:t>
            </a:r>
          </a:p>
          <a:p xmlns:a="http://schemas.openxmlformats.org/drawingml/2006/main">
            <a:r>
              <a:t>|---|---|</a:t>
            </a:r>
          </a:p>
          <a:p xmlns:a="http://schemas.openxmlformats.org/drawingml/2006/main">
            <a:r>
              <a:t>| 발사 간격 | 0.65초 |</a:t>
            </a:r>
          </a:p>
          <a:p xmlns:a="http://schemas.openxmlformats.org/drawingml/2006/main">
            <a:r>
              <a:t>| 대상 | 반경 420px 안의 가장 가까운 살아 있는 적 |</a:t>
            </a:r>
          </a:p>
          <a:p xmlns:a="http://schemas.openxmlformats.org/drawingml/2006/main">
            <a:r>
              <a:t>| 투사체 속도 | 420px/s |</a:t>
            </a:r>
          </a:p>
          <a:p xmlns:a="http://schemas.openxmlformats.org/drawingml/2006/main">
            <a:r>
              <a:t>| 최대 생존 시간 | 1.2초 |</a:t>
            </a:r>
          </a:p>
          <a:p xmlns:a="http://schemas.openxmlformats.org/drawingml/2006/main">
            <a:r>
              <a:t>| 피해량 | 10 |</a:t>
            </a:r>
          </a:p>
          <a:p xmlns:a="http://schemas.openxmlformats.org/drawingml/2006/main">
            <a:r>
              <a:t>| 관통 | 없음, 첫 적 명중 시 소멸 |</a:t>
            </a:r>
          </a:p>
          <a:p xmlns:a="http://schemas.openxmlformats.org/drawingml/2006/main">
            <a:r>
              <a:t>| 넉백 | 투사체 방향으로 16px |</a:t>
            </a:r>
          </a:p>
          <a:p xmlns:a="http://schemas.openxmlformats.org/drawingml/2006/main">
            <a:r>
              <a:t/>
            </a:r>
          </a:p>
          <a:p xmlns:a="http://schemas.openxmlformats.org/drawingml/2006/main">
            <a:r>
              <a:t>- 발사 순간 적 방향을 정해 직선으로 날아간다. 발사 후 유도하지 않으며, 경로의 다른 적에게 맞을 수 있다.</a:t>
            </a:r>
          </a:p>
          <a:p xmlns:a="http://schemas.openxmlformats.org/drawingml/2006/main">
            <a:r>
              <a:t>- 범위 내 적이 없으면 발사하지 않는다. 적이 범위에 들어오고 공격 대기시간이 끝났으면 발사한다. 미발사 횟수를 저장해 한꺼번에 쏘지 않는다.</a:t>
            </a:r>
          </a:p>
          <a:p xmlns:a="http://schemas.openxmlformats.org/drawingml/2006/main">
            <a:r>
              <a:t>- 편지는 크림색, 꼬리는 금빛 작은 별로 표현한다.</a:t>
            </a:r>
          </a:p>
          <a:p xmlns:a="http://schemas.openxmlformats.org/drawingml/2006/main">
            <a:r>
              <a:t>- 몸은 이동 방향을 유지하고 편지만 적을 향하게 해, 공격할 때마다 몸이 좌우로 튀지 않게 한다.</a:t>
            </a:r>
          </a:p>
          <a:p xmlns:a="http://schemas.openxmlformats.org/drawingml/2006/main">
            <a:r>
              <a:t/>
            </a:r>
          </a:p>
          <a:p xmlns:a="http://schemas.openxmlformats.org/drawingml/2006/main">
            <a:r>
              <a:t/>
            </a:r>
          </a:p>
          <a:p xmlns:a="http://schemas.openxmlformats.org/drawingml/2006/main">
            <a:r>
              <a:t/>
            </a:r>
          </a:p>
          <a:p xmlns:a="http://schemas.openxmlformats.org/drawingml/2006/main">
            <a:r>
              <a:t>기준 이미지: output/animal-concepts/07.png. 사용자 요청으로 이미지 생성 도구에서 만든 콘셉트 이미지다. 이미지 자체를 완성 게임 화면으로 해석하지 않는다.</a:t>
            </a:r>
          </a:p>
          <a:p xmlns:a="http://schemas.openxmlformats.org/drawingml/2006/main">
            <a:r>
              <a:t/>
            </a:r>
          </a:p>
          <a:p xmlns:a="http://schemas.openxmlformats.org/drawingml/2006/main">
            <a:r>
              <a:t>기획 원문: output/animal-survivors-prototype-v0.1.md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8 개발 상세</a:t>
            </a:r>
          </a:p>
          <a:p xmlns:a="http://schemas.openxmlformats.org/drawingml/2006/main">
            <a:r>
              <a:t/>
            </a:r>
          </a:p>
          <a:p xmlns:a="http://schemas.openxmlformats.org/drawingml/2006/main">
            <a:r>
              <a:t>## 2. 시안 적용 방향</a:t>
            </a:r>
          </a:p>
          <a:p xmlns:a="http://schemas.openxmlformats.org/drawingml/2006/main">
            <a:r>
              <a:t/>
            </a:r>
          </a:p>
          <a:p xmlns:a="http://schemas.openxmlformats.org/drawingml/2006/main">
            <a:r>
              <a:t>| 선택 순서 | 캐릭터 | 기준 시안 | 플레이 씬 | 공격 이미지 |</a:t>
            </a:r>
          </a:p>
          <a:p xmlns:a="http://schemas.openxmlformats.org/drawingml/2006/main">
            <a:r>
              <a:t>|---|---|---|---|---|</a:t>
            </a:r>
          </a:p>
          <a:p xmlns:a="http://schemas.openxmlformats.org/drawingml/2006/main">
            <a:r>
              <a:t>| 1 | 펭귄 | 7번 | 오로라 눈밭 | 주변을 도는 눈꽃 |</a:t>
            </a:r>
          </a:p>
          <a:p xmlns:a="http://schemas.openxmlformats.org/drawingml/2006/main">
            <a:r>
              <a:t>| 2 | 카피바라 | 2번 | 온천 마을 | 바깥으로 퍼지는 온천방울 |</a:t>
            </a:r>
          </a:p>
          <a:p xmlns:a="http://schemas.openxmlformats.org/drawingml/2006/main">
            <a:r>
              <a:t>| 3 | 고양이 | 3번 | 달빛 우체국 | 적을 향해 날아가는 별빛 편지 |</a:t>
            </a:r>
          </a:p>
          <a:p xmlns:a="http://schemas.openxmlformats.org/drawingml/2006/main">
            <a:r>
              <a:t/>
            </a:r>
          </a:p>
          <a:p xmlns:a="http://schemas.openxmlformats.org/drawingml/2006/main">
            <a:r>
              <a:t>### 기준 이미지</a:t>
            </a:r>
          </a:p>
          <a:p xmlns:a="http://schemas.openxmlformats.org/drawingml/2006/main">
            <a:r>
              <a:t/>
            </a:r>
          </a:p>
          <a:p xmlns:a="http://schemas.openxmlformats.org/drawingml/2006/main">
            <a:r>
              <a:t>**7번 · 펭귄 오로라 눈밭**</a:t>
            </a:r>
          </a:p>
          <a:p xmlns:a="http://schemas.openxmlformats.org/drawingml/2006/main">
            <a:r>
              <a:t/>
            </a:r>
          </a:p>
          <a:p xmlns:a="http://schemas.openxmlformats.org/drawingml/2006/main">
            <a:r>
              <a:t>![펭귄 오로라 눈밭](animal-concepts/07.png)</a:t>
            </a:r>
          </a:p>
          <a:p xmlns:a="http://schemas.openxmlformats.org/drawingml/2006/main">
            <a:r>
              <a:t/>
            </a:r>
          </a:p>
          <a:p xmlns:a="http://schemas.openxmlformats.org/drawingml/2006/main">
            <a:r>
              <a:t>**2번 · 카피바라 온천 마을**</a:t>
            </a:r>
          </a:p>
          <a:p xmlns:a="http://schemas.openxmlformats.org/drawingml/2006/main">
            <a:r>
              <a:t/>
            </a:r>
          </a:p>
          <a:p xmlns:a="http://schemas.openxmlformats.org/drawingml/2006/main">
            <a:r>
              <a:t>![카피바라 온천 마을](animal-concepts/02.png)</a:t>
            </a:r>
          </a:p>
          <a:p xmlns:a="http://schemas.openxmlformats.org/drawingml/2006/main">
            <a:r>
              <a:t/>
            </a:r>
          </a:p>
          <a:p xmlns:a="http://schemas.openxmlformats.org/drawingml/2006/main">
            <a:r>
              <a:t>**3번 · 고양이 달빛 우체국**</a:t>
            </a:r>
          </a:p>
          <a:p xmlns:a="http://schemas.openxmlformats.org/drawingml/2006/main">
            <a:r>
              <a:t/>
            </a:r>
          </a:p>
          <a:p xmlns:a="http://schemas.openxmlformats.org/drawingml/2006/main">
            <a:r>
              <a:t>![고양이 달빛 우체국](animal-concepts/03.png)</a:t>
            </a:r>
          </a:p>
          <a:p xmlns:a="http://schemas.openxmlformats.org/drawingml/2006/main">
            <a:r>
              <a:t/>
            </a:r>
          </a:p>
          <a:p xmlns:a="http://schemas.openxmlformats.org/drawingml/2006/main">
            <a:r>
              <a:t>### 그래픽 해석</a:t>
            </a:r>
          </a:p>
          <a:p xmlns:a="http://schemas.openxmlformats.org/drawingml/2006/main">
            <a:r>
              <a:t/>
            </a:r>
          </a:p>
          <a:p xmlns:a="http://schemas.openxmlformats.org/drawingml/2006/main">
            <a:r>
              <a:t>- 펭귄 씬은 7번의 파스텔 픽셀 느낌, 카피바라·고양이 씬은 2·3번의 부드러운 일러스트 느낌을 유지한다. 이번에는 화풍별 플레이 인상도 함께 비교한다.</a:t>
            </a:r>
          </a:p>
          <a:p xmlns:a="http://schemas.openxmlformats.org/drawingml/2006/main">
            <a:r>
              <a:t>- 공통 UI의 배치·글꼴·크기·아이콘 문법은 통일한다. 씬에 따라 포인트 색만 바뀐다.</a:t>
            </a:r>
          </a:p>
          <a:p xmlns:a="http://schemas.openxmlformats.org/drawingml/2006/main">
            <a:r>
              <a:t>- 기준 이미지는 구성과 분위기를 위한 참고다. 완성 이미지를 배경으로 그대로 깔면 이미지 속 주인공·몬스터·공격이 중복되므로 사용하지 않는다.</a:t>
            </a:r>
          </a:p>
          <a:p xmlns:a="http://schemas.openxmlformats.org/drawingml/2006/main">
            <a:r>
              <a:t>- 실제 제작에서는 배경, 주인공, 몬스터, 전경, 공격 이펙트를 분리된 에셋으로 만든다.</a:t>
            </a:r>
          </a:p>
          <a:p xmlns:a="http://schemas.openxmlformats.org/drawingml/2006/main">
            <a:r>
              <a:t>- 플레이 영역 바닥은 기준 이미지보다 단순하게 만들고, 디테일은 가장자리로 보낸다. 주인공과 적의 외곽선이 바닥에서 분명하게 구분되어야 한다.</a:t>
            </a:r>
          </a:p>
          <a:p xmlns:a="http://schemas.openxmlformats.org/drawingml/2006/main">
            <a:r>
              <a:t>- 정적인 공격 고리나 몬스터를 배경에 그려 넣지 않는다. 움직이는 게임 오브젝트로 구현한다.</a:t>
            </a:r>
          </a:p>
          <a:p xmlns:a="http://schemas.openxmlformats.org/drawingml/2006/main">
            <a:r>
              <a:t/>
            </a:r>
          </a:p>
          <a:p xmlns:a="http://schemas.openxmlformats.org/drawingml/2006/main">
            <a:r>
              <a:t/>
            </a:r>
          </a:p>
          <a:p xmlns:a="http://schemas.openxmlformats.org/drawingml/2006/main">
            <a:r>
              <a:t>## 5. 캐릭터별 공격과 씬</a:t>
            </a:r>
          </a:p>
          <a:p xmlns:a="http://schemas.openxmlformats.org/drawingml/2006/main">
            <a:r>
              <a:t/>
            </a:r>
          </a:p>
          <a:p xmlns:a="http://schemas.openxmlformats.org/drawingml/2006/main">
            <a:r>
              <a:t>공통으로 공격력 강화와 스킬 획득은 없다. 시작부터 종료까지 같은 능력을 사용한다. 공격 수치는 체감 비교를 위한 시작값이며, 세 공격의 유효 처치 성능이 지나치게 벌어지면 조정한다.</a:t>
            </a:r>
          </a:p>
          <a:p xmlns:a="http://schemas.openxmlformats.org/drawingml/2006/main">
            <a:r>
              <a:t/>
            </a:r>
          </a:p>
          <a:p xmlns:a="http://schemas.openxmlformats.org/drawingml/2006/main">
            <a:r>
              <a:t>### 5.1 펭귄 — 오로라 눈밭</a:t>
            </a:r>
          </a:p>
          <a:p xmlns:a="http://schemas.openxmlformats.org/drawingml/2006/main">
            <a:r>
              <a:t/>
            </a:r>
          </a:p>
          <a:p xmlns:a="http://schemas.openxmlformats.org/drawingml/2006/main">
            <a:r>
              <a:t>**인상:** 뒤뚱뒤뚱 걸으며 몸 주변의 눈꽃으로 적을 밀어내는 캐릭터.</a:t>
            </a:r>
          </a:p>
          <a:p xmlns:a="http://schemas.openxmlformats.org/drawingml/2006/main">
            <a:r>
              <a:t/>
            </a:r>
          </a:p>
          <a:p xmlns:a="http://schemas.openxmlformats.org/drawingml/2006/main">
            <a:r>
              <a:t>- 배경: 연보라 눈밭, 가장자리의 전나무와 얼음 개울, 은은한 오로라. 중앙은 밝고 단순한 눈 바닥이다.</a:t>
            </a:r>
          </a:p>
          <a:p xmlns:a="http://schemas.openxmlformats.org/drawingml/2006/main">
            <a:r>
              <a:t>- 주인공: 작은 펭귄과 분홍 목도리. 그림자·발자국·목도리 흔들림으로 이동을 읽게 한다.</a:t>
            </a:r>
          </a:p>
          <a:p xmlns:a="http://schemas.openxmlformats.org/drawingml/2006/main">
            <a:r>
              <a:t>- 몬스터: 작은 눈뭉치 정령과 조금 큰 우박 정령. 흰색 몸에 청보라 외곽선과 그림자를 넣어 눈밭에 묻히지 않게 한다.</a:t>
            </a:r>
          </a:p>
          <a:p xmlns:a="http://schemas.openxmlformats.org/drawingml/2006/main">
            <a:r>
              <a:t/>
            </a:r>
          </a:p>
          <a:p xmlns:a="http://schemas.openxmlformats.org/drawingml/2006/main">
            <a:r>
              <a:t>**공격: 회전 눈꽃**</a:t>
            </a:r>
          </a:p>
          <a:p xmlns:a="http://schemas.openxmlformats.org/drawingml/2006/main">
            <a:r>
              <a:t/>
            </a:r>
          </a:p>
          <a:p xmlns:a="http://schemas.openxmlformats.org/drawingml/2006/main">
            <a:r>
              <a:t>| 항목 | 시작값 |</a:t>
            </a:r>
          </a:p>
          <a:p xmlns:a="http://schemas.openxmlformats.org/drawingml/2006/main">
            <a:r>
              <a:t>|---|---|</a:t>
            </a:r>
          </a:p>
          <a:p xmlns:a="http://schemas.openxmlformats.org/drawingml/2006/main">
            <a:r>
              <a:t>| 눈꽃 수 | 3개, 서로 120도 간격 |</a:t>
            </a:r>
          </a:p>
          <a:p xmlns:a="http://schemas.openxmlformats.org/drawingml/2006/main">
            <a:r>
              <a:t>| 회전 반경 | 캐릭터 중심에서 88px |</a:t>
            </a:r>
          </a:p>
          <a:p xmlns:a="http://schemas.openxmlformats.org/drawingml/2006/main">
            <a:r>
              <a:t>| 회전 속도 | 1회전 / 2.4초 |</a:t>
            </a:r>
          </a:p>
          <a:p xmlns:a="http://schemas.openxmlformats.org/drawingml/2006/main">
            <a:r>
              <a:t>| 눈꽃 판정 | 반지름 16px |</a:t>
            </a:r>
          </a:p>
          <a:p xmlns:a="http://schemas.openxmlformats.org/drawingml/2006/main">
            <a:r>
              <a:t>| 피해량 | 10 |</a:t>
            </a:r>
          </a:p>
          <a:p xmlns:a="http://schemas.openxmlformats.org/drawingml/2006/main">
            <a:r>
              <a:t>| 동일 적 연속 피해 제한 | 모든 눈꽃을 합쳐 0.4초당 최대 1회 |</a:t>
            </a:r>
          </a:p>
          <a:p xmlns:a="http://schemas.openxmlformats.org/drawingml/2006/main">
            <a:r>
              <a:t>| 넉백 | 적 진행 반대 방향으로 18px |</a:t>
            </a:r>
          </a:p>
          <a:p xmlns:a="http://schemas.openxmlformats.org/drawingml/2006/main">
            <a:r>
              <a:t/>
            </a:r>
          </a:p>
          <a:p xmlns:a="http://schemas.openxmlformats.org/drawingml/2006/main">
            <a:r>
              <a:t>- 실제 눈꽃과 적이 닿을 때 피해가 발생한다. 궤도 원 전체에 피해를 주지 않는다.</a:t>
            </a:r>
          </a:p>
          <a:p xmlns:a="http://schemas.openxmlformats.org/drawingml/2006/main">
            <a:r>
              <a:t>- 눈꽃은 적을 맞혀도 사라지지 않는다. 시각적 꼬리는 짧고 옅게 표시한다.</a:t>
            </a:r>
          </a:p>
          <a:p xmlns:a="http://schemas.openxmlformats.org/drawingml/2006/main">
            <a:r>
              <a:t>- 적이 고리 안으로 들어오면 위험해지므로, 거리 유지와 이동이 중요하다.</a:t>
            </a:r>
          </a:p>
          <a:p xmlns:a="http://schemas.openxmlformats.org/drawingml/2006/main">
            <a:r>
              <a:t>- 적을 맞힐 때 눈꽃이 반짝이고 작은 얼음 조각이 퍼진다. 둔화 상태이상은 넣지 않는다.</a:t>
            </a:r>
          </a:p>
          <a:p xmlns:a="http://schemas.openxmlformats.org/drawingml/2006/main">
            <a:r>
              <a:t/>
            </a:r>
          </a:p>
          <a:p xmlns:a="http://schemas.openxmlformats.org/drawingml/2006/main">
            <a:r>
              <a:t>### 5.2 카피바라 — 온천 마을</a:t>
            </a:r>
          </a:p>
          <a:p xmlns:a="http://schemas.openxmlformats.org/drawingml/2006/main">
            <a:r>
              <a:t/>
            </a:r>
          </a:p>
          <a:p xmlns:a="http://schemas.openxmlformats.org/drawingml/2006/main">
            <a:r>
              <a:t>**인상:** 느긋한 표정으로 걷지만, 주기적으로 터지는 방울로 주변을 정리하는 캐릭터.</a:t>
            </a:r>
          </a:p>
          <a:p xmlns:a="http://schemas.openxmlformats.org/drawingml/2006/main">
            <a:r>
              <a:t/>
            </a:r>
          </a:p>
          <a:p xmlns:a="http://schemas.openxmlformats.org/drawingml/2006/main">
            <a:r>
              <a:t>- 배경: 살구색 온천 마당, 가장자리의 탕과 나무 건물, 꽃나무, 낮게 올라오는 수증기.</a:t>
            </a:r>
          </a:p>
          <a:p xmlns:a="http://schemas.openxmlformats.org/drawingml/2006/main">
            <a:r>
              <a:t>- 주인공: 머리에 유자를 올린 카피바라. 몸의 느긋한 흔들림과 유자의 작은 지연 움직임을 사용한다.</a:t>
            </a:r>
          </a:p>
          <a:p xmlns:a="http://schemas.openxmlformats.org/drawingml/2006/main">
            <a:r>
              <a:t>- 몬스터: 둥근 잿빛 김 정령과 커다란 먹구름 정령. 가시·피·공포 표현은 쓰지 않는다.</a:t>
            </a:r>
          </a:p>
          <a:p xmlns:a="http://schemas.openxmlformats.org/drawingml/2006/main">
            <a:r>
              <a:t/>
            </a:r>
          </a:p>
          <a:p xmlns:a="http://schemas.openxmlformats.org/drawingml/2006/main">
            <a:r>
              <a:t>**공격: 온천방울 파동**</a:t>
            </a:r>
          </a:p>
          <a:p xmlns:a="http://schemas.openxmlformats.org/drawingml/2006/main">
            <a:r>
              <a:t/>
            </a:r>
          </a:p>
          <a:p xmlns:a="http://schemas.openxmlformats.org/drawingml/2006/main">
            <a:r>
              <a:t>| 항목 | 시작값 |</a:t>
            </a:r>
          </a:p>
          <a:p xmlns:a="http://schemas.openxmlformats.org/drawingml/2006/main">
            <a:r>
              <a:t>|---|---|</a:t>
            </a:r>
          </a:p>
          <a:p xmlns:a="http://schemas.openxmlformats.org/drawingml/2006/main">
            <a:r>
              <a:t>| 발동 간격 | 1.6초 |</a:t>
            </a:r>
          </a:p>
          <a:p xmlns:a="http://schemas.openxmlformats.org/drawingml/2006/main">
            <a:r>
              <a:t>| 발동 예고 | 0.2초, 몸 주변 방울이 모임 |</a:t>
            </a:r>
          </a:p>
          <a:p xmlns:a="http://schemas.openxmlformats.org/drawingml/2006/main">
            <a:r>
              <a:t>| 최대 반경 | 145px |</a:t>
            </a:r>
          </a:p>
          <a:p xmlns:a="http://schemas.openxmlformats.org/drawingml/2006/main">
            <a:r>
              <a:t>| 확산 시간 | 0.35초 |</a:t>
            </a:r>
          </a:p>
          <a:p xmlns:a="http://schemas.openxmlformats.org/drawingml/2006/main">
            <a:r>
              <a:t>| 피해량 | 10 |</a:t>
            </a:r>
          </a:p>
          <a:p xmlns:a="http://schemas.openxmlformats.org/drawingml/2006/main">
            <a:r>
              <a:t>| 동일 적 피해 | 파동 한 번에 최대 1회 |</a:t>
            </a:r>
          </a:p>
          <a:p xmlns:a="http://schemas.openxmlformats.org/drawingml/2006/main">
            <a:r>
              <a:t>| 넉백 | 파동 중심에서 바깥으로 32px |</a:t>
            </a:r>
          </a:p>
          <a:p xmlns:a="http://schemas.openxmlformats.org/drawingml/2006/main">
            <a:r>
              <a:t/>
            </a:r>
          </a:p>
          <a:p xmlns:a="http://schemas.openxmlformats.org/drawingml/2006/main">
            <a:r>
              <a:t>- 발동 순간의 캐릭터 위치를 파동 중심으로 고정한다. 발동 후 이동해도 기존 파동은 캐릭터를 따라오지 않는다.</a:t>
            </a:r>
          </a:p>
          <a:p xmlns:a="http://schemas.openxmlformats.org/drawingml/2006/main">
            <a:r>
              <a:t>- 확장하는 파동이 적에게 도달할 때 피해를 준다. 한 번 맞은 적은 같은 파동에서 다시 피해를 받지 않는다.</a:t>
            </a:r>
          </a:p>
          <a:p xmlns:a="http://schemas.openxmlformats.org/drawingml/2006/main">
            <a:r>
              <a:t>- 파동 판정은 이전 프레임과 현재 프레임의 확장 구간을 함께 검사해 빠르게 지나간 적을 놓치지 않게 한다.</a:t>
            </a:r>
          </a:p>
          <a:p xmlns:a="http://schemas.openxmlformats.org/drawingml/2006/main">
            <a:r>
              <a:t>- 공격 사이의 공백에는 이동으로 버텨야 한다. 치유 능력은 이번 버전에는 없다.</a:t>
            </a:r>
          </a:p>
          <a:p xmlns:a="http://schemas.openxmlformats.org/drawingml/2006/main">
            <a:r>
              <a:t>- 방울은 반투명으로 표시해 안쪽의 적과 발밑이 계속 보이게 한다.</a:t>
            </a:r>
          </a:p>
          <a:p xmlns:a="http://schemas.openxmlformats.org/drawingml/2006/main">
            <a:r>
              <a:t/>
            </a:r>
          </a:p>
          <a:p xmlns:a="http://schemas.openxmlformats.org/drawingml/2006/main">
            <a:r>
              <a:t>### 5.3 고양이 — 달빛 우체국</a:t>
            </a:r>
          </a:p>
          <a:p xmlns:a="http://schemas.openxmlformats.org/drawingml/2006/main">
            <a:r>
              <a:t/>
            </a:r>
          </a:p>
          <a:p xmlns:a="http://schemas.openxmlformats.org/drawingml/2006/main">
            <a:r>
              <a:t>**인상:** 편지를 날려 가까운 적을 처리하며 사뿐사뿐 움직이는 캐릭터.</a:t>
            </a:r>
          </a:p>
          <a:p xmlns:a="http://schemas.openxmlformats.org/drawingml/2006/main">
            <a:r>
              <a:t/>
            </a:r>
          </a:p>
          <a:p xmlns:a="http://schemas.openxmlformats.org/drawingml/2006/main">
            <a:r>
              <a:t>- 배경: 보랏빛 우체국 마당, 따뜻한 우편함·랜턴, 가장자리의 나무와 돌길. 전투 바닥은 중간 명도로 유지한다.</a:t>
            </a:r>
          </a:p>
          <a:p xmlns:a="http://schemas.openxmlformats.org/drawingml/2006/main">
            <a:r>
              <a:t>- 주인공: 우편 가방을 멘 고양이. 귀·꼬리·가방의 보조 움직임을 사용한다.</a:t>
            </a:r>
          </a:p>
          <a:p xmlns:a="http://schemas.openxmlformats.org/drawingml/2006/main">
            <a:r>
              <a:t>- 몬스터: 보라색 그림자 솜뭉치와 커다란 밤구름. 외곽에 옅은 라벤더 선을 넣는다.</a:t>
            </a:r>
          </a:p>
          <a:p xmlns:a="http://schemas.openxmlformats.org/drawingml/2006/main">
            <a:r>
              <a:t/>
            </a:r>
          </a:p>
          <a:p xmlns:a="http://schemas.openxmlformats.org/drawingml/2006/main">
            <a:r>
              <a:t>**공격: 별빛 편지**</a:t>
            </a:r>
          </a:p>
          <a:p xmlns:a="http://schemas.openxmlformats.org/drawingml/2006/main">
            <a:r>
              <a:t/>
            </a:r>
          </a:p>
          <a:p xmlns:a="http://schemas.openxmlformats.org/drawingml/2006/main">
            <a:r>
              <a:t>| 항목 | 시작값 |</a:t>
            </a:r>
          </a:p>
          <a:p xmlns:a="http://schemas.openxmlformats.org/drawingml/2006/main">
            <a:r>
              <a:t>|---|---|</a:t>
            </a:r>
          </a:p>
          <a:p xmlns:a="http://schemas.openxmlformats.org/drawingml/2006/main">
            <a:r>
              <a:t>| 발사 간격 | 0.65초 |</a:t>
            </a:r>
          </a:p>
          <a:p xmlns:a="http://schemas.openxmlformats.org/drawingml/2006/main">
            <a:r>
              <a:t>| 대상 | 반경 420px 안의 가장 가까운 살아 있는 적 |</a:t>
            </a:r>
          </a:p>
          <a:p xmlns:a="http://schemas.openxmlformats.org/drawingml/2006/main">
            <a:r>
              <a:t>| 투사체 속도 | 420px/s |</a:t>
            </a:r>
          </a:p>
          <a:p xmlns:a="http://schemas.openxmlformats.org/drawingml/2006/main">
            <a:r>
              <a:t>| 최대 생존 시간 | 1.2초 |</a:t>
            </a:r>
          </a:p>
          <a:p xmlns:a="http://schemas.openxmlformats.org/drawingml/2006/main">
            <a:r>
              <a:t>| 피해량 | 10 |</a:t>
            </a:r>
          </a:p>
          <a:p xmlns:a="http://schemas.openxmlformats.org/drawingml/2006/main">
            <a:r>
              <a:t>| 관통 | 없음, 첫 적 명중 시 소멸 |</a:t>
            </a:r>
          </a:p>
          <a:p xmlns:a="http://schemas.openxmlformats.org/drawingml/2006/main">
            <a:r>
              <a:t>| 넉백 | 투사체 방향으로 16px |</a:t>
            </a:r>
          </a:p>
          <a:p xmlns:a="http://schemas.openxmlformats.org/drawingml/2006/main">
            <a:r>
              <a:t/>
            </a:r>
          </a:p>
          <a:p xmlns:a="http://schemas.openxmlformats.org/drawingml/2006/main">
            <a:r>
              <a:t>- 발사 순간 적 방향을 정해 직선으로 날아간다. 발사 후 유도하지 않으며, 경로의 다른 적에게 맞을 수 있다.</a:t>
            </a:r>
          </a:p>
          <a:p xmlns:a="http://schemas.openxmlformats.org/drawingml/2006/main">
            <a:r>
              <a:t>- 범위 내 적이 없으면 발사하지 않는다. 적이 범위에 들어오고 공격 대기시간이 끝났으면 발사한다. 미발사 횟수를 저장해 한꺼번에 쏘지 않는다.</a:t>
            </a:r>
          </a:p>
          <a:p xmlns:a="http://schemas.openxmlformats.org/drawingml/2006/main">
            <a:r>
              <a:t>- 편지는 크림색, 꼬리는 금빛 작은 별로 표현한다.</a:t>
            </a:r>
          </a:p>
          <a:p xmlns:a="http://schemas.openxmlformats.org/drawingml/2006/main">
            <a:r>
              <a:t>- 몸은 이동 방향을 유지하고 편지만 적을 향하게 해, 공격할 때마다 몸이 좌우로 튀지 않게 한다.</a:t>
            </a:r>
          </a:p>
          <a:p xmlns:a="http://schemas.openxmlformats.org/drawingml/2006/main">
            <a:r>
              <a:t/>
            </a:r>
          </a:p>
          <a:p xmlns:a="http://schemas.openxmlformats.org/drawingml/2006/main">
            <a:r>
              <a:t/>
            </a:r>
          </a:p>
          <a:p xmlns:a="http://schemas.openxmlformats.org/drawingml/2006/main">
            <a:r>
              <a:t/>
            </a:r>
          </a:p>
          <a:p xmlns:a="http://schemas.openxmlformats.org/drawingml/2006/main">
            <a:r>
              <a:t>기준 이미지: output/animal-concepts/02.png. 사용자 요청으로 이미지 생성 도구에서 만든 콘셉트 이미지다. 이미지 자체를 완성 게임 화면으로 해석하지 않는다.</a:t>
            </a:r>
          </a:p>
          <a:p xmlns:a="http://schemas.openxmlformats.org/drawingml/2006/main">
            <a:r>
              <a:t/>
            </a:r>
          </a:p>
          <a:p xmlns:a="http://schemas.openxmlformats.org/drawingml/2006/main">
            <a:r>
              <a:t>기획 원문: output/animal-survivors-prototype-v0.1.md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9 개발 상세</a:t>
            </a:r>
          </a:p>
          <a:p xmlns:a="http://schemas.openxmlformats.org/drawingml/2006/main">
            <a:r>
              <a:t/>
            </a:r>
          </a:p>
          <a:p xmlns:a="http://schemas.openxmlformats.org/drawingml/2006/main">
            <a:r>
              <a:t>## 2. 시안 적용 방향</a:t>
            </a:r>
          </a:p>
          <a:p xmlns:a="http://schemas.openxmlformats.org/drawingml/2006/main">
            <a:r>
              <a:t/>
            </a:r>
          </a:p>
          <a:p xmlns:a="http://schemas.openxmlformats.org/drawingml/2006/main">
            <a:r>
              <a:t>| 선택 순서 | 캐릭터 | 기준 시안 | 플레이 씬 | 공격 이미지 |</a:t>
            </a:r>
          </a:p>
          <a:p xmlns:a="http://schemas.openxmlformats.org/drawingml/2006/main">
            <a:r>
              <a:t>|---|---|---|---|---|</a:t>
            </a:r>
          </a:p>
          <a:p xmlns:a="http://schemas.openxmlformats.org/drawingml/2006/main">
            <a:r>
              <a:t>| 1 | 펭귄 | 7번 | 오로라 눈밭 | 주변을 도는 눈꽃 |</a:t>
            </a:r>
          </a:p>
          <a:p xmlns:a="http://schemas.openxmlformats.org/drawingml/2006/main">
            <a:r>
              <a:t>| 2 | 카피바라 | 2번 | 온천 마을 | 바깥으로 퍼지는 온천방울 |</a:t>
            </a:r>
          </a:p>
          <a:p xmlns:a="http://schemas.openxmlformats.org/drawingml/2006/main">
            <a:r>
              <a:t>| 3 | 고양이 | 3번 | 달빛 우체국 | 적을 향해 날아가는 별빛 편지 |</a:t>
            </a:r>
          </a:p>
          <a:p xmlns:a="http://schemas.openxmlformats.org/drawingml/2006/main">
            <a:r>
              <a:t/>
            </a:r>
          </a:p>
          <a:p xmlns:a="http://schemas.openxmlformats.org/drawingml/2006/main">
            <a:r>
              <a:t>### 기준 이미지</a:t>
            </a:r>
          </a:p>
          <a:p xmlns:a="http://schemas.openxmlformats.org/drawingml/2006/main">
            <a:r>
              <a:t/>
            </a:r>
          </a:p>
          <a:p xmlns:a="http://schemas.openxmlformats.org/drawingml/2006/main">
            <a:r>
              <a:t>**7번 · 펭귄 오로라 눈밭**</a:t>
            </a:r>
          </a:p>
          <a:p xmlns:a="http://schemas.openxmlformats.org/drawingml/2006/main">
            <a:r>
              <a:t/>
            </a:r>
          </a:p>
          <a:p xmlns:a="http://schemas.openxmlformats.org/drawingml/2006/main">
            <a:r>
              <a:t>![펭귄 오로라 눈밭](animal-concepts/07.png)</a:t>
            </a:r>
          </a:p>
          <a:p xmlns:a="http://schemas.openxmlformats.org/drawingml/2006/main">
            <a:r>
              <a:t/>
            </a:r>
          </a:p>
          <a:p xmlns:a="http://schemas.openxmlformats.org/drawingml/2006/main">
            <a:r>
              <a:t>**2번 · 카피바라 온천 마을**</a:t>
            </a:r>
          </a:p>
          <a:p xmlns:a="http://schemas.openxmlformats.org/drawingml/2006/main">
            <a:r>
              <a:t/>
            </a:r>
          </a:p>
          <a:p xmlns:a="http://schemas.openxmlformats.org/drawingml/2006/main">
            <a:r>
              <a:t>![카피바라 온천 마을](animal-concepts/02.png)</a:t>
            </a:r>
          </a:p>
          <a:p xmlns:a="http://schemas.openxmlformats.org/drawingml/2006/main">
            <a:r>
              <a:t/>
            </a:r>
          </a:p>
          <a:p xmlns:a="http://schemas.openxmlformats.org/drawingml/2006/main">
            <a:r>
              <a:t>**3번 · 고양이 달빛 우체국**</a:t>
            </a:r>
          </a:p>
          <a:p xmlns:a="http://schemas.openxmlformats.org/drawingml/2006/main">
            <a:r>
              <a:t/>
            </a:r>
          </a:p>
          <a:p xmlns:a="http://schemas.openxmlformats.org/drawingml/2006/main">
            <a:r>
              <a:t>![고양이 달빛 우체국](animal-concepts/03.png)</a:t>
            </a:r>
          </a:p>
          <a:p xmlns:a="http://schemas.openxmlformats.org/drawingml/2006/main">
            <a:r>
              <a:t/>
            </a:r>
          </a:p>
          <a:p xmlns:a="http://schemas.openxmlformats.org/drawingml/2006/main">
            <a:r>
              <a:t>### 그래픽 해석</a:t>
            </a:r>
          </a:p>
          <a:p xmlns:a="http://schemas.openxmlformats.org/drawingml/2006/main">
            <a:r>
              <a:t/>
            </a:r>
          </a:p>
          <a:p xmlns:a="http://schemas.openxmlformats.org/drawingml/2006/main">
            <a:r>
              <a:t>- 펭귄 씬은 7번의 파스텔 픽셀 느낌, 카피바라·고양이 씬은 2·3번의 부드러운 일러스트 느낌을 유지한다. 이번에는 화풍별 플레이 인상도 함께 비교한다.</a:t>
            </a:r>
          </a:p>
          <a:p xmlns:a="http://schemas.openxmlformats.org/drawingml/2006/main">
            <a:r>
              <a:t>- 공통 UI의 배치·글꼴·크기·아이콘 문법은 통일한다. 씬에 따라 포인트 색만 바뀐다.</a:t>
            </a:r>
          </a:p>
          <a:p xmlns:a="http://schemas.openxmlformats.org/drawingml/2006/main">
            <a:r>
              <a:t>- 기준 이미지는 구성과 분위기를 위한 참고다. 완성 이미지를 배경으로 그대로 깔면 이미지 속 주인공·몬스터·공격이 중복되므로 사용하지 않는다.</a:t>
            </a:r>
          </a:p>
          <a:p xmlns:a="http://schemas.openxmlformats.org/drawingml/2006/main">
            <a:r>
              <a:t>- 실제 제작에서는 배경, 주인공, 몬스터, 전경, 공격 이펙트를 분리된 에셋으로 만든다.</a:t>
            </a:r>
          </a:p>
          <a:p xmlns:a="http://schemas.openxmlformats.org/drawingml/2006/main">
            <a:r>
              <a:t>- 플레이 영역 바닥은 기준 이미지보다 단순하게 만들고, 디테일은 가장자리로 보낸다. 주인공과 적의 외곽선이 바닥에서 분명하게 구분되어야 한다.</a:t>
            </a:r>
          </a:p>
          <a:p xmlns:a="http://schemas.openxmlformats.org/drawingml/2006/main">
            <a:r>
              <a:t>- 정적인 공격 고리나 몬스터를 배경에 그려 넣지 않는다. 움직이는 게임 오브젝트로 구현한다.</a:t>
            </a:r>
          </a:p>
          <a:p xmlns:a="http://schemas.openxmlformats.org/drawingml/2006/main">
            <a:r>
              <a:t/>
            </a:r>
          </a:p>
          <a:p xmlns:a="http://schemas.openxmlformats.org/drawingml/2006/main">
            <a:r>
              <a:t/>
            </a:r>
          </a:p>
          <a:p xmlns:a="http://schemas.openxmlformats.org/drawingml/2006/main">
            <a:r>
              <a:t>## 5. 캐릭터별 공격과 씬</a:t>
            </a:r>
          </a:p>
          <a:p xmlns:a="http://schemas.openxmlformats.org/drawingml/2006/main">
            <a:r>
              <a:t/>
            </a:r>
          </a:p>
          <a:p xmlns:a="http://schemas.openxmlformats.org/drawingml/2006/main">
            <a:r>
              <a:t>공통으로 공격력 강화와 스킬 획득은 없다. 시작부터 종료까지 같은 능력을 사용한다. 공격 수치는 체감 비교를 위한 시작값이며, 세 공격의 유효 처치 성능이 지나치게 벌어지면 조정한다.</a:t>
            </a:r>
          </a:p>
          <a:p xmlns:a="http://schemas.openxmlformats.org/drawingml/2006/main">
            <a:r>
              <a:t/>
            </a:r>
          </a:p>
          <a:p xmlns:a="http://schemas.openxmlformats.org/drawingml/2006/main">
            <a:r>
              <a:t>### 5.1 펭귄 — 오로라 눈밭</a:t>
            </a:r>
          </a:p>
          <a:p xmlns:a="http://schemas.openxmlformats.org/drawingml/2006/main">
            <a:r>
              <a:t/>
            </a:r>
          </a:p>
          <a:p xmlns:a="http://schemas.openxmlformats.org/drawingml/2006/main">
            <a:r>
              <a:t>**인상:** 뒤뚱뒤뚱 걸으며 몸 주변의 눈꽃으로 적을 밀어내는 캐릭터.</a:t>
            </a:r>
          </a:p>
          <a:p xmlns:a="http://schemas.openxmlformats.org/drawingml/2006/main">
            <a:r>
              <a:t/>
            </a:r>
          </a:p>
          <a:p xmlns:a="http://schemas.openxmlformats.org/drawingml/2006/main">
            <a:r>
              <a:t>- 배경: 연보라 눈밭, 가장자리의 전나무와 얼음 개울, 은은한 오로라. 중앙은 밝고 단순한 눈 바닥이다.</a:t>
            </a:r>
          </a:p>
          <a:p xmlns:a="http://schemas.openxmlformats.org/drawingml/2006/main">
            <a:r>
              <a:t>- 주인공: 작은 펭귄과 분홍 목도리. 그림자·발자국·목도리 흔들림으로 이동을 읽게 한다.</a:t>
            </a:r>
          </a:p>
          <a:p xmlns:a="http://schemas.openxmlformats.org/drawingml/2006/main">
            <a:r>
              <a:t>- 몬스터: 작은 눈뭉치 정령과 조금 큰 우박 정령. 흰색 몸에 청보라 외곽선과 그림자를 넣어 눈밭에 묻히지 않게 한다.</a:t>
            </a:r>
          </a:p>
          <a:p xmlns:a="http://schemas.openxmlformats.org/drawingml/2006/main">
            <a:r>
              <a:t/>
            </a:r>
          </a:p>
          <a:p xmlns:a="http://schemas.openxmlformats.org/drawingml/2006/main">
            <a:r>
              <a:t>**공격: 회전 눈꽃**</a:t>
            </a:r>
          </a:p>
          <a:p xmlns:a="http://schemas.openxmlformats.org/drawingml/2006/main">
            <a:r>
              <a:t/>
            </a:r>
          </a:p>
          <a:p xmlns:a="http://schemas.openxmlformats.org/drawingml/2006/main">
            <a:r>
              <a:t>| 항목 | 시작값 |</a:t>
            </a:r>
          </a:p>
          <a:p xmlns:a="http://schemas.openxmlformats.org/drawingml/2006/main">
            <a:r>
              <a:t>|---|---|</a:t>
            </a:r>
          </a:p>
          <a:p xmlns:a="http://schemas.openxmlformats.org/drawingml/2006/main">
            <a:r>
              <a:t>| 눈꽃 수 | 3개, 서로 120도 간격 |</a:t>
            </a:r>
          </a:p>
          <a:p xmlns:a="http://schemas.openxmlformats.org/drawingml/2006/main">
            <a:r>
              <a:t>| 회전 반경 | 캐릭터 중심에서 88px |</a:t>
            </a:r>
          </a:p>
          <a:p xmlns:a="http://schemas.openxmlformats.org/drawingml/2006/main">
            <a:r>
              <a:t>| 회전 속도 | 1회전 / 2.4초 |</a:t>
            </a:r>
          </a:p>
          <a:p xmlns:a="http://schemas.openxmlformats.org/drawingml/2006/main">
            <a:r>
              <a:t>| 눈꽃 판정 | 반지름 16px |</a:t>
            </a:r>
          </a:p>
          <a:p xmlns:a="http://schemas.openxmlformats.org/drawingml/2006/main">
            <a:r>
              <a:t>| 피해량 | 10 |</a:t>
            </a:r>
          </a:p>
          <a:p xmlns:a="http://schemas.openxmlformats.org/drawingml/2006/main">
            <a:r>
              <a:t>| 동일 적 연속 피해 제한 | 모든 눈꽃을 합쳐 0.4초당 최대 1회 |</a:t>
            </a:r>
          </a:p>
          <a:p xmlns:a="http://schemas.openxmlformats.org/drawingml/2006/main">
            <a:r>
              <a:t>| 넉백 | 적 진행 반대 방향으로 18px |</a:t>
            </a:r>
          </a:p>
          <a:p xmlns:a="http://schemas.openxmlformats.org/drawingml/2006/main">
            <a:r>
              <a:t/>
            </a:r>
          </a:p>
          <a:p xmlns:a="http://schemas.openxmlformats.org/drawingml/2006/main">
            <a:r>
              <a:t>- 실제 눈꽃과 적이 닿을 때 피해가 발생한다. 궤도 원 전체에 피해를 주지 않는다.</a:t>
            </a:r>
          </a:p>
          <a:p xmlns:a="http://schemas.openxmlformats.org/drawingml/2006/main">
            <a:r>
              <a:t>- 눈꽃은 적을 맞혀도 사라지지 않는다. 시각적 꼬리는 짧고 옅게 표시한다.</a:t>
            </a:r>
          </a:p>
          <a:p xmlns:a="http://schemas.openxmlformats.org/drawingml/2006/main">
            <a:r>
              <a:t>- 적이 고리 안으로 들어오면 위험해지므로, 거리 유지와 이동이 중요하다.</a:t>
            </a:r>
          </a:p>
          <a:p xmlns:a="http://schemas.openxmlformats.org/drawingml/2006/main">
            <a:r>
              <a:t>- 적을 맞힐 때 눈꽃이 반짝이고 작은 얼음 조각이 퍼진다. 둔화 상태이상은 넣지 않는다.</a:t>
            </a:r>
          </a:p>
          <a:p xmlns:a="http://schemas.openxmlformats.org/drawingml/2006/main">
            <a:r>
              <a:t/>
            </a:r>
          </a:p>
          <a:p xmlns:a="http://schemas.openxmlformats.org/drawingml/2006/main">
            <a:r>
              <a:t>### 5.2 카피바라 — 온천 마을</a:t>
            </a:r>
          </a:p>
          <a:p xmlns:a="http://schemas.openxmlformats.org/drawingml/2006/main">
            <a:r>
              <a:t/>
            </a:r>
          </a:p>
          <a:p xmlns:a="http://schemas.openxmlformats.org/drawingml/2006/main">
            <a:r>
              <a:t>**인상:** 느긋한 표정으로 걷지만, 주기적으로 터지는 방울로 주변을 정리하는 캐릭터.</a:t>
            </a:r>
          </a:p>
          <a:p xmlns:a="http://schemas.openxmlformats.org/drawingml/2006/main">
            <a:r>
              <a:t/>
            </a:r>
          </a:p>
          <a:p xmlns:a="http://schemas.openxmlformats.org/drawingml/2006/main">
            <a:r>
              <a:t>- 배경: 살구색 온천 마당, 가장자리의 탕과 나무 건물, 꽃나무, 낮게 올라오는 수증기.</a:t>
            </a:r>
          </a:p>
          <a:p xmlns:a="http://schemas.openxmlformats.org/drawingml/2006/main">
            <a:r>
              <a:t>- 주인공: 머리에 유자를 올린 카피바라. 몸의 느긋한 흔들림과 유자의 작은 지연 움직임을 사용한다.</a:t>
            </a:r>
          </a:p>
          <a:p xmlns:a="http://schemas.openxmlformats.org/drawingml/2006/main">
            <a:r>
              <a:t>- 몬스터: 둥근 잿빛 김 정령과 커다란 먹구름 정령. 가시·피·공포 표현은 쓰지 않는다.</a:t>
            </a:r>
          </a:p>
          <a:p xmlns:a="http://schemas.openxmlformats.org/drawingml/2006/main">
            <a:r>
              <a:t/>
            </a:r>
          </a:p>
          <a:p xmlns:a="http://schemas.openxmlformats.org/drawingml/2006/main">
            <a:r>
              <a:t>**공격: 온천방울 파동**</a:t>
            </a:r>
          </a:p>
          <a:p xmlns:a="http://schemas.openxmlformats.org/drawingml/2006/main">
            <a:r>
              <a:t/>
            </a:r>
          </a:p>
          <a:p xmlns:a="http://schemas.openxmlformats.org/drawingml/2006/main">
            <a:r>
              <a:t>| 항목 | 시작값 |</a:t>
            </a:r>
          </a:p>
          <a:p xmlns:a="http://schemas.openxmlformats.org/drawingml/2006/main">
            <a:r>
              <a:t>|---|---|</a:t>
            </a:r>
          </a:p>
          <a:p xmlns:a="http://schemas.openxmlformats.org/drawingml/2006/main">
            <a:r>
              <a:t>| 발동 간격 | 1.6초 |</a:t>
            </a:r>
          </a:p>
          <a:p xmlns:a="http://schemas.openxmlformats.org/drawingml/2006/main">
            <a:r>
              <a:t>| 발동 예고 | 0.2초, 몸 주변 방울이 모임 |</a:t>
            </a:r>
          </a:p>
          <a:p xmlns:a="http://schemas.openxmlformats.org/drawingml/2006/main">
            <a:r>
              <a:t>| 최대 반경 | 145px |</a:t>
            </a:r>
          </a:p>
          <a:p xmlns:a="http://schemas.openxmlformats.org/drawingml/2006/main">
            <a:r>
              <a:t>| 확산 시간 | 0.35초 |</a:t>
            </a:r>
          </a:p>
          <a:p xmlns:a="http://schemas.openxmlformats.org/drawingml/2006/main">
            <a:r>
              <a:t>| 피해량 | 10 |</a:t>
            </a:r>
          </a:p>
          <a:p xmlns:a="http://schemas.openxmlformats.org/drawingml/2006/main">
            <a:r>
              <a:t>| 동일 적 피해 | 파동 한 번에 최대 1회 |</a:t>
            </a:r>
          </a:p>
          <a:p xmlns:a="http://schemas.openxmlformats.org/drawingml/2006/main">
            <a:r>
              <a:t>| 넉백 | 파동 중심에서 바깥으로 32px |</a:t>
            </a:r>
          </a:p>
          <a:p xmlns:a="http://schemas.openxmlformats.org/drawingml/2006/main">
            <a:r>
              <a:t/>
            </a:r>
          </a:p>
          <a:p xmlns:a="http://schemas.openxmlformats.org/drawingml/2006/main">
            <a:r>
              <a:t>- 발동 순간의 캐릭터 위치를 파동 중심으로 고정한다. 발동 후 이동해도 기존 파동은 캐릭터를 따라오지 않는다.</a:t>
            </a:r>
          </a:p>
          <a:p xmlns:a="http://schemas.openxmlformats.org/drawingml/2006/main">
            <a:r>
              <a:t>- 확장하는 파동이 적에게 도달할 때 피해를 준다. 한 번 맞은 적은 같은 파동에서 다시 피해를 받지 않는다.</a:t>
            </a:r>
          </a:p>
          <a:p xmlns:a="http://schemas.openxmlformats.org/drawingml/2006/main">
            <a:r>
              <a:t>- 파동 판정은 이전 프레임과 현재 프레임의 확장 구간을 함께 검사해 빠르게 지나간 적을 놓치지 않게 한다.</a:t>
            </a:r>
          </a:p>
          <a:p xmlns:a="http://schemas.openxmlformats.org/drawingml/2006/main">
            <a:r>
              <a:t>- 공격 사이의 공백에는 이동으로 버텨야 한다. 치유 능력은 이번 버전에는 없다.</a:t>
            </a:r>
          </a:p>
          <a:p xmlns:a="http://schemas.openxmlformats.org/drawingml/2006/main">
            <a:r>
              <a:t>- 방울은 반투명으로 표시해 안쪽의 적과 발밑이 계속 보이게 한다.</a:t>
            </a:r>
          </a:p>
          <a:p xmlns:a="http://schemas.openxmlformats.org/drawingml/2006/main">
            <a:r>
              <a:t/>
            </a:r>
          </a:p>
          <a:p xmlns:a="http://schemas.openxmlformats.org/drawingml/2006/main">
            <a:r>
              <a:t>### 5.3 고양이 — 달빛 우체국</a:t>
            </a:r>
          </a:p>
          <a:p xmlns:a="http://schemas.openxmlformats.org/drawingml/2006/main">
            <a:r>
              <a:t/>
            </a:r>
          </a:p>
          <a:p xmlns:a="http://schemas.openxmlformats.org/drawingml/2006/main">
            <a:r>
              <a:t>**인상:** 편지를 날려 가까운 적을 처리하며 사뿐사뿐 움직이는 캐릭터.</a:t>
            </a:r>
          </a:p>
          <a:p xmlns:a="http://schemas.openxmlformats.org/drawingml/2006/main">
            <a:r>
              <a:t/>
            </a:r>
          </a:p>
          <a:p xmlns:a="http://schemas.openxmlformats.org/drawingml/2006/main">
            <a:r>
              <a:t>- 배경: 보랏빛 우체국 마당, 따뜻한 우편함·랜턴, 가장자리의 나무와 돌길. 전투 바닥은 중간 명도로 유지한다.</a:t>
            </a:r>
          </a:p>
          <a:p xmlns:a="http://schemas.openxmlformats.org/drawingml/2006/main">
            <a:r>
              <a:t>- 주인공: 우편 가방을 멘 고양이. 귀·꼬리·가방의 보조 움직임을 사용한다.</a:t>
            </a:r>
          </a:p>
          <a:p xmlns:a="http://schemas.openxmlformats.org/drawingml/2006/main">
            <a:r>
              <a:t>- 몬스터: 보라색 그림자 솜뭉치와 커다란 밤구름. 외곽에 옅은 라벤더 선을 넣는다.</a:t>
            </a:r>
          </a:p>
          <a:p xmlns:a="http://schemas.openxmlformats.org/drawingml/2006/main">
            <a:r>
              <a:t/>
            </a:r>
          </a:p>
          <a:p xmlns:a="http://schemas.openxmlformats.org/drawingml/2006/main">
            <a:r>
              <a:t>**공격: 별빛 편지**</a:t>
            </a:r>
          </a:p>
          <a:p xmlns:a="http://schemas.openxmlformats.org/drawingml/2006/main">
            <a:r>
              <a:t/>
            </a:r>
          </a:p>
          <a:p xmlns:a="http://schemas.openxmlformats.org/drawingml/2006/main">
            <a:r>
              <a:t>| 항목 | 시작값 |</a:t>
            </a:r>
          </a:p>
          <a:p xmlns:a="http://schemas.openxmlformats.org/drawingml/2006/main">
            <a:r>
              <a:t>|---|---|</a:t>
            </a:r>
          </a:p>
          <a:p xmlns:a="http://schemas.openxmlformats.org/drawingml/2006/main">
            <a:r>
              <a:t>| 발사 간격 | 0.65초 |</a:t>
            </a:r>
          </a:p>
          <a:p xmlns:a="http://schemas.openxmlformats.org/drawingml/2006/main">
            <a:r>
              <a:t>| 대상 | 반경 420px 안의 가장 가까운 살아 있는 적 |</a:t>
            </a:r>
          </a:p>
          <a:p xmlns:a="http://schemas.openxmlformats.org/drawingml/2006/main">
            <a:r>
              <a:t>| 투사체 속도 | 420px/s |</a:t>
            </a:r>
          </a:p>
          <a:p xmlns:a="http://schemas.openxmlformats.org/drawingml/2006/main">
            <a:r>
              <a:t>| 최대 생존 시간 | 1.2초 |</a:t>
            </a:r>
          </a:p>
          <a:p xmlns:a="http://schemas.openxmlformats.org/drawingml/2006/main">
            <a:r>
              <a:t>| 피해량 | 10 |</a:t>
            </a:r>
          </a:p>
          <a:p xmlns:a="http://schemas.openxmlformats.org/drawingml/2006/main">
            <a:r>
              <a:t>| 관통 | 없음, 첫 적 명중 시 소멸 |</a:t>
            </a:r>
          </a:p>
          <a:p xmlns:a="http://schemas.openxmlformats.org/drawingml/2006/main">
            <a:r>
              <a:t>| 넉백 | 투사체 방향으로 16px |</a:t>
            </a:r>
          </a:p>
          <a:p xmlns:a="http://schemas.openxmlformats.org/drawingml/2006/main">
            <a:r>
              <a:t/>
            </a:r>
          </a:p>
          <a:p xmlns:a="http://schemas.openxmlformats.org/drawingml/2006/main">
            <a:r>
              <a:t>- 발사 순간 적 방향을 정해 직선으로 날아간다. 발사 후 유도하지 않으며, 경로의 다른 적에게 맞을 수 있다.</a:t>
            </a:r>
          </a:p>
          <a:p xmlns:a="http://schemas.openxmlformats.org/drawingml/2006/main">
            <a:r>
              <a:t>- 범위 내 적이 없으면 발사하지 않는다. 적이 범위에 들어오고 공격 대기시간이 끝났으면 발사한다. 미발사 횟수를 저장해 한꺼번에 쏘지 않는다.</a:t>
            </a:r>
          </a:p>
          <a:p xmlns:a="http://schemas.openxmlformats.org/drawingml/2006/main">
            <a:r>
              <a:t>- 편지는 크림색, 꼬리는 금빛 작은 별로 표현한다.</a:t>
            </a:r>
          </a:p>
          <a:p xmlns:a="http://schemas.openxmlformats.org/drawingml/2006/main">
            <a:r>
              <a:t>- 몸은 이동 방향을 유지하고 편지만 적을 향하게 해, 공격할 때마다 몸이 좌우로 튀지 않게 한다.</a:t>
            </a:r>
          </a:p>
          <a:p xmlns:a="http://schemas.openxmlformats.org/drawingml/2006/main">
            <a:r>
              <a:t/>
            </a:r>
          </a:p>
          <a:p xmlns:a="http://schemas.openxmlformats.org/drawingml/2006/main">
            <a:r>
              <a:t/>
            </a:r>
          </a:p>
          <a:p xmlns:a="http://schemas.openxmlformats.org/drawingml/2006/main">
            <a:r>
              <a:t/>
            </a:r>
          </a:p>
          <a:p xmlns:a="http://schemas.openxmlformats.org/drawingml/2006/main">
            <a:r>
              <a:t>기준 이미지: output/animal-concepts/03.png. 사용자 요청으로 이미지 생성 도구에서 만든 콘셉트 이미지다. 이미지 자체를 완성 게임 화면으로 해석하지 않는다.</a:t>
            </a:r>
          </a:p>
          <a:p xmlns:a="http://schemas.openxmlformats.org/drawingml/2006/main">
            <a:r>
              <a:t/>
            </a:r>
          </a:p>
          <a:p xmlns:a="http://schemas.openxmlformats.org/drawingml/2006/main">
            <a:r>
              <a:t>기획 원문: output/animal-survivors-prototype-v0.1.md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문서 기준: 사용자 검토용 프로토타입 개발 기획 v0.2, 2026-09-10. 수치는 별도 명시가 없으면 초기 구현 제안값이다.</a:t>
            </a:r>
          </a:p>
          <a:p xmlns:a="http://schemas.openxmlformats.org/drawingml/2006/main">
            <a:r>
              <a:t/>
            </a:r>
          </a:p>
          <a:p xmlns:a="http://schemas.openxmlformats.org/drawingml/2006/main">
            <a:r>
              <a:t>기획 원문: output/animal-survivors-prototype-v0.1.md</a:t>
            </a:r>
          </a:p>
          <a:p xmlns:a="http://schemas.openxmlformats.org/drawingml/2006/main">
            <a:r>
              <a:t/>
            </a:r>
          </a:p>
          <a:p xmlns:a="http://schemas.openxmlformats.org/drawingml/2006/main">
            <a:r>
              <a:t>## 5. 캐릭터별 공격과 씬</a:t>
            </a:r>
          </a:p>
          <a:p xmlns:a="http://schemas.openxmlformats.org/drawingml/2006/main">
            <a:r>
              <a:t/>
            </a:r>
          </a:p>
          <a:p xmlns:a="http://schemas.openxmlformats.org/drawingml/2006/main">
            <a:r>
              <a:t>공통으로 공격력 강화와 스킬 획득은 없다. 시작부터 종료까지 같은 능력을 사용한다. 공격 수치는 체감 비교를 위한 시작값이며, 세 공격의 유효 처치 성능이 지나치게 벌어지면 조정한다.</a:t>
            </a:r>
          </a:p>
          <a:p xmlns:a="http://schemas.openxmlformats.org/drawingml/2006/main">
            <a:r>
              <a:t/>
            </a:r>
          </a:p>
          <a:p xmlns:a="http://schemas.openxmlformats.org/drawingml/2006/main">
            <a:r>
              <a:t>### 5.1 펭귄 — 오로라 눈밭</a:t>
            </a:r>
          </a:p>
          <a:p xmlns:a="http://schemas.openxmlformats.org/drawingml/2006/main">
            <a:r>
              <a:t/>
            </a:r>
          </a:p>
          <a:p xmlns:a="http://schemas.openxmlformats.org/drawingml/2006/main">
            <a:r>
              <a:t>**인상:** 뒤뚱뒤뚱 걸으며 몸 주변의 눈꽃으로 적을 밀어내는 캐릭터.</a:t>
            </a:r>
          </a:p>
          <a:p xmlns:a="http://schemas.openxmlformats.org/drawingml/2006/main">
            <a:r>
              <a:t/>
            </a:r>
          </a:p>
          <a:p xmlns:a="http://schemas.openxmlformats.org/drawingml/2006/main">
            <a:r>
              <a:t>- 배경: 연보라 눈밭, 가장자리의 전나무와 얼음 개울, 은은한 오로라. 중앙은 밝고 단순한 눈 바닥이다.</a:t>
            </a:r>
          </a:p>
          <a:p xmlns:a="http://schemas.openxmlformats.org/drawingml/2006/main">
            <a:r>
              <a:t>- 주인공: 작은 펭귄과 분홍 목도리. 그림자·발자국·목도리 흔들림으로 이동을 읽게 한다.</a:t>
            </a:r>
          </a:p>
          <a:p xmlns:a="http://schemas.openxmlformats.org/drawingml/2006/main">
            <a:r>
              <a:t>- 몬스터: 작은 눈뭉치 정령과 조금 큰 우박 정령. 흰색 몸에 청보라 외곽선과 그림자를 넣어 눈밭에 묻히지 않게 한다.</a:t>
            </a:r>
          </a:p>
          <a:p xmlns:a="http://schemas.openxmlformats.org/drawingml/2006/main">
            <a:r>
              <a:t/>
            </a:r>
          </a:p>
          <a:p xmlns:a="http://schemas.openxmlformats.org/drawingml/2006/main">
            <a:r>
              <a:t>**공격: 회전 눈꽃**</a:t>
            </a:r>
          </a:p>
          <a:p xmlns:a="http://schemas.openxmlformats.org/drawingml/2006/main">
            <a:r>
              <a:t/>
            </a:r>
          </a:p>
          <a:p xmlns:a="http://schemas.openxmlformats.org/drawingml/2006/main">
            <a:r>
              <a:t>| 항목 | 시작값 |</a:t>
            </a:r>
          </a:p>
          <a:p xmlns:a="http://schemas.openxmlformats.org/drawingml/2006/main">
            <a:r>
              <a:t>|---|---|</a:t>
            </a:r>
          </a:p>
          <a:p xmlns:a="http://schemas.openxmlformats.org/drawingml/2006/main">
            <a:r>
              <a:t>| 눈꽃 수 | 3개, 서로 120도 간격 |</a:t>
            </a:r>
          </a:p>
          <a:p xmlns:a="http://schemas.openxmlformats.org/drawingml/2006/main">
            <a:r>
              <a:t>| 회전 반경 | 캐릭터 중심에서 88px |</a:t>
            </a:r>
          </a:p>
          <a:p xmlns:a="http://schemas.openxmlformats.org/drawingml/2006/main">
            <a:r>
              <a:t>| 회전 속도 | 1회전 / 2.4초 |</a:t>
            </a:r>
          </a:p>
          <a:p xmlns:a="http://schemas.openxmlformats.org/drawingml/2006/main">
            <a:r>
              <a:t>| 눈꽃 판정 | 반지름 16px |</a:t>
            </a:r>
          </a:p>
          <a:p xmlns:a="http://schemas.openxmlformats.org/drawingml/2006/main">
            <a:r>
              <a:t>| 피해량 | 10 |</a:t>
            </a:r>
          </a:p>
          <a:p xmlns:a="http://schemas.openxmlformats.org/drawingml/2006/main">
            <a:r>
              <a:t>| 동일 적 연속 피해 제한 | 모든 눈꽃을 합쳐 0.4초당 최대 1회 |</a:t>
            </a:r>
          </a:p>
          <a:p xmlns:a="http://schemas.openxmlformats.org/drawingml/2006/main">
            <a:r>
              <a:t>| 넉백 | 적 진행 반대 방향으로 18px |</a:t>
            </a:r>
          </a:p>
          <a:p xmlns:a="http://schemas.openxmlformats.org/drawingml/2006/main">
            <a:r>
              <a:t/>
            </a:r>
          </a:p>
          <a:p xmlns:a="http://schemas.openxmlformats.org/drawingml/2006/main">
            <a:r>
              <a:t>- 실제 눈꽃과 적이 닿을 때 피해가 발생한다. 궤도 원 전체에 피해를 주지 않는다.</a:t>
            </a:r>
          </a:p>
          <a:p xmlns:a="http://schemas.openxmlformats.org/drawingml/2006/main">
            <a:r>
              <a:t>- 눈꽃은 적을 맞혀도 사라지지 않는다. 시각적 꼬리는 짧고 옅게 표시한다.</a:t>
            </a:r>
          </a:p>
          <a:p xmlns:a="http://schemas.openxmlformats.org/drawingml/2006/main">
            <a:r>
              <a:t>- 적이 고리 안으로 들어오면 위험해지므로, 거리 유지와 이동이 중요하다.</a:t>
            </a:r>
          </a:p>
          <a:p xmlns:a="http://schemas.openxmlformats.org/drawingml/2006/main">
            <a:r>
              <a:t>- 적을 맞힐 때 눈꽃이 반짝이고 작은 얼음 조각이 퍼진다. 둔화 상태이상은 넣지 않는다.</a:t>
            </a:r>
          </a:p>
          <a:p xmlns:a="http://schemas.openxmlformats.org/drawingml/2006/main">
            <a:r>
              <a:t/>
            </a:r>
          </a:p>
          <a:p xmlns:a="http://schemas.openxmlformats.org/drawingml/2006/main">
            <a:r>
              <a:t>### 5.2 카피바라 — 온천 마을</a:t>
            </a:r>
          </a:p>
          <a:p xmlns:a="http://schemas.openxmlformats.org/drawingml/2006/main">
            <a:r>
              <a:t/>
            </a:r>
          </a:p>
          <a:p xmlns:a="http://schemas.openxmlformats.org/drawingml/2006/main">
            <a:r>
              <a:t>**인상:** 느긋한 표정으로 걷지만, 주기적으로 터지는 방울로 주변을 정리하는 캐릭터.</a:t>
            </a:r>
          </a:p>
          <a:p xmlns:a="http://schemas.openxmlformats.org/drawingml/2006/main">
            <a:r>
              <a:t/>
            </a:r>
          </a:p>
          <a:p xmlns:a="http://schemas.openxmlformats.org/drawingml/2006/main">
            <a:r>
              <a:t>- 배경: 살구색 온천 마당, 가장자리의 탕과 나무 건물, 꽃나무, 낮게 올라오는 수증기.</a:t>
            </a:r>
          </a:p>
          <a:p xmlns:a="http://schemas.openxmlformats.org/drawingml/2006/main">
            <a:r>
              <a:t>- 주인공: 머리에 유자를 올린 카피바라. 몸의 느긋한 흔들림과 유자의 작은 지연 움직임을 사용한다.</a:t>
            </a:r>
          </a:p>
          <a:p xmlns:a="http://schemas.openxmlformats.org/drawingml/2006/main">
            <a:r>
              <a:t>- 몬스터: 둥근 잿빛 김 정령과 커다란 먹구름 정령. 가시·피·공포 표현은 쓰지 않는다.</a:t>
            </a:r>
          </a:p>
          <a:p xmlns:a="http://schemas.openxmlformats.org/drawingml/2006/main">
            <a:r>
              <a:t/>
            </a:r>
          </a:p>
          <a:p xmlns:a="http://schemas.openxmlformats.org/drawingml/2006/main">
            <a:r>
              <a:t>**공격: 온천방울 파동**</a:t>
            </a:r>
          </a:p>
          <a:p xmlns:a="http://schemas.openxmlformats.org/drawingml/2006/main">
            <a:r>
              <a:t/>
            </a:r>
          </a:p>
          <a:p xmlns:a="http://schemas.openxmlformats.org/drawingml/2006/main">
            <a:r>
              <a:t>| 항목 | 시작값 |</a:t>
            </a:r>
          </a:p>
          <a:p xmlns:a="http://schemas.openxmlformats.org/drawingml/2006/main">
            <a:r>
              <a:t>|---|---|</a:t>
            </a:r>
          </a:p>
          <a:p xmlns:a="http://schemas.openxmlformats.org/drawingml/2006/main">
            <a:r>
              <a:t>| 발동 간격 | 1.6초 |</a:t>
            </a:r>
          </a:p>
          <a:p xmlns:a="http://schemas.openxmlformats.org/drawingml/2006/main">
            <a:r>
              <a:t>| 발동 예고 | 0.2초, 몸 주변 방울이 모임 |</a:t>
            </a:r>
          </a:p>
          <a:p xmlns:a="http://schemas.openxmlformats.org/drawingml/2006/main">
            <a:r>
              <a:t>| 최대 반경 | 145px |</a:t>
            </a:r>
          </a:p>
          <a:p xmlns:a="http://schemas.openxmlformats.org/drawingml/2006/main">
            <a:r>
              <a:t>| 확산 시간 | 0.35초 |</a:t>
            </a:r>
          </a:p>
          <a:p xmlns:a="http://schemas.openxmlformats.org/drawingml/2006/main">
            <a:r>
              <a:t>| 피해량 | 10 |</a:t>
            </a:r>
          </a:p>
          <a:p xmlns:a="http://schemas.openxmlformats.org/drawingml/2006/main">
            <a:r>
              <a:t>| 동일 적 피해 | 파동 한 번에 최대 1회 |</a:t>
            </a:r>
          </a:p>
          <a:p xmlns:a="http://schemas.openxmlformats.org/drawingml/2006/main">
            <a:r>
              <a:t>| 넉백 | 파동 중심에서 바깥으로 32px |</a:t>
            </a:r>
          </a:p>
          <a:p xmlns:a="http://schemas.openxmlformats.org/drawingml/2006/main">
            <a:r>
              <a:t/>
            </a:r>
          </a:p>
          <a:p xmlns:a="http://schemas.openxmlformats.org/drawingml/2006/main">
            <a:r>
              <a:t>- 발동 순간의 캐릭터 위치를 파동 중심으로 고정한다. 발동 후 이동해도 기존 파동은 캐릭터를 따라오지 않는다.</a:t>
            </a:r>
          </a:p>
          <a:p xmlns:a="http://schemas.openxmlformats.org/drawingml/2006/main">
            <a:r>
              <a:t>- 확장하는 파동이 적에게 도달할 때 피해를 준다. 한 번 맞은 적은 같은 파동에서 다시 피해를 받지 않는다.</a:t>
            </a:r>
          </a:p>
          <a:p xmlns:a="http://schemas.openxmlformats.org/drawingml/2006/main">
            <a:r>
              <a:t>- 파동 판정은 이전 프레임과 현재 프레임의 확장 구간을 함께 검사해 빠르게 지나간 적을 놓치지 않게 한다.</a:t>
            </a:r>
          </a:p>
          <a:p xmlns:a="http://schemas.openxmlformats.org/drawingml/2006/main">
            <a:r>
              <a:t>- 공격 사이의 공백에는 이동으로 버텨야 한다. 치유 능력은 이번 버전에는 없다.</a:t>
            </a:r>
          </a:p>
          <a:p xmlns:a="http://schemas.openxmlformats.org/drawingml/2006/main">
            <a:r>
              <a:t>- 방울은 반투명으로 표시해 안쪽의 적과 발밑이 계속 보이게 한다.</a:t>
            </a:r>
          </a:p>
          <a:p xmlns:a="http://schemas.openxmlformats.org/drawingml/2006/main">
            <a:r>
              <a:t/>
            </a:r>
          </a:p>
          <a:p xmlns:a="http://schemas.openxmlformats.org/drawingml/2006/main">
            <a:r>
              <a:t>### 5.3 고양이 — 달빛 우체국</a:t>
            </a:r>
          </a:p>
          <a:p xmlns:a="http://schemas.openxmlformats.org/drawingml/2006/main">
            <a:r>
              <a:t/>
            </a:r>
          </a:p>
          <a:p xmlns:a="http://schemas.openxmlformats.org/drawingml/2006/main">
            <a:r>
              <a:t>**인상:** 편지를 날려 가까운 적을 처리하며 사뿐사뿐 움직이는 캐릭터.</a:t>
            </a:r>
          </a:p>
          <a:p xmlns:a="http://schemas.openxmlformats.org/drawingml/2006/main">
            <a:r>
              <a:t/>
            </a:r>
          </a:p>
          <a:p xmlns:a="http://schemas.openxmlformats.org/drawingml/2006/main">
            <a:r>
              <a:t>- 배경: 보랏빛 우체국 마당, 따뜻한 우편함·랜턴, 가장자리의 나무와 돌길. 전투 바닥은 중간 명도로 유지한다.</a:t>
            </a:r>
          </a:p>
          <a:p xmlns:a="http://schemas.openxmlformats.org/drawingml/2006/main">
            <a:r>
              <a:t>- 주인공: 우편 가방을 멘 고양이. 귀·꼬리·가방의 보조 움직임을 사용한다.</a:t>
            </a:r>
          </a:p>
          <a:p xmlns:a="http://schemas.openxmlformats.org/drawingml/2006/main">
            <a:r>
              <a:t>- 몬스터: 보라색 그림자 솜뭉치와 커다란 밤구름. 외곽에 옅은 라벤더 선을 넣는다.</a:t>
            </a:r>
          </a:p>
          <a:p xmlns:a="http://schemas.openxmlformats.org/drawingml/2006/main">
            <a:r>
              <a:t/>
            </a:r>
          </a:p>
          <a:p xmlns:a="http://schemas.openxmlformats.org/drawingml/2006/main">
            <a:r>
              <a:t>**공격: 별빛 편지**</a:t>
            </a:r>
          </a:p>
          <a:p xmlns:a="http://schemas.openxmlformats.org/drawingml/2006/main">
            <a:r>
              <a:t/>
            </a:r>
          </a:p>
          <a:p xmlns:a="http://schemas.openxmlformats.org/drawingml/2006/main">
            <a:r>
              <a:t>| 항목 | 시작값 |</a:t>
            </a:r>
          </a:p>
          <a:p xmlns:a="http://schemas.openxmlformats.org/drawingml/2006/main">
            <a:r>
              <a:t>|---|---|</a:t>
            </a:r>
          </a:p>
          <a:p xmlns:a="http://schemas.openxmlformats.org/drawingml/2006/main">
            <a:r>
              <a:t>| 발사 간격 | 0.65초 |</a:t>
            </a:r>
          </a:p>
          <a:p xmlns:a="http://schemas.openxmlformats.org/drawingml/2006/main">
            <a:r>
              <a:t>| 대상 | 반경 420px 안의 가장 가까운 살아 있는 적 |</a:t>
            </a:r>
          </a:p>
          <a:p xmlns:a="http://schemas.openxmlformats.org/drawingml/2006/main">
            <a:r>
              <a:t>| 투사체 속도 | 420px/s |</a:t>
            </a:r>
          </a:p>
          <a:p xmlns:a="http://schemas.openxmlformats.org/drawingml/2006/main">
            <a:r>
              <a:t>| 최대 생존 시간 | 1.2초 |</a:t>
            </a:r>
          </a:p>
          <a:p xmlns:a="http://schemas.openxmlformats.org/drawingml/2006/main">
            <a:r>
              <a:t>| 피해량 | 10 |</a:t>
            </a:r>
          </a:p>
          <a:p xmlns:a="http://schemas.openxmlformats.org/drawingml/2006/main">
            <a:r>
              <a:t>| 관통 | 없음, 첫 적 명중 시 소멸 |</a:t>
            </a:r>
          </a:p>
          <a:p xmlns:a="http://schemas.openxmlformats.org/drawingml/2006/main">
            <a:r>
              <a:t>| 넉백 | 투사체 방향으로 16px |</a:t>
            </a:r>
          </a:p>
          <a:p xmlns:a="http://schemas.openxmlformats.org/drawingml/2006/main">
            <a:r>
              <a:t/>
            </a:r>
          </a:p>
          <a:p xmlns:a="http://schemas.openxmlformats.org/drawingml/2006/main">
            <a:r>
              <a:t>- 발사 순간 적 방향을 정해 직선으로 날아간다. 발사 후 유도하지 않으며, 경로의 다른 적에게 맞을 수 있다.</a:t>
            </a:r>
          </a:p>
          <a:p xmlns:a="http://schemas.openxmlformats.org/drawingml/2006/main">
            <a:r>
              <a:t>- 범위 내 적이 없으면 발사하지 않는다. 적이 범위에 들어오고 공격 대기시간이 끝났으면 발사한다. 미발사 횟수를 저장해 한꺼번에 쏘지 않는다.</a:t>
            </a:r>
          </a:p>
          <a:p xmlns:a="http://schemas.openxmlformats.org/drawingml/2006/main">
            <a:r>
              <a:t>- 편지는 크림색, 꼬리는 금빛 작은 별로 표현한다.</a:t>
            </a:r>
          </a:p>
          <a:p xmlns:a="http://schemas.openxmlformats.org/drawingml/2006/main">
            <a:r>
              <a:t>- 몸은 이동 방향을 유지하고 편지만 적을 향하게 해, 공격할 때마다 몸이 좌우로 튀지 않게 한다.</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문서 기준: 사용자 검토용 프로토타입 개발 기획 v0.2, 2026-09-10. 수치는 별도 명시가 없으면 초기 구현 제안값이다.</a:t>
            </a:r>
          </a:p>
          <a:p xmlns:a="http://schemas.openxmlformats.org/drawingml/2006/main">
            <a:r>
              <a:t/>
            </a:r>
          </a:p>
          <a:p xmlns:a="http://schemas.openxmlformats.org/drawingml/2006/main">
            <a:r>
              <a:t>기획 원문: output/animal-survivors-prototype-v0.1.md</a:t>
            </a:r>
          </a:p>
          <a:p xmlns:a="http://schemas.openxmlformats.org/drawingml/2006/main">
            <a:r>
              <a:t/>
            </a:r>
          </a:p>
          <a:p xmlns:a="http://schemas.openxmlformats.org/drawingml/2006/main">
            <a:r>
              <a:t>## 4. 조작과 기본 규칙</a:t>
            </a:r>
          </a:p>
          <a:p xmlns:a="http://schemas.openxmlformats.org/drawingml/2006/main">
            <a:r>
              <a:t/>
            </a:r>
          </a:p>
          <a:p xmlns:a="http://schemas.openxmlformats.org/drawingml/2006/main">
            <a:r>
              <a:t>### 4.1 플랫폼·좌표 기준</a:t>
            </a:r>
          </a:p>
          <a:p xmlns:a="http://schemas.openxmlformats.org/drawingml/2006/main">
            <a:r>
              <a:t/>
            </a:r>
          </a:p>
          <a:p xmlns:a="http://schemas.openxmlformats.org/drawingml/2006/main">
            <a:r>
              <a:t>- 초안 기준은 PC 브라우저, 가로 16:9 화면이다. 터치 조이스틱은 후속 범위로 둔다.</a:t>
            </a:r>
          </a:p>
          <a:p xmlns:a="http://schemas.openxmlformats.org/drawingml/2006/main">
            <a:r>
              <a:t>- 논리 해상도: 1280×720. 아래 거리와 속도는 모두 이 논리 좌표의 픽셀 기준이다.</a:t>
            </a:r>
          </a:p>
          <a:p xmlns:a="http://schemas.openxmlformats.org/drawingml/2006/main">
            <a:r>
              <a:t>- 다른 창 크기에서는 같은 플레이 영역을 비율대로 확대·축소한다. 비율이 다르면 여백을 사용해 화면 크기에 따라 난이도가 바뀌지 않게 한다.</a:t>
            </a:r>
          </a:p>
          <a:p xmlns:a="http://schemas.openxmlformats.org/drawingml/2006/main">
            <a:r>
              <a:t>- 카메라는 고정한다. 이번 맵은 한 화면의 작은 경기장이고, 무한은 공간 크기가 아닌 **플레이 시간과 몬스터 생성**을 의미한다.</a:t>
            </a:r>
          </a:p>
          <a:p xmlns:a="http://schemas.openxmlformats.org/drawingml/2006/main">
            <a:r>
              <a:t>- 화면 가장자리 약 48px 안쪽에 이동 경계를 둔다. 경계는 울타리·눈더미·수풀 등으로 자연스럽게 표시한다.</a:t>
            </a:r>
          </a:p>
          <a:p xmlns:a="http://schemas.openxmlformats.org/drawingml/2006/main">
            <a:r>
              <a:t/>
            </a:r>
          </a:p>
          <a:p xmlns:a="http://schemas.openxmlformats.org/drawingml/2006/main">
            <a:r>
              <a:t>### 4.2 입력</a:t>
            </a:r>
          </a:p>
          <a:p xmlns:a="http://schemas.openxmlformats.org/drawingml/2006/main">
            <a:r>
              <a:t/>
            </a:r>
          </a:p>
          <a:p xmlns:a="http://schemas.openxmlformats.org/drawingml/2006/main">
            <a:r>
              <a:t>| 입력 | 동작 |</a:t>
            </a:r>
          </a:p>
          <a:p xmlns:a="http://schemas.openxmlformats.org/drawingml/2006/main">
            <a:r>
              <a:t>|---|---|</a:t>
            </a:r>
          </a:p>
          <a:p xmlns:a="http://schemas.openxmlformats.org/drawingml/2006/main">
            <a:r>
              <a:t>| WASD / 방향키 | 상하좌우 및 대각선 이동 |</a:t>
            </a:r>
          </a:p>
          <a:p xmlns:a="http://schemas.openxmlformats.org/drawingml/2006/main">
            <a:r>
              <a:t>| 이동 입력 해제 | 즉시 감속해 정지 |</a:t>
            </a:r>
          </a:p>
          <a:p xmlns:a="http://schemas.openxmlformats.org/drawingml/2006/main">
            <a:r>
              <a:t>| Esc / 일시정지 버튼 | 일시정지와 복귀 |</a:t>
            </a:r>
          </a:p>
          <a:p xmlns:a="http://schemas.openxmlformats.org/drawingml/2006/main">
            <a:r>
              <a:t>| 마우스 클릭 / Enter | 메뉴 선택 |</a:t>
            </a:r>
          </a:p>
          <a:p xmlns:a="http://schemas.openxmlformats.org/drawingml/2006/main">
            <a:r>
              <a:t/>
            </a:r>
          </a:p>
          <a:p xmlns:a="http://schemas.openxmlformats.org/drawingml/2006/main">
            <a:r>
              <a:t>- 대각선 속도를 정규화해 직선 이동보다 빨라지지 않도록 한다.</a:t>
            </a:r>
          </a:p>
          <a:p xmlns:a="http://schemas.openxmlformats.org/drawingml/2006/main">
            <a:r>
              <a:t>- 최대 이동 속도는 세 캐릭터 모두 220px/s로 시작한다. 초기 비교에서는 공격 방식의 차이를 중심으로 본다.</a:t>
            </a:r>
          </a:p>
          <a:p xmlns:a="http://schemas.openxmlformats.org/drawingml/2006/main">
            <a:r>
              <a:t>- 가속·정지에는 약 0.08초의 짧은 완충만 둔다. 펭귄도 실제 조작이 미끄러지지는 않는다.</a:t>
            </a:r>
          </a:p>
          <a:p xmlns:a="http://schemas.openxmlformats.org/drawingml/2006/main">
            <a:r>
              <a:t>- 대시·점프·수동 조준·공격 버튼은 이번 범위에서 제외한다.</a:t>
            </a:r>
          </a:p>
          <a:p xmlns:a="http://schemas.openxmlformats.org/drawingml/2006/main">
            <a:r>
              <a:t>- 좌우 이동 방향으로 캐릭터가 바라보는 방향을 바꾸고, 수직 이동 중에는 마지막 좌우 방향을 유지한다.</a:t>
            </a:r>
          </a:p>
          <a:p xmlns:a="http://schemas.openxmlformats.org/drawingml/2006/main">
            <a:r>
              <a:t/>
            </a:r>
          </a:p>
          <a:p xmlns:a="http://schemas.openxmlformats.org/drawingml/2006/main">
            <a:r>
              <a:t>### 4.3 충돌과 체력</a:t>
            </a:r>
          </a:p>
          <a:p xmlns:a="http://schemas.openxmlformats.org/drawingml/2006/main">
            <a:r>
              <a:t/>
            </a:r>
          </a:p>
          <a:p xmlns:a="http://schemas.openxmlformats.org/drawingml/2006/main">
            <a:r>
              <a:t>- 체력: 5칸. 몬스터와 접촉하면 1칸 감소한다. 자연 회복과 회복 아이템은 없다.</a:t>
            </a:r>
          </a:p>
          <a:p xmlns:a="http://schemas.openxmlformats.org/drawingml/2006/main">
            <a:r>
              <a:t>- 피격 후 1.0초 무적. 여러 몬스터와 동시에 닿아도 같은 피격 순간에는 1칸만 감소한다.</a:t>
            </a:r>
          </a:p>
          <a:p xmlns:a="http://schemas.openxmlformats.org/drawingml/2006/main">
            <a:r>
              <a:t>- 플레이어 판정은 발 주변 반지름 약 13px의 원으로 둔다. 목도리·귀·꼬리 전체를 피격 판정에 넣지 않는다.</a:t>
            </a:r>
          </a:p>
          <a:p xmlns:a="http://schemas.openxmlformats.org/drawingml/2006/main">
            <a:r>
              <a:t>- 몬스터 접촉 피격 시 플레이어를 약 18px 짧게 밀어내고, 접촉한 적을 약 40px 밀어낸다. 밀려도 경기장 밖으로 나갈 수 없다.</a:t>
            </a:r>
          </a:p>
          <a:p xmlns:a="http://schemas.openxmlformats.org/drawingml/2006/main">
            <a:r>
              <a:t>- 무적 시간 동안 이동과 자동 공격은 계속 가능하다. 캐릭터는 반투명 펄스로 상태를 알린다.</a:t>
            </a:r>
          </a:p>
          <a:p xmlns:a="http://schemas.openxmlformats.org/drawingml/2006/main">
            <a:r>
              <a:t>- 몬스터끼리는 완전히 겹치지 않도록 약한 분리 이동을 적용한다. 적 무리가 통과 불가능한 물리 벽이 되지는 않게 한다.</a:t>
            </a:r>
          </a:p>
          <a:p xmlns:a="http://schemas.openxmlformats.org/drawingml/2006/main">
            <a:r>
              <a:t/>
            </a:r>
          </a:p>
          <a:p xmlns:a="http://schemas.openxmlformats.org/drawingml/2006/main">
            <a:r>
              <a:t/>
            </a:r>
          </a:p>
          <a:p xmlns:a="http://schemas.openxmlformats.org/drawingml/2006/main">
            <a:r>
              <a:t/>
            </a:r>
          </a:p>
          <a:p xmlns:a="http://schemas.openxmlformats.org/drawingml/2006/main">
            <a:r>
              <a:t>## 6. 몬스터와 무한 생성</a:t>
            </a:r>
          </a:p>
          <a:p xmlns:a="http://schemas.openxmlformats.org/drawingml/2006/main">
            <a:r>
              <a:t/>
            </a:r>
          </a:p>
          <a:p xmlns:a="http://schemas.openxmlformats.org/drawingml/2006/main">
            <a:r>
              <a:t>### 6.1 공통 행동</a:t>
            </a:r>
          </a:p>
          <a:p xmlns:a="http://schemas.openxmlformats.org/drawingml/2006/main">
            <a:r>
              <a:t/>
            </a:r>
          </a:p>
          <a:p xmlns:a="http://schemas.openxmlformats.org/drawingml/2006/main">
            <a:r>
              <a:t>각 씬은 서로 다른 몬스터 그림을 사용하지만 행동과 수치는 공유한다. 첫 버전의 적은 **기본형과 튼튼형 두 종류**다.</a:t>
            </a:r>
          </a:p>
          <a:p xmlns:a="http://schemas.openxmlformats.org/drawingml/2006/main">
            <a:r>
              <a:t/>
            </a:r>
          </a:p>
          <a:p xmlns:a="http://schemas.openxmlformats.org/drawingml/2006/main">
            <a:r>
              <a:t>| 종류 | 체력 | 이동 속도 | 접촉 피해 | 점수 | 역할 |</a:t>
            </a:r>
          </a:p>
          <a:p xmlns:a="http://schemas.openxmlformats.org/drawingml/2006/main">
            <a:r>
              <a:t>|---|---:|---:|---:|---:|---|</a:t>
            </a:r>
          </a:p>
          <a:p xmlns:a="http://schemas.openxmlformats.org/drawingml/2006/main">
            <a:r>
              <a:t>| 기본형 | 10 | 65px/s | 1 | 10 | 한 번 맞으면 처치되어 공격 손맛 제공 |</a:t>
            </a:r>
          </a:p>
          <a:p xmlns:a="http://schemas.openxmlformats.org/drawingml/2006/main">
            <a:r>
              <a:t>| 튼튼형 | 30 | 48px/s | 1 | 30 | 여러 번 맞아야 하며 이동 경로 압박 |</a:t>
            </a:r>
          </a:p>
          <a:p xmlns:a="http://schemas.openxmlformats.org/drawingml/2006/main">
            <a:r>
              <a:t/>
            </a:r>
          </a:p>
          <a:p xmlns:a="http://schemas.openxmlformats.org/drawingml/2006/main">
            <a:r>
              <a:t>- 생성 후 플레이어의 현재 위치를 향해 이동한다. 공격 투사체나 별도 기술은 없다.</a:t>
            </a:r>
          </a:p>
          <a:p xmlns:a="http://schemas.openxmlformats.org/drawingml/2006/main">
            <a:r>
              <a:t>- 가까운 몬스터끼리 약하게 간격을 벌린다.</a:t>
            </a:r>
          </a:p>
          <a:p xmlns:a="http://schemas.openxmlformats.org/drawingml/2006/main">
            <a:r>
              <a:t>- 크기와 표정으로 기본형과 튼튼형을 구분한다. 색만으로 구분하지 않는다.</a:t>
            </a:r>
          </a:p>
          <a:p xmlns:a="http://schemas.openxmlformats.org/drawingml/2006/main">
            <a:r>
              <a:t>- 튼튼형은 기본형보다 약 1.35배 크고, 둥근 추가 장식이나 구름 덩어리를 가진다.</a:t>
            </a:r>
          </a:p>
          <a:p xmlns:a="http://schemas.openxmlformats.org/drawingml/2006/main">
            <a:r>
              <a:t>- 죽음이 확정된 순간 점수를 1회만 지급하고 충돌을 제거한다. 사라지는 애니메이션 도중 다시 피해·점수 이벤트가 발생하지 않는다.</a:t>
            </a:r>
          </a:p>
          <a:p xmlns:a="http://schemas.openxmlformats.org/drawingml/2006/main">
            <a:r>
              <a:t/>
            </a:r>
          </a:p>
          <a:p xmlns:a="http://schemas.openxmlformats.org/drawingml/2006/main">
            <a:r>
              <a:t>### 6.2 생성 위치</a:t>
            </a:r>
          </a:p>
          <a:p xmlns:a="http://schemas.openxmlformats.org/drawingml/2006/main">
            <a:r>
              <a:t/>
            </a:r>
          </a:p>
          <a:p xmlns:a="http://schemas.openxmlformats.org/drawingml/2006/main">
            <a:r>
              <a:t>- 화면 밖에서 안쪽으로 들어오는 느낌을 사용한다. 생성 띠는 화면 경계 바깥 24~64px이다.</a:t>
            </a:r>
          </a:p>
          <a:p xmlns:a="http://schemas.openxmlformats.org/drawingml/2006/main">
            <a:r>
              <a:t>- 생성 위치는 플레이어와 최소 180px 떨어지도록 고른다. 조건을 만족하지 못하면 다른 가장자리를 찾거나 해당 생성 시도를 건너뛴다.</a:t>
            </a:r>
          </a:p>
          <a:p xmlns:a="http://schemas.openxmlformats.org/drawingml/2006/main">
            <a:r>
              <a:t>- 상·하·좌·우를 섞되 같은 짧은 구간에 한쪽으로 과도하게 몰리지 않게 한다.</a:t>
            </a:r>
          </a:p>
          <a:p xmlns:a="http://schemas.openxmlformats.org/drawingml/2006/main">
            <a:r>
              <a:t>- 등장 직전 가장자리에 작은 연기·눈가루를 약 0.25초 보여준다. 예고 중에는 접촉 피해를 주지 않는다.</a:t>
            </a:r>
          </a:p>
          <a:p xmlns:a="http://schemas.openxmlformats.org/drawingml/2006/main">
            <a:r>
              <a:t>- 활성 적 상한에 도달했을 때 생성 요청을 쌓아두지 않는다. 빈자리가 생기면 현재 생성 주기로 재개한다.</a:t>
            </a:r>
          </a:p>
          <a:p xmlns:a="http://schemas.openxmlformats.org/drawingml/2006/main">
            <a:r>
              <a:t/>
            </a:r>
          </a:p>
          <a:p xmlns:a="http://schemas.openxmlformats.org/drawingml/2006/main">
            <a:r>
              <a:t>### 6.3 시간에 따른 압박</a:t>
            </a:r>
          </a:p>
          <a:p xmlns:a="http://schemas.openxmlformats.org/drawingml/2006/main">
            <a:r>
              <a:t/>
            </a:r>
          </a:p>
          <a:p xmlns:a="http://schemas.openxmlformats.org/drawingml/2006/main">
            <a:r>
              <a:t>시간은 준비·일시정지·결과 화면을 제외한 실제 플레이 시간이다. 아래 값은 구간 안에서 고정 적용하는 첫 튜닝값이다.</a:t>
            </a:r>
          </a:p>
          <a:p xmlns:a="http://schemas.openxmlformats.org/drawingml/2006/main">
            <a:r>
              <a:t/>
            </a:r>
          </a:p>
          <a:p xmlns:a="http://schemas.openxmlformats.org/drawingml/2006/main">
            <a:r>
              <a:t>| 생존 시간 | 초당 생성 수 | 튼튼형 비율 | 적 속도 배율 |</a:t>
            </a:r>
          </a:p>
          <a:p xmlns:a="http://schemas.openxmlformats.org/drawingml/2006/main">
            <a:r>
              <a:t>|---|---:|---:|---:|</a:t>
            </a:r>
          </a:p>
          <a:p xmlns:a="http://schemas.openxmlformats.org/drawingml/2006/main">
            <a:r>
              <a:t>| 0~30초 | 0.8 | 0% | 1.00 |</a:t>
            </a:r>
          </a:p>
          <a:p xmlns:a="http://schemas.openxmlformats.org/drawingml/2006/main">
            <a:r>
              <a:t>| 30~60초 | 1.2 | 0% | 1.05 |</a:t>
            </a:r>
          </a:p>
          <a:p xmlns:a="http://schemas.openxmlformats.org/drawingml/2006/main">
            <a:r>
              <a:t>| 60~120초 | 1.8 | 10% | 1.10 |</a:t>
            </a:r>
          </a:p>
          <a:p xmlns:a="http://schemas.openxmlformats.org/drawingml/2006/main">
            <a:r>
              <a:t>| 120~180초 | 2.4 | 15% | 1.15 |</a:t>
            </a:r>
          </a:p>
          <a:p xmlns:a="http://schemas.openxmlformats.org/drawingml/2006/main">
            <a:r>
              <a:t>| 180~300초 | 3.0 | 20% | 1.20 |</a:t>
            </a:r>
          </a:p>
          <a:p xmlns:a="http://schemas.openxmlformats.org/drawingml/2006/main">
            <a:r>
              <a:t>| 300초 이후 | 3.6 | 25% | 1.25 |</a:t>
            </a:r>
          </a:p>
          <a:p xmlns:a="http://schemas.openxmlformats.org/drawingml/2006/main">
            <a:r>
              <a:t/>
            </a:r>
          </a:p>
          <a:p xmlns:a="http://schemas.openxmlformats.org/drawingml/2006/main">
            <a:r>
              <a:t>- 1.5초 안전 시작 시간이 지난 뒤 생성을 시작한다.</a:t>
            </a:r>
          </a:p>
          <a:p xmlns:a="http://schemas.openxmlformats.org/drawingml/2006/main">
            <a:r>
              <a:t>- 적 체력·점수·접촉 피해는 시간에 따라 올리지 않는다. 첫 비교에서는 밀도와 구성의 변화만 사용한다.</a:t>
            </a:r>
          </a:p>
          <a:p xmlns:a="http://schemas.openxmlformats.org/drawingml/2006/main">
            <a:r>
              <a:t>- 동시 활성 몬스터 상한은 100마리로 시작한다. 처치되면 새 적이 계속 들어오므로 종료 시점은 없다.</a:t>
            </a:r>
          </a:p>
          <a:p xmlns:a="http://schemas.openxmlformats.org/drawingml/2006/main">
            <a:r>
              <a:t>- 5분 이후에는 최종 압박을 유지한다. 이번 무한 모드는 영원히 수치가 상승하는 구조가 아니다.</a:t>
            </a:r>
          </a:p>
          <a:p xmlns:a="http://schemas.openxmlformats.org/drawingml/2006/main">
            <a:r>
              <a:t>- 상한 근처에서 무리의 이동이 굳거나 생존이 사실상 무한해지면 생성량·분리 이동·공격 주기를 재조정한다.</a:t>
            </a:r>
          </a:p>
          <a:p xmlns:a="http://schemas.openxmlformats.org/drawingml/2006/main">
            <a:r>
              <a:t>- 튜닝 목표: 첫 시도에서 공격과 이동을 충분히 경험하고, 숙련에 따라 기록이 늘어나는 것. 생존 시간 목표는 실제 플레이를 보고 결정한다.</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문서 기준: 사용자 검토용 프로토타입 개발 기획 v0.2, 2026-09-10. 수치는 별도 명시가 없으면 초기 구현 제안값이다.</a:t>
            </a:r>
          </a:p>
          <a:p xmlns:a="http://schemas.openxmlformats.org/drawingml/2006/main">
            <a:r>
              <a:t/>
            </a:r>
          </a:p>
          <a:p xmlns:a="http://schemas.openxmlformats.org/drawingml/2006/main">
            <a:r>
              <a:t>기획 원문: output/animal-survivors-prototype-v0.1.md</a:t>
            </a:r>
          </a:p>
          <a:p xmlns:a="http://schemas.openxmlformats.org/drawingml/2006/main">
            <a:r>
              <a:t/>
            </a:r>
          </a:p>
          <a:p xmlns:a="http://schemas.openxmlformats.org/drawingml/2006/main">
            <a:r>
              <a:t>## 6. 몬스터와 무한 생성</a:t>
            </a:r>
          </a:p>
          <a:p xmlns:a="http://schemas.openxmlformats.org/drawingml/2006/main">
            <a:r>
              <a:t/>
            </a:r>
          </a:p>
          <a:p xmlns:a="http://schemas.openxmlformats.org/drawingml/2006/main">
            <a:r>
              <a:t>### 6.1 공통 행동</a:t>
            </a:r>
          </a:p>
          <a:p xmlns:a="http://schemas.openxmlformats.org/drawingml/2006/main">
            <a:r>
              <a:t/>
            </a:r>
          </a:p>
          <a:p xmlns:a="http://schemas.openxmlformats.org/drawingml/2006/main">
            <a:r>
              <a:t>각 씬은 서로 다른 몬스터 그림을 사용하지만 행동과 수치는 공유한다. 첫 버전의 적은 **기본형과 튼튼형 두 종류**다.</a:t>
            </a:r>
          </a:p>
          <a:p xmlns:a="http://schemas.openxmlformats.org/drawingml/2006/main">
            <a:r>
              <a:t/>
            </a:r>
          </a:p>
          <a:p xmlns:a="http://schemas.openxmlformats.org/drawingml/2006/main">
            <a:r>
              <a:t>| 종류 | 체력 | 이동 속도 | 접촉 피해 | 점수 | 역할 |</a:t>
            </a:r>
          </a:p>
          <a:p xmlns:a="http://schemas.openxmlformats.org/drawingml/2006/main">
            <a:r>
              <a:t>|---|---:|---:|---:|---:|---|</a:t>
            </a:r>
          </a:p>
          <a:p xmlns:a="http://schemas.openxmlformats.org/drawingml/2006/main">
            <a:r>
              <a:t>| 기본형 | 10 | 65px/s | 1 | 10 | 한 번 맞으면 처치되어 공격 손맛 제공 |</a:t>
            </a:r>
          </a:p>
          <a:p xmlns:a="http://schemas.openxmlformats.org/drawingml/2006/main">
            <a:r>
              <a:t>| 튼튼형 | 30 | 48px/s | 1 | 30 | 여러 번 맞아야 하며 이동 경로 압박 |</a:t>
            </a:r>
          </a:p>
          <a:p xmlns:a="http://schemas.openxmlformats.org/drawingml/2006/main">
            <a:r>
              <a:t/>
            </a:r>
          </a:p>
          <a:p xmlns:a="http://schemas.openxmlformats.org/drawingml/2006/main">
            <a:r>
              <a:t>- 생성 후 플레이어의 현재 위치를 향해 이동한다. 공격 투사체나 별도 기술은 없다.</a:t>
            </a:r>
          </a:p>
          <a:p xmlns:a="http://schemas.openxmlformats.org/drawingml/2006/main">
            <a:r>
              <a:t>- 가까운 몬스터끼리 약하게 간격을 벌린다.</a:t>
            </a:r>
          </a:p>
          <a:p xmlns:a="http://schemas.openxmlformats.org/drawingml/2006/main">
            <a:r>
              <a:t>- 크기와 표정으로 기본형과 튼튼형을 구분한다. 색만으로 구분하지 않는다.</a:t>
            </a:r>
          </a:p>
          <a:p xmlns:a="http://schemas.openxmlformats.org/drawingml/2006/main">
            <a:r>
              <a:t>- 튼튼형은 기본형보다 약 1.35배 크고, 둥근 추가 장식이나 구름 덩어리를 가진다.</a:t>
            </a:r>
          </a:p>
          <a:p xmlns:a="http://schemas.openxmlformats.org/drawingml/2006/main">
            <a:r>
              <a:t>- 죽음이 확정된 순간 점수를 1회만 지급하고 충돌을 제거한다. 사라지는 애니메이션 도중 다시 피해·점수 이벤트가 발생하지 않는다.</a:t>
            </a:r>
          </a:p>
          <a:p xmlns:a="http://schemas.openxmlformats.org/drawingml/2006/main">
            <a:r>
              <a:t/>
            </a:r>
          </a:p>
          <a:p xmlns:a="http://schemas.openxmlformats.org/drawingml/2006/main">
            <a:r>
              <a:t>### 6.2 생성 위치</a:t>
            </a:r>
          </a:p>
          <a:p xmlns:a="http://schemas.openxmlformats.org/drawingml/2006/main">
            <a:r>
              <a:t/>
            </a:r>
          </a:p>
          <a:p xmlns:a="http://schemas.openxmlformats.org/drawingml/2006/main">
            <a:r>
              <a:t>- 화면 밖에서 안쪽으로 들어오는 느낌을 사용한다. 생성 띠는 화면 경계 바깥 24~64px이다.</a:t>
            </a:r>
          </a:p>
          <a:p xmlns:a="http://schemas.openxmlformats.org/drawingml/2006/main">
            <a:r>
              <a:t>- 생성 위치는 플레이어와 최소 180px 떨어지도록 고른다. 조건을 만족하지 못하면 다른 가장자리를 찾거나 해당 생성 시도를 건너뛴다.</a:t>
            </a:r>
          </a:p>
          <a:p xmlns:a="http://schemas.openxmlformats.org/drawingml/2006/main">
            <a:r>
              <a:t>- 상·하·좌·우를 섞되 같은 짧은 구간에 한쪽으로 과도하게 몰리지 않게 한다.</a:t>
            </a:r>
          </a:p>
          <a:p xmlns:a="http://schemas.openxmlformats.org/drawingml/2006/main">
            <a:r>
              <a:t>- 등장 직전 가장자리에 작은 연기·눈가루를 약 0.25초 보여준다. 예고 중에는 접촉 피해를 주지 않는다.</a:t>
            </a:r>
          </a:p>
          <a:p xmlns:a="http://schemas.openxmlformats.org/drawingml/2006/main">
            <a:r>
              <a:t>- 활성 적 상한에 도달했을 때 생성 요청을 쌓아두지 않는다. 빈자리가 생기면 현재 생성 주기로 재개한다.</a:t>
            </a:r>
          </a:p>
          <a:p xmlns:a="http://schemas.openxmlformats.org/drawingml/2006/main">
            <a:r>
              <a:t/>
            </a:r>
          </a:p>
          <a:p xmlns:a="http://schemas.openxmlformats.org/drawingml/2006/main">
            <a:r>
              <a:t>### 6.3 시간에 따른 압박</a:t>
            </a:r>
          </a:p>
          <a:p xmlns:a="http://schemas.openxmlformats.org/drawingml/2006/main">
            <a:r>
              <a:t/>
            </a:r>
          </a:p>
          <a:p xmlns:a="http://schemas.openxmlformats.org/drawingml/2006/main">
            <a:r>
              <a:t>시간은 준비·일시정지·결과 화면을 제외한 실제 플레이 시간이다. 아래 값은 구간 안에서 고정 적용하는 첫 튜닝값이다.</a:t>
            </a:r>
          </a:p>
          <a:p xmlns:a="http://schemas.openxmlformats.org/drawingml/2006/main">
            <a:r>
              <a:t/>
            </a:r>
          </a:p>
          <a:p xmlns:a="http://schemas.openxmlformats.org/drawingml/2006/main">
            <a:r>
              <a:t>| 생존 시간 | 초당 생성 수 | 튼튼형 비율 | 적 속도 배율 |</a:t>
            </a:r>
          </a:p>
          <a:p xmlns:a="http://schemas.openxmlformats.org/drawingml/2006/main">
            <a:r>
              <a:t>|---|---:|---:|---:|</a:t>
            </a:r>
          </a:p>
          <a:p xmlns:a="http://schemas.openxmlformats.org/drawingml/2006/main">
            <a:r>
              <a:t>| 0~30초 | 0.8 | 0% | 1.00 |</a:t>
            </a:r>
          </a:p>
          <a:p xmlns:a="http://schemas.openxmlformats.org/drawingml/2006/main">
            <a:r>
              <a:t>| 30~60초 | 1.2 | 0% | 1.05 |</a:t>
            </a:r>
          </a:p>
          <a:p xmlns:a="http://schemas.openxmlformats.org/drawingml/2006/main">
            <a:r>
              <a:t>| 60~120초 | 1.8 | 10% | 1.10 |</a:t>
            </a:r>
          </a:p>
          <a:p xmlns:a="http://schemas.openxmlformats.org/drawingml/2006/main">
            <a:r>
              <a:t>| 120~180초 | 2.4 | 15% | 1.15 |</a:t>
            </a:r>
          </a:p>
          <a:p xmlns:a="http://schemas.openxmlformats.org/drawingml/2006/main">
            <a:r>
              <a:t>| 180~300초 | 3.0 | 20% | 1.20 |</a:t>
            </a:r>
          </a:p>
          <a:p xmlns:a="http://schemas.openxmlformats.org/drawingml/2006/main">
            <a:r>
              <a:t>| 300초 이후 | 3.6 | 25% | 1.25 |</a:t>
            </a:r>
          </a:p>
          <a:p xmlns:a="http://schemas.openxmlformats.org/drawingml/2006/main">
            <a:r>
              <a:t/>
            </a:r>
          </a:p>
          <a:p xmlns:a="http://schemas.openxmlformats.org/drawingml/2006/main">
            <a:r>
              <a:t>- 1.5초 안전 시작 시간이 지난 뒤 생성을 시작한다.</a:t>
            </a:r>
          </a:p>
          <a:p xmlns:a="http://schemas.openxmlformats.org/drawingml/2006/main">
            <a:r>
              <a:t>- 적 체력·점수·접촉 피해는 시간에 따라 올리지 않는다. 첫 비교에서는 밀도와 구성의 변화만 사용한다.</a:t>
            </a:r>
          </a:p>
          <a:p xmlns:a="http://schemas.openxmlformats.org/drawingml/2006/main">
            <a:r>
              <a:t>- 동시 활성 몬스터 상한은 100마리로 시작한다. 처치되면 새 적이 계속 들어오므로 종료 시점은 없다.</a:t>
            </a:r>
          </a:p>
          <a:p xmlns:a="http://schemas.openxmlformats.org/drawingml/2006/main">
            <a:r>
              <a:t>- 5분 이후에는 최종 압박을 유지한다. 이번 무한 모드는 영원히 수치가 상승하는 구조가 아니다.</a:t>
            </a:r>
          </a:p>
          <a:p xmlns:a="http://schemas.openxmlformats.org/drawingml/2006/main">
            <a:r>
              <a:t>- 상한 근처에서 무리의 이동이 굳거나 생존이 사실상 무한해지면 생성량·분리 이동·공격 주기를 재조정한다.</a:t>
            </a:r>
          </a:p>
          <a:p xmlns:a="http://schemas.openxmlformats.org/drawingml/2006/main">
            <a:r>
              <a:t>- 튜닝 목표: 첫 시도에서 공격과 이동을 충분히 경험하고, 숙련에 따라 기록이 늘어나는 것. 생존 시간 목표는 실제 플레이를 보고 결정한다.</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문서 기준: 사용자 검토용 프로토타입 개발 기획 v0.2, 2026-09-10. 수치는 별도 명시가 없으면 초기 구현 제안값이다.</a:t>
            </a:r>
          </a:p>
          <a:p xmlns:a="http://schemas.openxmlformats.org/drawingml/2006/main">
            <a:r>
              <a:t/>
            </a:r>
          </a:p>
          <a:p xmlns:a="http://schemas.openxmlformats.org/drawingml/2006/main">
            <a:r>
              <a:t>기획 원문: output/animal-survivors-prototype-v0.1.md</a:t>
            </a:r>
          </a:p>
          <a:p xmlns:a="http://schemas.openxmlformats.org/drawingml/2006/main">
            <a:r>
              <a:t/>
            </a:r>
          </a:p>
          <a:p xmlns:a="http://schemas.openxmlformats.org/drawingml/2006/main">
            <a:r>
              <a:t>## 6. 몬스터와 무한 생성</a:t>
            </a:r>
          </a:p>
          <a:p xmlns:a="http://schemas.openxmlformats.org/drawingml/2006/main">
            <a:r>
              <a:t/>
            </a:r>
          </a:p>
          <a:p xmlns:a="http://schemas.openxmlformats.org/drawingml/2006/main">
            <a:r>
              <a:t>### 6.1 공통 행동</a:t>
            </a:r>
          </a:p>
          <a:p xmlns:a="http://schemas.openxmlformats.org/drawingml/2006/main">
            <a:r>
              <a:t/>
            </a:r>
          </a:p>
          <a:p xmlns:a="http://schemas.openxmlformats.org/drawingml/2006/main">
            <a:r>
              <a:t>각 씬은 서로 다른 몬스터 그림을 사용하지만 행동과 수치는 공유한다. 첫 버전의 적은 **기본형과 튼튼형 두 종류**다.</a:t>
            </a:r>
          </a:p>
          <a:p xmlns:a="http://schemas.openxmlformats.org/drawingml/2006/main">
            <a:r>
              <a:t/>
            </a:r>
          </a:p>
          <a:p xmlns:a="http://schemas.openxmlformats.org/drawingml/2006/main">
            <a:r>
              <a:t>| 종류 | 체력 | 이동 속도 | 접촉 피해 | 점수 | 역할 |</a:t>
            </a:r>
          </a:p>
          <a:p xmlns:a="http://schemas.openxmlformats.org/drawingml/2006/main">
            <a:r>
              <a:t>|---|---:|---:|---:|---:|---|</a:t>
            </a:r>
          </a:p>
          <a:p xmlns:a="http://schemas.openxmlformats.org/drawingml/2006/main">
            <a:r>
              <a:t>| 기본형 | 10 | 65px/s | 1 | 10 | 한 번 맞으면 처치되어 공격 손맛 제공 |</a:t>
            </a:r>
          </a:p>
          <a:p xmlns:a="http://schemas.openxmlformats.org/drawingml/2006/main">
            <a:r>
              <a:t>| 튼튼형 | 30 | 48px/s | 1 | 30 | 여러 번 맞아야 하며 이동 경로 압박 |</a:t>
            </a:r>
          </a:p>
          <a:p xmlns:a="http://schemas.openxmlformats.org/drawingml/2006/main">
            <a:r>
              <a:t/>
            </a:r>
          </a:p>
          <a:p xmlns:a="http://schemas.openxmlformats.org/drawingml/2006/main">
            <a:r>
              <a:t>- 생성 후 플레이어의 현재 위치를 향해 이동한다. 공격 투사체나 별도 기술은 없다.</a:t>
            </a:r>
          </a:p>
          <a:p xmlns:a="http://schemas.openxmlformats.org/drawingml/2006/main">
            <a:r>
              <a:t>- 가까운 몬스터끼리 약하게 간격을 벌린다.</a:t>
            </a:r>
          </a:p>
          <a:p xmlns:a="http://schemas.openxmlformats.org/drawingml/2006/main">
            <a:r>
              <a:t>- 크기와 표정으로 기본형과 튼튼형을 구분한다. 색만으로 구분하지 않는다.</a:t>
            </a:r>
          </a:p>
          <a:p xmlns:a="http://schemas.openxmlformats.org/drawingml/2006/main">
            <a:r>
              <a:t>- 튼튼형은 기본형보다 약 1.35배 크고, 둥근 추가 장식이나 구름 덩어리를 가진다.</a:t>
            </a:r>
          </a:p>
          <a:p xmlns:a="http://schemas.openxmlformats.org/drawingml/2006/main">
            <a:r>
              <a:t>- 죽음이 확정된 순간 점수를 1회만 지급하고 충돌을 제거한다. 사라지는 애니메이션 도중 다시 피해·점수 이벤트가 발생하지 않는다.</a:t>
            </a:r>
          </a:p>
          <a:p xmlns:a="http://schemas.openxmlformats.org/drawingml/2006/main">
            <a:r>
              <a:t/>
            </a:r>
          </a:p>
          <a:p xmlns:a="http://schemas.openxmlformats.org/drawingml/2006/main">
            <a:r>
              <a:t>### 6.2 생성 위치</a:t>
            </a:r>
          </a:p>
          <a:p xmlns:a="http://schemas.openxmlformats.org/drawingml/2006/main">
            <a:r>
              <a:t/>
            </a:r>
          </a:p>
          <a:p xmlns:a="http://schemas.openxmlformats.org/drawingml/2006/main">
            <a:r>
              <a:t>- 화면 밖에서 안쪽으로 들어오는 느낌을 사용한다. 생성 띠는 화면 경계 바깥 24~64px이다.</a:t>
            </a:r>
          </a:p>
          <a:p xmlns:a="http://schemas.openxmlformats.org/drawingml/2006/main">
            <a:r>
              <a:t>- 생성 위치는 플레이어와 최소 180px 떨어지도록 고른다. 조건을 만족하지 못하면 다른 가장자리를 찾거나 해당 생성 시도를 건너뛴다.</a:t>
            </a:r>
          </a:p>
          <a:p xmlns:a="http://schemas.openxmlformats.org/drawingml/2006/main">
            <a:r>
              <a:t>- 상·하·좌·우를 섞되 같은 짧은 구간에 한쪽으로 과도하게 몰리지 않게 한다.</a:t>
            </a:r>
          </a:p>
          <a:p xmlns:a="http://schemas.openxmlformats.org/drawingml/2006/main">
            <a:r>
              <a:t>- 등장 직전 가장자리에 작은 연기·눈가루를 약 0.25초 보여준다. 예고 중에는 접촉 피해를 주지 않는다.</a:t>
            </a:r>
          </a:p>
          <a:p xmlns:a="http://schemas.openxmlformats.org/drawingml/2006/main">
            <a:r>
              <a:t>- 활성 적 상한에 도달했을 때 생성 요청을 쌓아두지 않는다. 빈자리가 생기면 현재 생성 주기로 재개한다.</a:t>
            </a:r>
          </a:p>
          <a:p xmlns:a="http://schemas.openxmlformats.org/drawingml/2006/main">
            <a:r>
              <a:t/>
            </a:r>
          </a:p>
          <a:p xmlns:a="http://schemas.openxmlformats.org/drawingml/2006/main">
            <a:r>
              <a:t>### 6.3 시간에 따른 압박</a:t>
            </a:r>
          </a:p>
          <a:p xmlns:a="http://schemas.openxmlformats.org/drawingml/2006/main">
            <a:r>
              <a:t/>
            </a:r>
          </a:p>
          <a:p xmlns:a="http://schemas.openxmlformats.org/drawingml/2006/main">
            <a:r>
              <a:t>시간은 준비·일시정지·결과 화면을 제외한 실제 플레이 시간이다. 아래 값은 구간 안에서 고정 적용하는 첫 튜닝값이다.</a:t>
            </a:r>
          </a:p>
          <a:p xmlns:a="http://schemas.openxmlformats.org/drawingml/2006/main">
            <a:r>
              <a:t/>
            </a:r>
          </a:p>
          <a:p xmlns:a="http://schemas.openxmlformats.org/drawingml/2006/main">
            <a:r>
              <a:t>| 생존 시간 | 초당 생성 수 | 튼튼형 비율 | 적 속도 배율 |</a:t>
            </a:r>
          </a:p>
          <a:p xmlns:a="http://schemas.openxmlformats.org/drawingml/2006/main">
            <a:r>
              <a:t>|---|---:|---:|---:|</a:t>
            </a:r>
          </a:p>
          <a:p xmlns:a="http://schemas.openxmlformats.org/drawingml/2006/main">
            <a:r>
              <a:t>| 0~30초 | 0.8 | 0% | 1.00 |</a:t>
            </a:r>
          </a:p>
          <a:p xmlns:a="http://schemas.openxmlformats.org/drawingml/2006/main">
            <a:r>
              <a:t>| 30~60초 | 1.2 | 0% | 1.05 |</a:t>
            </a:r>
          </a:p>
          <a:p xmlns:a="http://schemas.openxmlformats.org/drawingml/2006/main">
            <a:r>
              <a:t>| 60~120초 | 1.8 | 10% | 1.10 |</a:t>
            </a:r>
          </a:p>
          <a:p xmlns:a="http://schemas.openxmlformats.org/drawingml/2006/main">
            <a:r>
              <a:t>| 120~180초 | 2.4 | 15% | 1.15 |</a:t>
            </a:r>
          </a:p>
          <a:p xmlns:a="http://schemas.openxmlformats.org/drawingml/2006/main">
            <a:r>
              <a:t>| 180~300초 | 3.0 | 20% | 1.20 |</a:t>
            </a:r>
          </a:p>
          <a:p xmlns:a="http://schemas.openxmlformats.org/drawingml/2006/main">
            <a:r>
              <a:t>| 300초 이후 | 3.6 | 25% | 1.25 |</a:t>
            </a:r>
          </a:p>
          <a:p xmlns:a="http://schemas.openxmlformats.org/drawingml/2006/main">
            <a:r>
              <a:t/>
            </a:r>
          </a:p>
          <a:p xmlns:a="http://schemas.openxmlformats.org/drawingml/2006/main">
            <a:r>
              <a:t>- 1.5초 안전 시작 시간이 지난 뒤 생성을 시작한다.</a:t>
            </a:r>
          </a:p>
          <a:p xmlns:a="http://schemas.openxmlformats.org/drawingml/2006/main">
            <a:r>
              <a:t>- 적 체력·점수·접촉 피해는 시간에 따라 올리지 않는다. 첫 비교에서는 밀도와 구성의 변화만 사용한다.</a:t>
            </a:r>
          </a:p>
          <a:p xmlns:a="http://schemas.openxmlformats.org/drawingml/2006/main">
            <a:r>
              <a:t>- 동시 활성 몬스터 상한은 100마리로 시작한다. 처치되면 새 적이 계속 들어오므로 종료 시점은 없다.</a:t>
            </a:r>
          </a:p>
          <a:p xmlns:a="http://schemas.openxmlformats.org/drawingml/2006/main">
            <a:r>
              <a:t>- 5분 이후에는 최종 압박을 유지한다. 이번 무한 모드는 영원히 수치가 상승하는 구조가 아니다.</a:t>
            </a:r>
          </a:p>
          <a:p xmlns:a="http://schemas.openxmlformats.org/drawingml/2006/main">
            <a:r>
              <a:t>- 상한 근처에서 무리의 이동이 굳거나 생존이 사실상 무한해지면 생성량·분리 이동·공격 주기를 재조정한다.</a:t>
            </a:r>
          </a:p>
          <a:p xmlns:a="http://schemas.openxmlformats.org/drawingml/2006/main">
            <a:r>
              <a:t>- 튜닝 목표: 첫 시도에서 공격과 이동을 충분히 경험하고, 숙련에 따라 기록이 늘어나는 것. 생존 시간 목표는 실제 플레이를 보고 결정한다.</a:t>
            </a:r>
          </a:p>
          <a:p xmlns:a="http://schemas.openxmlformats.org/drawingml/2006/main">
            <a:r>
              <a:t/>
            </a:r>
          </a:p>
          <a:p xmlns:a="http://schemas.openxmlformats.org/drawingml/2006/main">
            <a:r>
              <a:t/>
            </a:r>
          </a:p>
          <a:p xmlns:a="http://schemas.openxmlformats.org/drawingml/2006/main">
            <a:r>
              <a:t/>
            </a:r>
          </a:p>
          <a:p xmlns:a="http://schemas.openxmlformats.org/drawingml/2006/main">
            <a:r>
              <a:t>## 12. 구현 구조 제안</a:t>
            </a:r>
          </a:p>
          <a:p xmlns:a="http://schemas.openxmlformats.org/drawingml/2006/main">
            <a:r>
              <a:t/>
            </a:r>
          </a:p>
          <a:p xmlns:a="http://schemas.openxmlformats.org/drawingml/2006/main">
            <a:r>
              <a:t>엔진과 라이브러리는 구현 단계에서 결정한다. 아래는 특정 엔진에 의존하지 않는 책임 분리다.</a:t>
            </a:r>
          </a:p>
          <a:p xmlns:a="http://schemas.openxmlformats.org/drawingml/2006/main">
            <a:r>
              <a:t/>
            </a:r>
          </a:p>
          <a:p xmlns:a="http://schemas.openxmlformats.org/drawingml/2006/main">
            <a:r>
              <a:t>| 구성 | 책임 |</a:t>
            </a:r>
          </a:p>
          <a:p xmlns:a="http://schemas.openxmlformats.org/drawingml/2006/main">
            <a:r>
              <a:t>|---|---|</a:t>
            </a:r>
          </a:p>
          <a:p xmlns:a="http://schemas.openxmlformats.org/drawingml/2006/main">
            <a:r>
              <a:t>| Intro | 카드 선택, 캐릭터 최고 기록, 진입 전환 |</a:t>
            </a:r>
          </a:p>
          <a:p xmlns:a="http://schemas.openxmlformats.org/drawingml/2006/main">
            <a:r>
              <a:t>| Play 공통 | 이동, 체력, 충돌, 시간, 점수, 종료 |</a:t>
            </a:r>
          </a:p>
          <a:p xmlns:a="http://schemas.openxmlformats.org/drawingml/2006/main">
            <a:r>
              <a:t>| Penguin / Capybara / Cat 씬 설정 | 배경·스프라이트·음악·공격 설정 연결 |</a:t>
            </a:r>
          </a:p>
          <a:p xmlns:a="http://schemas.openxmlformats.org/drawingml/2006/main">
            <a:r>
              <a:t>| Attack | 회전형·파동형·투사체형 공격 실행 |</a:t>
            </a:r>
          </a:p>
          <a:p xmlns:a="http://schemas.openxmlformats.org/drawingml/2006/main">
            <a:r>
              <a:t>| Enemy / Spawn | 적 이동, 등장 곡선, 활성 수 제한 |</a:t>
            </a:r>
          </a:p>
          <a:p xmlns:a="http://schemas.openxmlformats.org/drawingml/2006/main">
            <a:r>
              <a:t>| Effects / Audio | 표시·음향 이벤트와 재사용·동시 수 제한 |</a:t>
            </a:r>
          </a:p>
          <a:p xmlns:a="http://schemas.openxmlformats.org/drawingml/2006/main">
            <a:r>
              <a:t>| HUD / Pause / Result | 상태 표시, 재시작·선택 화면 복귀 |</a:t>
            </a:r>
          </a:p>
          <a:p xmlns:a="http://schemas.openxmlformats.org/drawingml/2006/main">
            <a:r>
              <a:t>| Local Records | 캐릭터별 최고 점수, 소리 설정 |</a:t>
            </a:r>
          </a:p>
          <a:p xmlns:a="http://schemas.openxmlformats.org/drawingml/2006/main">
            <a:r>
              <a:t/>
            </a:r>
          </a:p>
          <a:p xmlns:a="http://schemas.openxmlformats.org/drawingml/2006/main">
            <a:r>
              <a:t>- 세 씬을 복사한 별도 게임 코드로 만들지 않는다. 공통 기능을 공유하면서 캐릭터별 씬은 개별 진입점과 설정을 가진다.</a:t>
            </a:r>
          </a:p>
          <a:p xmlns:a="http://schemas.openxmlformats.org/drawingml/2006/main">
            <a:r>
              <a:t>- 공격 수치, 적 수치, 생성 시간표는 코드 곳곳의 숫자 대신 수정 가능한 설정 데이터에 모은다.</a:t>
            </a:r>
          </a:p>
          <a:p xmlns:a="http://schemas.openxmlformats.org/drawingml/2006/main">
            <a:r>
              <a:t>- 실행 상태는 `INTRO / PLAYING / PAUSED / GAME_OVER`를 명확히 구분한다. 전환 연출 중에는 중복 시작·재시작을 막는다.</a:t>
            </a:r>
          </a:p>
          <a:p xmlns:a="http://schemas.openxmlformats.org/drawingml/2006/main">
            <a:r>
              <a:t>- 점수 지급, 피격, 사망은 상태 검사를 통해 한 번만 처리한다.</a:t>
            </a:r>
          </a:p>
          <a:p xmlns:a="http://schemas.openxmlformats.org/drawingml/2006/main">
            <a:r>
              <a:t>- 프레임 속도가 달라도 이동·공격·생성 시간이 같도록 시간 기준으로 갱신한다. 탭 복귀 시 지난 시간을 한 번에 따라잡으며 적을 대량 생성하지 않는다.</a:t>
            </a:r>
          </a:p>
          <a:p xmlns:a="http://schemas.openxmlformats.org/drawingml/2006/main">
            <a:r>
              <a:t>- 적·투사체·입자는 풀링 또는 동등한 재사용 전략을 적용한다. 씬 종료 시 타이머·오디오·입력·이펙트를 정리한다.</a:t>
            </a:r>
          </a:p>
          <a:p xmlns:a="http://schemas.openxmlformats.org/drawingml/2006/main">
            <a:r>
              <a:t>- 투사체는 이동 구간을 검사해 낮은 프레임에서 적을 통과하지 않게 한다.</a:t>
            </a:r>
          </a:p>
          <a:p xmlns:a="http://schemas.openxmlformats.org/drawingml/2006/main">
            <a:r>
              <a:t>- 개발용으로 활성 적 수, 투사체 수, 프레임 시간, 생성 구간, 충돌 원을 확인할 수 있게 한다. 일반 플레이 화면에서는 숨긴다.</a:t>
            </a:r>
          </a:p>
          <a:p xmlns:a="http://schemas.openxmlformats.org/drawingml/2006/main">
            <a:r>
              <a:t>- 저장 실패나 사용할 수 없는 오디오가 있어도 플레이는 가능하게 한다.</a:t>
            </a:r>
          </a:p>
          <a:p xmlns:a="http://schemas.openxmlformats.org/drawingml/2006/main">
            <a:r>
              <a:t/>
            </a:r>
          </a:p>
          <a:p xmlns:a="http://schemas.openxmlformats.org/drawingml/2006/main">
            <a:r>
              <a:t>### 이후 확장을 위한 최소 준비</a:t>
            </a:r>
          </a:p>
          <a:p xmlns:a="http://schemas.openxmlformats.org/drawingml/2006/main">
            <a:r>
              <a:t/>
            </a:r>
          </a:p>
          <a:p xmlns:a="http://schemas.openxmlformats.org/drawingml/2006/main">
            <a:r>
              <a:t>씬·공격·몬스터 설정을 분리해두면 나중에 새로운 캐릭터나 적을 추가할 수 있다. 다만 이번 단계에서 장비 시스템·절차 생성기·결제 구조를 미리 만들지는 않는다. 첫 플레이 결과를 보고 다음 기획을 결정한다.</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문서 기준: 사용자 검토용 프로토타입 개발 기획 v0.2, 2026-09-10. 수치는 별도 명시가 없으면 초기 구현 제안값이다.</a:t>
            </a:r>
          </a:p>
          <a:p xmlns:a="http://schemas.openxmlformats.org/drawingml/2006/main">
            <a:r>
              <a:t/>
            </a:r>
          </a:p>
          <a:p xmlns:a="http://schemas.openxmlformats.org/drawingml/2006/main">
            <a:r>
              <a:t>기획 원문: output/animal-survivors-prototype-v0.1.md</a:t>
            </a:r>
          </a:p>
          <a:p xmlns:a="http://schemas.openxmlformats.org/drawingml/2006/main">
            <a:r>
              <a:t/>
            </a:r>
          </a:p>
          <a:p xmlns:a="http://schemas.openxmlformats.org/drawingml/2006/main">
            <a:r>
              <a:t>## 7. 점수와 HUD</a:t>
            </a:r>
          </a:p>
          <a:p xmlns:a="http://schemas.openxmlformats.org/drawingml/2006/main">
            <a:r>
              <a:t/>
            </a:r>
          </a:p>
          <a:p xmlns:a="http://schemas.openxmlformats.org/drawingml/2006/main">
            <a:r>
              <a:t>### 점수 규칙</a:t>
            </a:r>
          </a:p>
          <a:p xmlns:a="http://schemas.openxmlformats.org/drawingml/2006/main">
            <a:r>
              <a:t/>
            </a:r>
          </a:p>
          <a:p xmlns:a="http://schemas.openxmlformats.org/drawingml/2006/main">
            <a:r>
              <a:t>- 기본형 처치 +10점, 튼튼형 처치 +30점.</a:t>
            </a:r>
          </a:p>
          <a:p xmlns:a="http://schemas.openxmlformats.org/drawingml/2006/main">
            <a:r>
              <a:t>- 시간 생존만으로는 점수가 오르지 않는다. 처치 수와 생존 시간은 보조 기록이다.</a:t>
            </a:r>
          </a:p>
          <a:p xmlns:a="http://schemas.openxmlformats.org/drawingml/2006/main">
            <a:r>
              <a:t>- 경험치 구슬과 줍는 아이템은 없다. 처치가 확정되면 즉시 점수에 반영한다.</a:t>
            </a:r>
          </a:p>
          <a:p xmlns:a="http://schemas.openxmlformats.org/drawingml/2006/main">
            <a:r>
              <a:t>- 콤보·배율·동전은 넣지 않는다.</a:t>
            </a:r>
          </a:p>
          <a:p xmlns:a="http://schemas.openxmlformats.org/drawingml/2006/main">
            <a:r>
              <a:t>- 세 동물은 공격 성능이 다르므로 최고 점수도 캐릭터별로 따로 저장한다. 통합 경쟁 랭킹은 만들지 않는다.</a:t>
            </a:r>
          </a:p>
          <a:p xmlns:a="http://schemas.openxmlformats.org/drawingml/2006/main">
            <a:r>
              <a:t>- 최초 기록은 0점으로 표시한다. 같은 브라우저의 로컬 저장을 사용하며 계정 간 동기화는 없다.</a:t>
            </a:r>
          </a:p>
          <a:p xmlns:a="http://schemas.openxmlformats.org/drawingml/2006/main">
            <a:r>
              <a:t>- 새 최고 기록은 플레이 도중 경신할 때도 저장하되 기록 유실과 과도한 저장을 피하도록 적절히 묶어서 갱신한다. 결과 화면에서 마지막 값을 확정 저장한다.</a:t>
            </a:r>
          </a:p>
          <a:p xmlns:a="http://schemas.openxmlformats.org/drawingml/2006/main">
            <a:r>
              <a:t/>
            </a:r>
          </a:p>
          <a:p xmlns:a="http://schemas.openxmlformats.org/drawingml/2006/main">
            <a:r>
              <a:t>### HUD 배치</a:t>
            </a:r>
          </a:p>
          <a:p xmlns:a="http://schemas.openxmlformats.org/drawingml/2006/main">
            <a:r>
              <a:t/>
            </a:r>
          </a:p>
          <a:p xmlns:a="http://schemas.openxmlformats.org/drawingml/2006/main">
            <a:r>
              <a:t>```text</a:t>
            </a:r>
          </a:p>
          <a:p xmlns:a="http://schemas.openxmlformats.org/drawingml/2006/main">
            <a:r>
              <a:t>┌──────────────────────────────────────────────────┐</a:t>
            </a:r>
          </a:p>
          <a:p xmlns:a="http://schemas.openxmlformats.org/drawingml/2006/main">
            <a:r>
              <a:t>│ ♥ ♥ ♥ ♥ ♥               SCORE 001250     ⏱ 02:14 Ⅱ │</a:t>
            </a:r>
          </a:p>
          <a:p xmlns:a="http://schemas.openxmlformats.org/drawingml/2006/main">
            <a:r>
              <a:t>│                                                  │</a:t>
            </a:r>
          </a:p>
          <a:p xmlns:a="http://schemas.openxmlformats.org/drawingml/2006/main">
            <a:r>
              <a:t>│                                                  │</a:t>
            </a:r>
          </a:p>
          <a:p xmlns:a="http://schemas.openxmlformats.org/drawingml/2006/main">
            <a:r>
              <a:t>│                  플레이 영역                     │</a:t>
            </a:r>
          </a:p>
          <a:p xmlns:a="http://schemas.openxmlformats.org/drawingml/2006/main">
            <a:r>
              <a:t>│                                                  │</a:t>
            </a:r>
          </a:p>
          <a:p xmlns:a="http://schemas.openxmlformats.org/drawingml/2006/main">
            <a:r>
              <a:t>│                                                  │</a:t>
            </a:r>
          </a:p>
          <a:p xmlns:a="http://schemas.openxmlformats.org/drawingml/2006/main">
            <a:r>
              <a:t>└──────────────────────────────────────────────────┘</a:t>
            </a:r>
          </a:p>
          <a:p xmlns:a="http://schemas.openxmlformats.org/drawingml/2006/main">
            <a:r>
              <a:t>```</a:t>
            </a:r>
          </a:p>
          <a:p xmlns:a="http://schemas.openxmlformats.org/drawingml/2006/main">
            <a:r>
              <a:t/>
            </a:r>
          </a:p>
          <a:p xmlns:a="http://schemas.openxmlformats.org/drawingml/2006/main">
            <a:r>
              <a:t>- 좌상단: 체력 5칸. 잃은 체력은 빈 아이콘으로 유지한다.</a:t>
            </a:r>
          </a:p>
          <a:p xmlns:a="http://schemas.openxmlformats.org/drawingml/2006/main">
            <a:r>
              <a:t>- 상단 중앙: 점수. 증가 시 0.12초간 약 8% 커졌다가 원래 크기로 돌아온다. 빠른 연속 처치는 연출을 합친다.</a:t>
            </a:r>
          </a:p>
          <a:p xmlns:a="http://schemas.openxmlformats.org/drawingml/2006/main">
            <a:r>
              <a:t>- 우상단: 생존 시간과 일시정지 버튼. 시간은 1시간 이상도 표시할 수 있다.</a:t>
            </a:r>
          </a:p>
          <a:p xmlns:a="http://schemas.openxmlformats.org/drawingml/2006/main">
            <a:r>
              <a:t>- HUD 뒤에는 옅은 판을 둬 어떤 배경에서도 읽히게 한다.</a:t>
            </a:r>
          </a:p>
          <a:p xmlns:a="http://schemas.openxmlformats.org/drawingml/2006/main">
            <a:r>
              <a:t>- 처치 위치에는 작은 `+10` / `+30`이 0.45초 떠오른다. 동시에 최대 12개만 표시하고 초과 표시는 생략한다. 실제 점수는 모두 지급한다.</a:t>
            </a:r>
          </a:p>
          <a:p xmlns:a="http://schemas.openxmlformats.org/drawingml/2006/main">
            <a:r>
              <a:t>- 피해 숫자는 표시하지 않는다. 맞았는지는 반짝임·표정·넉백으로 알린다.</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15 개발 상세</a:t>
            </a:r>
          </a:p>
          <a:p xmlns:a="http://schemas.openxmlformats.org/drawingml/2006/main">
            <a:r>
              <a:t/>
            </a:r>
          </a:p>
          <a:p xmlns:a="http://schemas.openxmlformats.org/drawingml/2006/main">
            <a:r>
              <a:t>## 8. 캐릭터 애니메이션 명세</a:t>
            </a:r>
          </a:p>
          <a:p xmlns:a="http://schemas.openxmlformats.org/drawingml/2006/main">
            <a:r>
              <a:t/>
            </a:r>
          </a:p>
          <a:p xmlns:a="http://schemas.openxmlformats.org/drawingml/2006/main">
            <a:r>
              <a:t>전투 반응은 짧고 또렷하게, 환경 움직임은 느리고 은은하게 만든다. 아래 시간은 실제 게임 동작 시간이며, 일시정지 시 함께 멈춘다.</a:t>
            </a:r>
          </a:p>
          <a:p xmlns:a="http://schemas.openxmlformats.org/drawingml/2006/main">
            <a:r>
              <a:t/>
            </a:r>
          </a:p>
          <a:p xmlns:a="http://schemas.openxmlformats.org/drawingml/2006/main">
            <a:r>
              <a:t>| 상태 | 공통 동작 | 권장 길이·제작 기준 |</a:t>
            </a:r>
          </a:p>
          <a:p xmlns:a="http://schemas.openxmlformats.org/drawingml/2006/main">
            <a:r>
              <a:t>|---|---|---|</a:t>
            </a:r>
          </a:p>
          <a:p xmlns:a="http://schemas.openxmlformats.org/drawingml/2006/main">
            <a:r>
              <a:t>| 대기 | 약한 호흡, 간헐적 눈 깜박임 | 4프레임, 1.0초 루프 |</a:t>
            </a:r>
          </a:p>
          <a:p xmlns:a="http://schemas.openxmlformats.org/drawingml/2006/main">
            <a:r>
              <a:t>| 걷기 | 발 교대, 몸의 상하 운동, 부속물 흔들림 | 6프레임, 약 0.6초 루프 |</a:t>
            </a:r>
          </a:p>
          <a:p xmlns:a="http://schemas.openxmlformats.org/drawingml/2006/main">
            <a:r>
              <a:t>| 공격 | 작은 준비 동작과 즉시 복귀, 이동 가능 | 3프레임, 0.18~0.25초 |</a:t>
            </a:r>
          </a:p>
          <a:p xmlns:a="http://schemas.openxmlformats.org/drawingml/2006/main">
            <a:r>
              <a:t>| 피격 | 짧은 수축, 표정 변화, 순간 밝아짐 | 2프레임, 약 0.15초 |</a:t>
            </a:r>
          </a:p>
          <a:p xmlns:a="http://schemas.openxmlformats.org/drawingml/2006/main">
            <a:r>
              <a:t>| 탈진 | 힘이 풀려 앉고 눈을 감음 | 4프레임, 약 0.6초, 마지막 자세 유지 |</a:t>
            </a:r>
          </a:p>
          <a:p xmlns:a="http://schemas.openxmlformats.org/drawingml/2006/main">
            <a:r>
              <a:t>| 선택 반응 | 가벼운 점프나 손 흔들기 | 4프레임, 약 0.5초 |</a:t>
            </a:r>
          </a:p>
          <a:p xmlns:a="http://schemas.openxmlformats.org/drawingml/2006/main">
            <a:r>
              <a:t/>
            </a:r>
          </a:p>
          <a:p xmlns:a="http://schemas.openxmlformats.org/drawingml/2006/main">
            <a:r>
              <a:t>- 캐릭터마다 1개의 기본 방향 세트를 만들고 좌우는 반전한다. 가방·목도리 등의 반전은 이번 버전에서 허용한다.</a:t>
            </a:r>
          </a:p>
          <a:p xmlns:a="http://schemas.openxmlformats.org/drawingml/2006/main">
            <a:r>
              <a:t>- 기본 예상 분량은 캐릭터당 23프레임, 3종 합계 69프레임이다. 공통 포즈 재사용은 가능하다.</a:t>
            </a:r>
          </a:p>
          <a:p xmlns:a="http://schemas.openxmlformats.org/drawingml/2006/main">
            <a:r>
              <a:t>- 픽셀 씬은 회전·보간으로 선이 흐려지지 않게 주의한다. 보조 움직임도 픽셀 느낌을 유지한다.</a:t>
            </a:r>
          </a:p>
          <a:p xmlns:a="http://schemas.openxmlformats.org/drawingml/2006/main">
            <a:r>
              <a:t>- 걷기 애니메이션은 실제 이동량에 맞춰 재생한다. 벽을 향해 입력해도 실제로 정지했다면 발만 계속 걷지 않게 한다.</a:t>
            </a:r>
          </a:p>
          <a:p xmlns:a="http://schemas.openxmlformats.org/drawingml/2006/main">
            <a:r>
              <a:t>- 피격이나 공격 때문에 입력을 무시하거나 긴 동작 잠금을 걸지 않는다. 탈진 상태만 조작을 막는다.</a:t>
            </a:r>
          </a:p>
          <a:p xmlns:a="http://schemas.openxmlformats.org/drawingml/2006/main">
            <a:r>
              <a:t>- 우선순위: 탈진 &gt; 피격 반응 &gt; 공격 보조 동작 &gt; 걷기·대기. 발의 이동 루프와 공격 이펙트는 동시에 실행할 수 있다.</a:t>
            </a:r>
          </a:p>
          <a:p xmlns:a="http://schemas.openxmlformats.org/drawingml/2006/main">
            <a:r>
              <a:t/>
            </a:r>
          </a:p>
          <a:p xmlns:a="http://schemas.openxmlformats.org/drawingml/2006/main">
            <a:r>
              <a:t>### 동물별 움직임 차이</a:t>
            </a:r>
          </a:p>
          <a:p xmlns:a="http://schemas.openxmlformats.org/drawingml/2006/main">
            <a:r>
              <a:t/>
            </a:r>
          </a:p>
          <a:p xmlns:a="http://schemas.openxmlformats.org/drawingml/2006/main">
            <a:r>
              <a:t>| 동물 | 대기·걷기 | 공격 | 탈진 |</a:t>
            </a:r>
          </a:p>
          <a:p xmlns:a="http://schemas.openxmlformats.org/drawingml/2006/main">
            <a:r>
              <a:t>|---|---|---|---|</a:t>
            </a:r>
          </a:p>
          <a:p xmlns:a="http://schemas.openxmlformats.org/drawingml/2006/main">
            <a:r>
              <a:t>| 펭귄 | 좌우 뒤뚱거림, 발 교대, 목도리 지연 흔들림 | 회전 눈꽃 유지, 적중 시 날개·눈꽃의 작은 반응 | 배를 대고 편하게 엎드림 |</a:t>
            </a:r>
          </a:p>
          <a:p xmlns:a="http://schemas.openxmlformats.org/drawingml/2006/main">
            <a:r>
              <a:t>| 카피바라 | 몸통의 느린 상하 운동, 머리 유자의 작은 흔들림 | 볼과 몸이 살짝 부풀었다 복귀 | 다리를 접고 앉아 눈을 감음 |</a:t>
            </a:r>
          </a:p>
          <a:p xmlns:a="http://schemas.openxmlformats.org/drawingml/2006/main">
            <a:r>
              <a:t>| 고양이 | 사뿐한 발걸음, 꼬리 S자 운동, 가방 흔들림 | 앞발로 편지를 툭 보내기 | 몸을 둥글게 말고 앉음 |</a:t>
            </a:r>
          </a:p>
          <a:p xmlns:a="http://schemas.openxmlformats.org/drawingml/2006/main">
            <a:r>
              <a:t/>
            </a:r>
          </a:p>
          <a:p xmlns:a="http://schemas.openxmlformats.org/drawingml/2006/main">
            <a:r>
              <a:t>펭귄의 지속 공격은 매 회전마다 전신 공격 모션을 반복하지 않는다. 여러 적을 빠르게 맞힐 때 반응 애니메이션이 과도하게 겹치지 않도록 0.3초 이상의 표시 간격을 둔다.</a:t>
            </a:r>
          </a:p>
          <a:p xmlns:a="http://schemas.openxmlformats.org/drawingml/2006/main">
            <a:r>
              <a:t/>
            </a:r>
          </a:p>
          <a:p xmlns:a="http://schemas.openxmlformats.org/drawingml/2006/main">
            <a:r>
              <a:t/>
            </a:r>
          </a:p>
          <a:p xmlns:a="http://schemas.openxmlformats.org/drawingml/2006/main">
            <a:r>
              <a:t/>
            </a:r>
          </a:p>
          <a:p xmlns:a="http://schemas.openxmlformats.org/drawingml/2006/main">
            <a:r>
              <a:t>내장 GIF: idle.gif, move.gif. 각 384×384, 8프레임. 경로: output/penguin-animation-v0.1/. 이미지 생성 도구로 만든 프레임을 GIF로 조립한 시안이다. 원본 시트는 같은 폴더 sheets/, 프레임은 frames/에 있다.</a:t>
            </a:r>
          </a:p>
          <a:p xmlns:a="http://schemas.openxmlformats.org/drawingml/2006/main">
            <a:r>
              <a:t>PowerPoint 슬라이드 쇼에서 GIF를 확인한다. 편집 화면이나 정적 미리보기는 첫 프레임만 표시할 수 있다.</a:t>
            </a:r>
          </a:p>
          <a:p xmlns:a="http://schemas.openxmlformats.org/drawingml/2006/main">
            <a:r>
              <a:t/>
            </a:r>
          </a:p>
          <a:p xmlns:a="http://schemas.openxmlformats.org/drawingml/2006/main">
            <a:r>
              <a:t>기획 원문: output/animal-survivors-prototype-v0.1.md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16 개발 상세</a:t>
            </a:r>
          </a:p>
          <a:p xmlns:a="http://schemas.openxmlformats.org/drawingml/2006/main">
            <a:r>
              <a:t/>
            </a:r>
          </a:p>
          <a:p xmlns:a="http://schemas.openxmlformats.org/drawingml/2006/main">
            <a:r>
              <a:t>## 5. 캐릭터별 공격과 씬</a:t>
            </a:r>
          </a:p>
          <a:p xmlns:a="http://schemas.openxmlformats.org/drawingml/2006/main">
            <a:r>
              <a:t/>
            </a:r>
          </a:p>
          <a:p xmlns:a="http://schemas.openxmlformats.org/drawingml/2006/main">
            <a:r>
              <a:t>공통으로 공격력 강화와 스킬 획득은 없다. 시작부터 종료까지 같은 능력을 사용한다. 공격 수치는 체감 비교를 위한 시작값이며, 세 공격의 유효 처치 성능이 지나치게 벌어지면 조정한다.</a:t>
            </a:r>
          </a:p>
          <a:p xmlns:a="http://schemas.openxmlformats.org/drawingml/2006/main">
            <a:r>
              <a:t/>
            </a:r>
          </a:p>
          <a:p xmlns:a="http://schemas.openxmlformats.org/drawingml/2006/main">
            <a:r>
              <a:t>### 5.1 펭귄 — 오로라 눈밭</a:t>
            </a:r>
          </a:p>
          <a:p xmlns:a="http://schemas.openxmlformats.org/drawingml/2006/main">
            <a:r>
              <a:t/>
            </a:r>
          </a:p>
          <a:p xmlns:a="http://schemas.openxmlformats.org/drawingml/2006/main">
            <a:r>
              <a:t>**인상:** 뒤뚱뒤뚱 걸으며 몸 주변의 눈꽃으로 적을 밀어내는 캐릭터.</a:t>
            </a:r>
          </a:p>
          <a:p xmlns:a="http://schemas.openxmlformats.org/drawingml/2006/main">
            <a:r>
              <a:t/>
            </a:r>
          </a:p>
          <a:p xmlns:a="http://schemas.openxmlformats.org/drawingml/2006/main">
            <a:r>
              <a:t>- 배경: 연보라 눈밭, 가장자리의 전나무와 얼음 개울, 은은한 오로라. 중앙은 밝고 단순한 눈 바닥이다.</a:t>
            </a:r>
          </a:p>
          <a:p xmlns:a="http://schemas.openxmlformats.org/drawingml/2006/main">
            <a:r>
              <a:t>- 주인공: 작은 펭귄과 분홍 목도리. 그림자·발자국·목도리 흔들림으로 이동을 읽게 한다.</a:t>
            </a:r>
          </a:p>
          <a:p xmlns:a="http://schemas.openxmlformats.org/drawingml/2006/main">
            <a:r>
              <a:t>- 몬스터: 작은 눈뭉치 정령과 조금 큰 우박 정령. 흰색 몸에 청보라 외곽선과 그림자를 넣어 눈밭에 묻히지 않게 한다.</a:t>
            </a:r>
          </a:p>
          <a:p xmlns:a="http://schemas.openxmlformats.org/drawingml/2006/main">
            <a:r>
              <a:t/>
            </a:r>
          </a:p>
          <a:p xmlns:a="http://schemas.openxmlformats.org/drawingml/2006/main">
            <a:r>
              <a:t>**공격: 회전 눈꽃**</a:t>
            </a:r>
          </a:p>
          <a:p xmlns:a="http://schemas.openxmlformats.org/drawingml/2006/main">
            <a:r>
              <a:t/>
            </a:r>
          </a:p>
          <a:p xmlns:a="http://schemas.openxmlformats.org/drawingml/2006/main">
            <a:r>
              <a:t>| 항목 | 시작값 |</a:t>
            </a:r>
          </a:p>
          <a:p xmlns:a="http://schemas.openxmlformats.org/drawingml/2006/main">
            <a:r>
              <a:t>|---|---|</a:t>
            </a:r>
          </a:p>
          <a:p xmlns:a="http://schemas.openxmlformats.org/drawingml/2006/main">
            <a:r>
              <a:t>| 눈꽃 수 | 3개, 서로 120도 간격 |</a:t>
            </a:r>
          </a:p>
          <a:p xmlns:a="http://schemas.openxmlformats.org/drawingml/2006/main">
            <a:r>
              <a:t>| 회전 반경 | 캐릭터 중심에서 88px |</a:t>
            </a:r>
          </a:p>
          <a:p xmlns:a="http://schemas.openxmlformats.org/drawingml/2006/main">
            <a:r>
              <a:t>| 회전 속도 | 1회전 / 2.4초 |</a:t>
            </a:r>
          </a:p>
          <a:p xmlns:a="http://schemas.openxmlformats.org/drawingml/2006/main">
            <a:r>
              <a:t>| 눈꽃 판정 | 반지름 16px |</a:t>
            </a:r>
          </a:p>
          <a:p xmlns:a="http://schemas.openxmlformats.org/drawingml/2006/main">
            <a:r>
              <a:t>| 피해량 | 10 |</a:t>
            </a:r>
          </a:p>
          <a:p xmlns:a="http://schemas.openxmlformats.org/drawingml/2006/main">
            <a:r>
              <a:t>| 동일 적 연속 피해 제한 | 모든 눈꽃을 합쳐 0.4초당 최대 1회 |</a:t>
            </a:r>
          </a:p>
          <a:p xmlns:a="http://schemas.openxmlformats.org/drawingml/2006/main">
            <a:r>
              <a:t>| 넉백 | 적 진행 반대 방향으로 18px |</a:t>
            </a:r>
          </a:p>
          <a:p xmlns:a="http://schemas.openxmlformats.org/drawingml/2006/main">
            <a:r>
              <a:t/>
            </a:r>
          </a:p>
          <a:p xmlns:a="http://schemas.openxmlformats.org/drawingml/2006/main">
            <a:r>
              <a:t>- 실제 눈꽃과 적이 닿을 때 피해가 발생한다. 궤도 원 전체에 피해를 주지 않는다.</a:t>
            </a:r>
          </a:p>
          <a:p xmlns:a="http://schemas.openxmlformats.org/drawingml/2006/main">
            <a:r>
              <a:t>- 눈꽃은 적을 맞혀도 사라지지 않는다. 시각적 꼬리는 짧고 옅게 표시한다.</a:t>
            </a:r>
          </a:p>
          <a:p xmlns:a="http://schemas.openxmlformats.org/drawingml/2006/main">
            <a:r>
              <a:t>- 적이 고리 안으로 들어오면 위험해지므로, 거리 유지와 이동이 중요하다.</a:t>
            </a:r>
          </a:p>
          <a:p xmlns:a="http://schemas.openxmlformats.org/drawingml/2006/main">
            <a:r>
              <a:t>- 적을 맞힐 때 눈꽃이 반짝이고 작은 얼음 조각이 퍼진다. 둔화 상태이상은 넣지 않는다.</a:t>
            </a:r>
          </a:p>
          <a:p xmlns:a="http://schemas.openxmlformats.org/drawingml/2006/main">
            <a:r>
              <a:t/>
            </a:r>
          </a:p>
          <a:p xmlns:a="http://schemas.openxmlformats.org/drawingml/2006/main">
            <a:r>
              <a:t>### 5.2 카피바라 — 온천 마을</a:t>
            </a:r>
          </a:p>
          <a:p xmlns:a="http://schemas.openxmlformats.org/drawingml/2006/main">
            <a:r>
              <a:t/>
            </a:r>
          </a:p>
          <a:p xmlns:a="http://schemas.openxmlformats.org/drawingml/2006/main">
            <a:r>
              <a:t>**인상:** 느긋한 표정으로 걷지만, 주기적으로 터지는 방울로 주변을 정리하는 캐릭터.</a:t>
            </a:r>
          </a:p>
          <a:p xmlns:a="http://schemas.openxmlformats.org/drawingml/2006/main">
            <a:r>
              <a:t/>
            </a:r>
          </a:p>
          <a:p xmlns:a="http://schemas.openxmlformats.org/drawingml/2006/main">
            <a:r>
              <a:t>- 배경: 살구색 온천 마당, 가장자리의 탕과 나무 건물, 꽃나무, 낮게 올라오는 수증기.</a:t>
            </a:r>
          </a:p>
          <a:p xmlns:a="http://schemas.openxmlformats.org/drawingml/2006/main">
            <a:r>
              <a:t>- 주인공: 머리에 유자를 올린 카피바라. 몸의 느긋한 흔들림과 유자의 작은 지연 움직임을 사용한다.</a:t>
            </a:r>
          </a:p>
          <a:p xmlns:a="http://schemas.openxmlformats.org/drawingml/2006/main">
            <a:r>
              <a:t>- 몬스터: 둥근 잿빛 김 정령과 커다란 먹구름 정령. 가시·피·공포 표현은 쓰지 않는다.</a:t>
            </a:r>
          </a:p>
          <a:p xmlns:a="http://schemas.openxmlformats.org/drawingml/2006/main">
            <a:r>
              <a:t/>
            </a:r>
          </a:p>
          <a:p xmlns:a="http://schemas.openxmlformats.org/drawingml/2006/main">
            <a:r>
              <a:t>**공격: 온천방울 파동**</a:t>
            </a:r>
          </a:p>
          <a:p xmlns:a="http://schemas.openxmlformats.org/drawingml/2006/main">
            <a:r>
              <a:t/>
            </a:r>
          </a:p>
          <a:p xmlns:a="http://schemas.openxmlformats.org/drawingml/2006/main">
            <a:r>
              <a:t>| 항목 | 시작값 |</a:t>
            </a:r>
          </a:p>
          <a:p xmlns:a="http://schemas.openxmlformats.org/drawingml/2006/main">
            <a:r>
              <a:t>|---|---|</a:t>
            </a:r>
          </a:p>
          <a:p xmlns:a="http://schemas.openxmlformats.org/drawingml/2006/main">
            <a:r>
              <a:t>| 발동 간격 | 1.6초 |</a:t>
            </a:r>
          </a:p>
          <a:p xmlns:a="http://schemas.openxmlformats.org/drawingml/2006/main">
            <a:r>
              <a:t>| 발동 예고 | 0.2초, 몸 주변 방울이 모임 |</a:t>
            </a:r>
          </a:p>
          <a:p xmlns:a="http://schemas.openxmlformats.org/drawingml/2006/main">
            <a:r>
              <a:t>| 최대 반경 | 145px |</a:t>
            </a:r>
          </a:p>
          <a:p xmlns:a="http://schemas.openxmlformats.org/drawingml/2006/main">
            <a:r>
              <a:t>| 확산 시간 | 0.35초 |</a:t>
            </a:r>
          </a:p>
          <a:p xmlns:a="http://schemas.openxmlformats.org/drawingml/2006/main">
            <a:r>
              <a:t>| 피해량 | 10 |</a:t>
            </a:r>
          </a:p>
          <a:p xmlns:a="http://schemas.openxmlformats.org/drawingml/2006/main">
            <a:r>
              <a:t>| 동일 적 피해 | 파동 한 번에 최대 1회 |</a:t>
            </a:r>
          </a:p>
          <a:p xmlns:a="http://schemas.openxmlformats.org/drawingml/2006/main">
            <a:r>
              <a:t>| 넉백 | 파동 중심에서 바깥으로 32px |</a:t>
            </a:r>
          </a:p>
          <a:p xmlns:a="http://schemas.openxmlformats.org/drawingml/2006/main">
            <a:r>
              <a:t/>
            </a:r>
          </a:p>
          <a:p xmlns:a="http://schemas.openxmlformats.org/drawingml/2006/main">
            <a:r>
              <a:t>- 발동 순간의 캐릭터 위치를 파동 중심으로 고정한다. 발동 후 이동해도 기존 파동은 캐릭터를 따라오지 않는다.</a:t>
            </a:r>
          </a:p>
          <a:p xmlns:a="http://schemas.openxmlformats.org/drawingml/2006/main">
            <a:r>
              <a:t>- 확장하는 파동이 적에게 도달할 때 피해를 준다. 한 번 맞은 적은 같은 파동에서 다시 피해를 받지 않는다.</a:t>
            </a:r>
          </a:p>
          <a:p xmlns:a="http://schemas.openxmlformats.org/drawingml/2006/main">
            <a:r>
              <a:t>- 파동 판정은 이전 프레임과 현재 프레임의 확장 구간을 함께 검사해 빠르게 지나간 적을 놓치지 않게 한다.</a:t>
            </a:r>
          </a:p>
          <a:p xmlns:a="http://schemas.openxmlformats.org/drawingml/2006/main">
            <a:r>
              <a:t>- 공격 사이의 공백에는 이동으로 버텨야 한다. 치유 능력은 이번 버전에는 없다.</a:t>
            </a:r>
          </a:p>
          <a:p xmlns:a="http://schemas.openxmlformats.org/drawingml/2006/main">
            <a:r>
              <a:t>- 방울은 반투명으로 표시해 안쪽의 적과 발밑이 계속 보이게 한다.</a:t>
            </a:r>
          </a:p>
          <a:p xmlns:a="http://schemas.openxmlformats.org/drawingml/2006/main">
            <a:r>
              <a:t/>
            </a:r>
          </a:p>
          <a:p xmlns:a="http://schemas.openxmlformats.org/drawingml/2006/main">
            <a:r>
              <a:t>### 5.3 고양이 — 달빛 우체국</a:t>
            </a:r>
          </a:p>
          <a:p xmlns:a="http://schemas.openxmlformats.org/drawingml/2006/main">
            <a:r>
              <a:t/>
            </a:r>
          </a:p>
          <a:p xmlns:a="http://schemas.openxmlformats.org/drawingml/2006/main">
            <a:r>
              <a:t>**인상:** 편지를 날려 가까운 적을 처리하며 사뿐사뿐 움직이는 캐릭터.</a:t>
            </a:r>
          </a:p>
          <a:p xmlns:a="http://schemas.openxmlformats.org/drawingml/2006/main">
            <a:r>
              <a:t/>
            </a:r>
          </a:p>
          <a:p xmlns:a="http://schemas.openxmlformats.org/drawingml/2006/main">
            <a:r>
              <a:t>- 배경: 보랏빛 우체국 마당, 따뜻한 우편함·랜턴, 가장자리의 나무와 돌길. 전투 바닥은 중간 명도로 유지한다.</a:t>
            </a:r>
          </a:p>
          <a:p xmlns:a="http://schemas.openxmlformats.org/drawingml/2006/main">
            <a:r>
              <a:t>- 주인공: 우편 가방을 멘 고양이. 귀·꼬리·가방의 보조 움직임을 사용한다.</a:t>
            </a:r>
          </a:p>
          <a:p xmlns:a="http://schemas.openxmlformats.org/drawingml/2006/main">
            <a:r>
              <a:t>- 몬스터: 보라색 그림자 솜뭉치와 커다란 밤구름. 외곽에 옅은 라벤더 선을 넣는다.</a:t>
            </a:r>
          </a:p>
          <a:p xmlns:a="http://schemas.openxmlformats.org/drawingml/2006/main">
            <a:r>
              <a:t/>
            </a:r>
          </a:p>
          <a:p xmlns:a="http://schemas.openxmlformats.org/drawingml/2006/main">
            <a:r>
              <a:t>**공격: 별빛 편지**</a:t>
            </a:r>
          </a:p>
          <a:p xmlns:a="http://schemas.openxmlformats.org/drawingml/2006/main">
            <a:r>
              <a:t/>
            </a:r>
          </a:p>
          <a:p xmlns:a="http://schemas.openxmlformats.org/drawingml/2006/main">
            <a:r>
              <a:t>| 항목 | 시작값 |</a:t>
            </a:r>
          </a:p>
          <a:p xmlns:a="http://schemas.openxmlformats.org/drawingml/2006/main">
            <a:r>
              <a:t>|---|---|</a:t>
            </a:r>
          </a:p>
          <a:p xmlns:a="http://schemas.openxmlformats.org/drawingml/2006/main">
            <a:r>
              <a:t>| 발사 간격 | 0.65초 |</a:t>
            </a:r>
          </a:p>
          <a:p xmlns:a="http://schemas.openxmlformats.org/drawingml/2006/main">
            <a:r>
              <a:t>| 대상 | 반경 420px 안의 가장 가까운 살아 있는 적 |</a:t>
            </a:r>
          </a:p>
          <a:p xmlns:a="http://schemas.openxmlformats.org/drawingml/2006/main">
            <a:r>
              <a:t>| 투사체 속도 | 420px/s |</a:t>
            </a:r>
          </a:p>
          <a:p xmlns:a="http://schemas.openxmlformats.org/drawingml/2006/main">
            <a:r>
              <a:t>| 최대 생존 시간 | 1.2초 |</a:t>
            </a:r>
          </a:p>
          <a:p xmlns:a="http://schemas.openxmlformats.org/drawingml/2006/main">
            <a:r>
              <a:t>| 피해량 | 10 |</a:t>
            </a:r>
          </a:p>
          <a:p xmlns:a="http://schemas.openxmlformats.org/drawingml/2006/main">
            <a:r>
              <a:t>| 관통 | 없음, 첫 적 명중 시 소멸 |</a:t>
            </a:r>
          </a:p>
          <a:p xmlns:a="http://schemas.openxmlformats.org/drawingml/2006/main">
            <a:r>
              <a:t>| 넉백 | 투사체 방향으로 16px |</a:t>
            </a:r>
          </a:p>
          <a:p xmlns:a="http://schemas.openxmlformats.org/drawingml/2006/main">
            <a:r>
              <a:t/>
            </a:r>
          </a:p>
          <a:p xmlns:a="http://schemas.openxmlformats.org/drawingml/2006/main">
            <a:r>
              <a:t>- 발사 순간 적 방향을 정해 직선으로 날아간다. 발사 후 유도하지 않으며, 경로의 다른 적에게 맞을 수 있다.</a:t>
            </a:r>
          </a:p>
          <a:p xmlns:a="http://schemas.openxmlformats.org/drawingml/2006/main">
            <a:r>
              <a:t>- 범위 내 적이 없으면 발사하지 않는다. 적이 범위에 들어오고 공격 대기시간이 끝났으면 발사한다. 미발사 횟수를 저장해 한꺼번에 쏘지 않는다.</a:t>
            </a:r>
          </a:p>
          <a:p xmlns:a="http://schemas.openxmlformats.org/drawingml/2006/main">
            <a:r>
              <a:t>- 편지는 크림색, 꼬리는 금빛 작은 별로 표현한다.</a:t>
            </a:r>
          </a:p>
          <a:p xmlns:a="http://schemas.openxmlformats.org/drawingml/2006/main">
            <a:r>
              <a:t>- 몸은 이동 방향을 유지하고 편지만 적을 향하게 해, 공격할 때마다 몸이 좌우로 튀지 않게 한다.</a:t>
            </a:r>
          </a:p>
          <a:p xmlns:a="http://schemas.openxmlformats.org/drawingml/2006/main">
            <a:r>
              <a:t/>
            </a:r>
          </a:p>
          <a:p xmlns:a="http://schemas.openxmlformats.org/drawingml/2006/main">
            <a:r>
              <a:t/>
            </a:r>
          </a:p>
          <a:p xmlns:a="http://schemas.openxmlformats.org/drawingml/2006/main">
            <a:r>
              <a:t>## 8. 캐릭터 애니메이션 명세</a:t>
            </a:r>
          </a:p>
          <a:p xmlns:a="http://schemas.openxmlformats.org/drawingml/2006/main">
            <a:r>
              <a:t/>
            </a:r>
          </a:p>
          <a:p xmlns:a="http://schemas.openxmlformats.org/drawingml/2006/main">
            <a:r>
              <a:t>전투 반응은 짧고 또렷하게, 환경 움직임은 느리고 은은하게 만든다. 아래 시간은 실제 게임 동작 시간이며, 일시정지 시 함께 멈춘다.</a:t>
            </a:r>
          </a:p>
          <a:p xmlns:a="http://schemas.openxmlformats.org/drawingml/2006/main">
            <a:r>
              <a:t/>
            </a:r>
          </a:p>
          <a:p xmlns:a="http://schemas.openxmlformats.org/drawingml/2006/main">
            <a:r>
              <a:t>| 상태 | 공통 동작 | 권장 길이·제작 기준 |</a:t>
            </a:r>
          </a:p>
          <a:p xmlns:a="http://schemas.openxmlformats.org/drawingml/2006/main">
            <a:r>
              <a:t>|---|---|---|</a:t>
            </a:r>
          </a:p>
          <a:p xmlns:a="http://schemas.openxmlformats.org/drawingml/2006/main">
            <a:r>
              <a:t>| 대기 | 약한 호흡, 간헐적 눈 깜박임 | 4프레임, 1.0초 루프 |</a:t>
            </a:r>
          </a:p>
          <a:p xmlns:a="http://schemas.openxmlformats.org/drawingml/2006/main">
            <a:r>
              <a:t>| 걷기 | 발 교대, 몸의 상하 운동, 부속물 흔들림 | 6프레임, 약 0.6초 루프 |</a:t>
            </a:r>
          </a:p>
          <a:p xmlns:a="http://schemas.openxmlformats.org/drawingml/2006/main">
            <a:r>
              <a:t>| 공격 | 작은 준비 동작과 즉시 복귀, 이동 가능 | 3프레임, 0.18~0.25초 |</a:t>
            </a:r>
          </a:p>
          <a:p xmlns:a="http://schemas.openxmlformats.org/drawingml/2006/main">
            <a:r>
              <a:t>| 피격 | 짧은 수축, 표정 변화, 순간 밝아짐 | 2프레임, 약 0.15초 |</a:t>
            </a:r>
          </a:p>
          <a:p xmlns:a="http://schemas.openxmlformats.org/drawingml/2006/main">
            <a:r>
              <a:t>| 탈진 | 힘이 풀려 앉고 눈을 감음 | 4프레임, 약 0.6초, 마지막 자세 유지 |</a:t>
            </a:r>
          </a:p>
          <a:p xmlns:a="http://schemas.openxmlformats.org/drawingml/2006/main">
            <a:r>
              <a:t>| 선택 반응 | 가벼운 점프나 손 흔들기 | 4프레임, 약 0.5초 |</a:t>
            </a:r>
          </a:p>
          <a:p xmlns:a="http://schemas.openxmlformats.org/drawingml/2006/main">
            <a:r>
              <a:t/>
            </a:r>
          </a:p>
          <a:p xmlns:a="http://schemas.openxmlformats.org/drawingml/2006/main">
            <a:r>
              <a:t>- 캐릭터마다 1개의 기본 방향 세트를 만들고 좌우는 반전한다. 가방·목도리 등의 반전은 이번 버전에서 허용한다.</a:t>
            </a:r>
          </a:p>
          <a:p xmlns:a="http://schemas.openxmlformats.org/drawingml/2006/main">
            <a:r>
              <a:t>- 기본 예상 분량은 캐릭터당 23프레임, 3종 합계 69프레임이다. 공통 포즈 재사용은 가능하다.</a:t>
            </a:r>
          </a:p>
          <a:p xmlns:a="http://schemas.openxmlformats.org/drawingml/2006/main">
            <a:r>
              <a:t>- 픽셀 씬은 회전·보간으로 선이 흐려지지 않게 주의한다. 보조 움직임도 픽셀 느낌을 유지한다.</a:t>
            </a:r>
          </a:p>
          <a:p xmlns:a="http://schemas.openxmlformats.org/drawingml/2006/main">
            <a:r>
              <a:t>- 걷기 애니메이션은 실제 이동량에 맞춰 재생한다. 벽을 향해 입력해도 실제로 정지했다면 발만 계속 걷지 않게 한다.</a:t>
            </a:r>
          </a:p>
          <a:p xmlns:a="http://schemas.openxmlformats.org/drawingml/2006/main">
            <a:r>
              <a:t>- 피격이나 공격 때문에 입력을 무시하거나 긴 동작 잠금을 걸지 않는다. 탈진 상태만 조작을 막는다.</a:t>
            </a:r>
          </a:p>
          <a:p xmlns:a="http://schemas.openxmlformats.org/drawingml/2006/main">
            <a:r>
              <a:t>- 우선순위: 탈진 &gt; 피격 반응 &gt; 공격 보조 동작 &gt; 걷기·대기. 발의 이동 루프와 공격 이펙트는 동시에 실행할 수 있다.</a:t>
            </a:r>
          </a:p>
          <a:p xmlns:a="http://schemas.openxmlformats.org/drawingml/2006/main">
            <a:r>
              <a:t/>
            </a:r>
          </a:p>
          <a:p xmlns:a="http://schemas.openxmlformats.org/drawingml/2006/main">
            <a:r>
              <a:t>### 동물별 움직임 차이</a:t>
            </a:r>
          </a:p>
          <a:p xmlns:a="http://schemas.openxmlformats.org/drawingml/2006/main">
            <a:r>
              <a:t/>
            </a:r>
          </a:p>
          <a:p xmlns:a="http://schemas.openxmlformats.org/drawingml/2006/main">
            <a:r>
              <a:t>| 동물 | 대기·걷기 | 공격 | 탈진 |</a:t>
            </a:r>
          </a:p>
          <a:p xmlns:a="http://schemas.openxmlformats.org/drawingml/2006/main">
            <a:r>
              <a:t>|---|---|---|---|</a:t>
            </a:r>
          </a:p>
          <a:p xmlns:a="http://schemas.openxmlformats.org/drawingml/2006/main">
            <a:r>
              <a:t>| 펭귄 | 좌우 뒤뚱거림, 발 교대, 목도리 지연 흔들림 | 회전 눈꽃 유지, 적중 시 날개·눈꽃의 작은 반응 | 배를 대고 편하게 엎드림 |</a:t>
            </a:r>
          </a:p>
          <a:p xmlns:a="http://schemas.openxmlformats.org/drawingml/2006/main">
            <a:r>
              <a:t>| 카피바라 | 몸통의 느린 상하 운동, 머리 유자의 작은 흔들림 | 볼과 몸이 살짝 부풀었다 복귀 | 다리를 접고 앉아 눈을 감음 |</a:t>
            </a:r>
          </a:p>
          <a:p xmlns:a="http://schemas.openxmlformats.org/drawingml/2006/main">
            <a:r>
              <a:t>| 고양이 | 사뿐한 발걸음, 꼬리 S자 운동, 가방 흔들림 | 앞발로 편지를 툭 보내기 | 몸을 둥글게 말고 앉음 |</a:t>
            </a:r>
          </a:p>
          <a:p xmlns:a="http://schemas.openxmlformats.org/drawingml/2006/main">
            <a:r>
              <a:t/>
            </a:r>
          </a:p>
          <a:p xmlns:a="http://schemas.openxmlformats.org/drawingml/2006/main">
            <a:r>
              <a:t>펭귄의 지속 공격은 매 회전마다 전신 공격 모션을 반복하지 않는다. 여러 적을 빠르게 맞힐 때 반응 애니메이션이 과도하게 겹치지 않도록 0.3초 이상의 표시 간격을 둔다.</a:t>
            </a:r>
          </a:p>
          <a:p xmlns:a="http://schemas.openxmlformats.org/drawingml/2006/main">
            <a:r>
              <a:t/>
            </a:r>
          </a:p>
          <a:p xmlns:a="http://schemas.openxmlformats.org/drawingml/2006/main">
            <a:r>
              <a:t/>
            </a:r>
          </a:p>
          <a:p xmlns:a="http://schemas.openxmlformats.org/drawingml/2006/main">
            <a:r>
              <a:t>내장 attack.gif는 8프레임, 1.44초의 연출 참고다. 실제 전투 궤도 주기는 기획값 2.4초를 따른다. 이동과 공격을 동시에 재생한다. GIF 자체에 게임 판정을 연결하거나 GIF의 장식 전체를 충돌체로 만들지 않는다. 출처: output/penguin-animation-v0.1/attack.gif.</a:t>
            </a:r>
          </a:p>
          <a:p xmlns:a="http://schemas.openxmlformats.org/drawingml/2006/main">
            <a:r>
              <a:t/>
            </a:r>
          </a:p>
          <a:p xmlns:a="http://schemas.openxmlformats.org/drawingml/2006/main">
            <a:r>
              <a:t>기획 원문: output/animal-survivors-prototype-v0.1.md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17 개발 상세</a:t>
            </a:r>
          </a:p>
          <a:p xmlns:a="http://schemas.openxmlformats.org/drawingml/2006/main">
            <a:r>
              <a:t/>
            </a:r>
          </a:p>
          <a:p xmlns:a="http://schemas.openxmlformats.org/drawingml/2006/main">
            <a:r>
              <a:t>## 8. 캐릭터 애니메이션 명세</a:t>
            </a:r>
          </a:p>
          <a:p xmlns:a="http://schemas.openxmlformats.org/drawingml/2006/main">
            <a:r>
              <a:t/>
            </a:r>
          </a:p>
          <a:p xmlns:a="http://schemas.openxmlformats.org/drawingml/2006/main">
            <a:r>
              <a:t>전투 반응은 짧고 또렷하게, 환경 움직임은 느리고 은은하게 만든다. 아래 시간은 실제 게임 동작 시간이며, 일시정지 시 함께 멈춘다.</a:t>
            </a:r>
          </a:p>
          <a:p xmlns:a="http://schemas.openxmlformats.org/drawingml/2006/main">
            <a:r>
              <a:t/>
            </a:r>
          </a:p>
          <a:p xmlns:a="http://schemas.openxmlformats.org/drawingml/2006/main">
            <a:r>
              <a:t>| 상태 | 공통 동작 | 권장 길이·제작 기준 |</a:t>
            </a:r>
          </a:p>
          <a:p xmlns:a="http://schemas.openxmlformats.org/drawingml/2006/main">
            <a:r>
              <a:t>|---|---|---|</a:t>
            </a:r>
          </a:p>
          <a:p xmlns:a="http://schemas.openxmlformats.org/drawingml/2006/main">
            <a:r>
              <a:t>| 대기 | 약한 호흡, 간헐적 눈 깜박임 | 4프레임, 1.0초 루프 |</a:t>
            </a:r>
          </a:p>
          <a:p xmlns:a="http://schemas.openxmlformats.org/drawingml/2006/main">
            <a:r>
              <a:t>| 걷기 | 발 교대, 몸의 상하 운동, 부속물 흔들림 | 6프레임, 약 0.6초 루프 |</a:t>
            </a:r>
          </a:p>
          <a:p xmlns:a="http://schemas.openxmlformats.org/drawingml/2006/main">
            <a:r>
              <a:t>| 공격 | 작은 준비 동작과 즉시 복귀, 이동 가능 | 3프레임, 0.18~0.25초 |</a:t>
            </a:r>
          </a:p>
          <a:p xmlns:a="http://schemas.openxmlformats.org/drawingml/2006/main">
            <a:r>
              <a:t>| 피격 | 짧은 수축, 표정 변화, 순간 밝아짐 | 2프레임, 약 0.15초 |</a:t>
            </a:r>
          </a:p>
          <a:p xmlns:a="http://schemas.openxmlformats.org/drawingml/2006/main">
            <a:r>
              <a:t>| 탈진 | 힘이 풀려 앉고 눈을 감음 | 4프레임, 약 0.6초, 마지막 자세 유지 |</a:t>
            </a:r>
          </a:p>
          <a:p xmlns:a="http://schemas.openxmlformats.org/drawingml/2006/main">
            <a:r>
              <a:t>| 선택 반응 | 가벼운 점프나 손 흔들기 | 4프레임, 약 0.5초 |</a:t>
            </a:r>
          </a:p>
          <a:p xmlns:a="http://schemas.openxmlformats.org/drawingml/2006/main">
            <a:r>
              <a:t/>
            </a:r>
          </a:p>
          <a:p xmlns:a="http://schemas.openxmlformats.org/drawingml/2006/main">
            <a:r>
              <a:t>- 캐릭터마다 1개의 기본 방향 세트를 만들고 좌우는 반전한다. 가방·목도리 등의 반전은 이번 버전에서 허용한다.</a:t>
            </a:r>
          </a:p>
          <a:p xmlns:a="http://schemas.openxmlformats.org/drawingml/2006/main">
            <a:r>
              <a:t>- 기본 예상 분량은 캐릭터당 23프레임, 3종 합계 69프레임이다. 공통 포즈 재사용은 가능하다.</a:t>
            </a:r>
          </a:p>
          <a:p xmlns:a="http://schemas.openxmlformats.org/drawingml/2006/main">
            <a:r>
              <a:t>- 픽셀 씬은 회전·보간으로 선이 흐려지지 않게 주의한다. 보조 움직임도 픽셀 느낌을 유지한다.</a:t>
            </a:r>
          </a:p>
          <a:p xmlns:a="http://schemas.openxmlformats.org/drawingml/2006/main">
            <a:r>
              <a:t>- 걷기 애니메이션은 실제 이동량에 맞춰 재생한다. 벽을 향해 입력해도 실제로 정지했다면 발만 계속 걷지 않게 한다.</a:t>
            </a:r>
          </a:p>
          <a:p xmlns:a="http://schemas.openxmlformats.org/drawingml/2006/main">
            <a:r>
              <a:t>- 피격이나 공격 때문에 입력을 무시하거나 긴 동작 잠금을 걸지 않는다. 탈진 상태만 조작을 막는다.</a:t>
            </a:r>
          </a:p>
          <a:p xmlns:a="http://schemas.openxmlformats.org/drawingml/2006/main">
            <a:r>
              <a:t>- 우선순위: 탈진 &gt; 피격 반응 &gt; 공격 보조 동작 &gt; 걷기·대기. 발의 이동 루프와 공격 이펙트는 동시에 실행할 수 있다.</a:t>
            </a:r>
          </a:p>
          <a:p xmlns:a="http://schemas.openxmlformats.org/drawingml/2006/main">
            <a:r>
              <a:t/>
            </a:r>
          </a:p>
          <a:p xmlns:a="http://schemas.openxmlformats.org/drawingml/2006/main">
            <a:r>
              <a:t>### 동물별 움직임 차이</a:t>
            </a:r>
          </a:p>
          <a:p xmlns:a="http://schemas.openxmlformats.org/drawingml/2006/main">
            <a:r>
              <a:t/>
            </a:r>
          </a:p>
          <a:p xmlns:a="http://schemas.openxmlformats.org/drawingml/2006/main">
            <a:r>
              <a:t>| 동물 | 대기·걷기 | 공격 | 탈진 |</a:t>
            </a:r>
          </a:p>
          <a:p xmlns:a="http://schemas.openxmlformats.org/drawingml/2006/main">
            <a:r>
              <a:t>|---|---|---|---|</a:t>
            </a:r>
          </a:p>
          <a:p xmlns:a="http://schemas.openxmlformats.org/drawingml/2006/main">
            <a:r>
              <a:t>| 펭귄 | 좌우 뒤뚱거림, 발 교대, 목도리 지연 흔들림 | 회전 눈꽃 유지, 적중 시 날개·눈꽃의 작은 반응 | 배를 대고 편하게 엎드림 |</a:t>
            </a:r>
          </a:p>
          <a:p xmlns:a="http://schemas.openxmlformats.org/drawingml/2006/main">
            <a:r>
              <a:t>| 카피바라 | 몸통의 느린 상하 운동, 머리 유자의 작은 흔들림 | 볼과 몸이 살짝 부풀었다 복귀 | 다리를 접고 앉아 눈을 감음 |</a:t>
            </a:r>
          </a:p>
          <a:p xmlns:a="http://schemas.openxmlformats.org/drawingml/2006/main">
            <a:r>
              <a:t>| 고양이 | 사뿐한 발걸음, 꼬리 S자 운동, 가방 흔들림 | 앞발로 편지를 툭 보내기 | 몸을 둥글게 말고 앉음 |</a:t>
            </a:r>
          </a:p>
          <a:p xmlns:a="http://schemas.openxmlformats.org/drawingml/2006/main">
            <a:r>
              <a:t/>
            </a:r>
          </a:p>
          <a:p xmlns:a="http://schemas.openxmlformats.org/drawingml/2006/main">
            <a:r>
              <a:t>펭귄의 지속 공격은 매 회전마다 전신 공격 모션을 반복하지 않는다. 여러 적을 빠르게 맞힐 때 반응 애니메이션이 과도하게 겹치지 않도록 0.3초 이상의 표시 간격을 둔다.</a:t>
            </a:r>
          </a:p>
          <a:p xmlns:a="http://schemas.openxmlformats.org/drawingml/2006/main">
            <a:r>
              <a:t/>
            </a:r>
          </a:p>
          <a:p xmlns:a="http://schemas.openxmlformats.org/drawingml/2006/main">
            <a:r>
              <a:t/>
            </a:r>
          </a:p>
          <a:p xmlns:a="http://schemas.openxmlformats.org/drawingml/2006/main">
            <a:r>
              <a:t/>
            </a:r>
          </a:p>
          <a:p xmlns:a="http://schemas.openxmlformats.org/drawingml/2006/main">
            <a:r>
              <a:t>내장 hit.gif는 1.73초, defeat.gif는 3.44초이며 각각 8프레임이다. 시작·끝 자세를 검토하기 위해 유지 시간을 넣고 반복한다. 실제 게임에서는 해당 홀드를 제거하고 피격 약 0.15초, 탈진 약 0.6초로 조정한다. 탈진 마지막 자세는 결과 패널 뒤에서 유지한다. 출처: output/penguin-animation-v0.1/hit.gif, defeat.gif.</a:t>
            </a:r>
          </a:p>
          <a:p xmlns:a="http://schemas.openxmlformats.org/drawingml/2006/main">
            <a:r>
              <a:t/>
            </a:r>
          </a:p>
          <a:p xmlns:a="http://schemas.openxmlformats.org/drawingml/2006/main">
            <a:r>
              <a:t>기획 원문: output/animal-survivors-prototype-v0.1.md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문서 기준: 사용자 검토용 프로토타입 개발 기획 v0.2, 2026-09-10. 수치는 별도 명시가 없으면 초기 구현 제안값이다.</a:t>
            </a:r>
          </a:p>
          <a:p xmlns:a="http://schemas.openxmlformats.org/drawingml/2006/main">
            <a:r>
              <a:t/>
            </a:r>
          </a:p>
          <a:p xmlns:a="http://schemas.openxmlformats.org/drawingml/2006/main">
            <a:r>
              <a:t>기획 원문: output/animal-survivors-prototype-v0.1.md</a:t>
            </a:r>
          </a:p>
          <a:p xmlns:a="http://schemas.openxmlformats.org/drawingml/2006/main">
            <a:r>
              <a:t/>
            </a:r>
          </a:p>
          <a:p xmlns:a="http://schemas.openxmlformats.org/drawingml/2006/main">
            <a:r>
              <a:t>## 8. 캐릭터 애니메이션 명세</a:t>
            </a:r>
          </a:p>
          <a:p xmlns:a="http://schemas.openxmlformats.org/drawingml/2006/main">
            <a:r>
              <a:t/>
            </a:r>
          </a:p>
          <a:p xmlns:a="http://schemas.openxmlformats.org/drawingml/2006/main">
            <a:r>
              <a:t>전투 반응은 짧고 또렷하게, 환경 움직임은 느리고 은은하게 만든다. 아래 시간은 실제 게임 동작 시간이며, 일시정지 시 함께 멈춘다.</a:t>
            </a:r>
          </a:p>
          <a:p xmlns:a="http://schemas.openxmlformats.org/drawingml/2006/main">
            <a:r>
              <a:t/>
            </a:r>
          </a:p>
          <a:p xmlns:a="http://schemas.openxmlformats.org/drawingml/2006/main">
            <a:r>
              <a:t>| 상태 | 공통 동작 | 권장 길이·제작 기준 |</a:t>
            </a:r>
          </a:p>
          <a:p xmlns:a="http://schemas.openxmlformats.org/drawingml/2006/main">
            <a:r>
              <a:t>|---|---|---|</a:t>
            </a:r>
          </a:p>
          <a:p xmlns:a="http://schemas.openxmlformats.org/drawingml/2006/main">
            <a:r>
              <a:t>| 대기 | 약한 호흡, 간헐적 눈 깜박임 | 4프레임, 1.0초 루프 |</a:t>
            </a:r>
          </a:p>
          <a:p xmlns:a="http://schemas.openxmlformats.org/drawingml/2006/main">
            <a:r>
              <a:t>| 걷기 | 발 교대, 몸의 상하 운동, 부속물 흔들림 | 6프레임, 약 0.6초 루프 |</a:t>
            </a:r>
          </a:p>
          <a:p xmlns:a="http://schemas.openxmlformats.org/drawingml/2006/main">
            <a:r>
              <a:t>| 공격 | 작은 준비 동작과 즉시 복귀, 이동 가능 | 3프레임, 0.18~0.25초 |</a:t>
            </a:r>
          </a:p>
          <a:p xmlns:a="http://schemas.openxmlformats.org/drawingml/2006/main">
            <a:r>
              <a:t>| 피격 | 짧은 수축, 표정 변화, 순간 밝아짐 | 2프레임, 약 0.15초 |</a:t>
            </a:r>
          </a:p>
          <a:p xmlns:a="http://schemas.openxmlformats.org/drawingml/2006/main">
            <a:r>
              <a:t>| 탈진 | 힘이 풀려 앉고 눈을 감음 | 4프레임, 약 0.6초, 마지막 자세 유지 |</a:t>
            </a:r>
          </a:p>
          <a:p xmlns:a="http://schemas.openxmlformats.org/drawingml/2006/main">
            <a:r>
              <a:t>| 선택 반응 | 가벼운 점프나 손 흔들기 | 4프레임, 약 0.5초 |</a:t>
            </a:r>
          </a:p>
          <a:p xmlns:a="http://schemas.openxmlformats.org/drawingml/2006/main">
            <a:r>
              <a:t/>
            </a:r>
          </a:p>
          <a:p xmlns:a="http://schemas.openxmlformats.org/drawingml/2006/main">
            <a:r>
              <a:t>- 캐릭터마다 1개의 기본 방향 세트를 만들고 좌우는 반전한다. 가방·목도리 등의 반전은 이번 버전에서 허용한다.</a:t>
            </a:r>
          </a:p>
          <a:p xmlns:a="http://schemas.openxmlformats.org/drawingml/2006/main">
            <a:r>
              <a:t>- 기본 예상 분량은 캐릭터당 23프레임, 3종 합계 69프레임이다. 공통 포즈 재사용은 가능하다.</a:t>
            </a:r>
          </a:p>
          <a:p xmlns:a="http://schemas.openxmlformats.org/drawingml/2006/main">
            <a:r>
              <a:t>- 픽셀 씬은 회전·보간으로 선이 흐려지지 않게 주의한다. 보조 움직임도 픽셀 느낌을 유지한다.</a:t>
            </a:r>
          </a:p>
          <a:p xmlns:a="http://schemas.openxmlformats.org/drawingml/2006/main">
            <a:r>
              <a:t>- 걷기 애니메이션은 실제 이동량에 맞춰 재생한다. 벽을 향해 입력해도 실제로 정지했다면 발만 계속 걷지 않게 한다.</a:t>
            </a:r>
          </a:p>
          <a:p xmlns:a="http://schemas.openxmlformats.org/drawingml/2006/main">
            <a:r>
              <a:t>- 피격이나 공격 때문에 입력을 무시하거나 긴 동작 잠금을 걸지 않는다. 탈진 상태만 조작을 막는다.</a:t>
            </a:r>
          </a:p>
          <a:p xmlns:a="http://schemas.openxmlformats.org/drawingml/2006/main">
            <a:r>
              <a:t>- 우선순위: 탈진 &gt; 피격 반응 &gt; 공격 보조 동작 &gt; 걷기·대기. 발의 이동 루프와 공격 이펙트는 동시에 실행할 수 있다.</a:t>
            </a:r>
          </a:p>
          <a:p xmlns:a="http://schemas.openxmlformats.org/drawingml/2006/main">
            <a:r>
              <a:t/>
            </a:r>
          </a:p>
          <a:p xmlns:a="http://schemas.openxmlformats.org/drawingml/2006/main">
            <a:r>
              <a:t>### 동물별 움직임 차이</a:t>
            </a:r>
          </a:p>
          <a:p xmlns:a="http://schemas.openxmlformats.org/drawingml/2006/main">
            <a:r>
              <a:t/>
            </a:r>
          </a:p>
          <a:p xmlns:a="http://schemas.openxmlformats.org/drawingml/2006/main">
            <a:r>
              <a:t>| 동물 | 대기·걷기 | 공격 | 탈진 |</a:t>
            </a:r>
          </a:p>
          <a:p xmlns:a="http://schemas.openxmlformats.org/drawingml/2006/main">
            <a:r>
              <a:t>|---|---|---|---|</a:t>
            </a:r>
          </a:p>
          <a:p xmlns:a="http://schemas.openxmlformats.org/drawingml/2006/main">
            <a:r>
              <a:t>| 펭귄 | 좌우 뒤뚱거림, 발 교대, 목도리 지연 흔들림 | 회전 눈꽃 유지, 적중 시 날개·눈꽃의 작은 반응 | 배를 대고 편하게 엎드림 |</a:t>
            </a:r>
          </a:p>
          <a:p xmlns:a="http://schemas.openxmlformats.org/drawingml/2006/main">
            <a:r>
              <a:t>| 카피바라 | 몸통의 느린 상하 운동, 머리 유자의 작은 흔들림 | 볼과 몸이 살짝 부풀었다 복귀 | 다리를 접고 앉아 눈을 감음 |</a:t>
            </a:r>
          </a:p>
          <a:p xmlns:a="http://schemas.openxmlformats.org/drawingml/2006/main">
            <a:r>
              <a:t>| 고양이 | 사뿐한 발걸음, 꼬리 S자 운동, 가방 흔들림 | 앞발로 편지를 툭 보내기 | 몸을 둥글게 말고 앉음 |</a:t>
            </a:r>
          </a:p>
          <a:p xmlns:a="http://schemas.openxmlformats.org/drawingml/2006/main">
            <a:r>
              <a:t/>
            </a:r>
          </a:p>
          <a:p xmlns:a="http://schemas.openxmlformats.org/drawingml/2006/main">
            <a:r>
              <a:t>펭귄의 지속 공격은 매 회전마다 전신 공격 모션을 반복하지 않는다. 여러 적을 빠르게 맞힐 때 반응 애니메이션이 과도하게 겹치지 않도록 0.3초 이상의 표시 간격을 둔다.</a:t>
            </a:r>
          </a:p>
          <a:p xmlns:a="http://schemas.openxmlformats.org/drawingml/2006/main">
            <a:r>
              <a:t/>
            </a:r>
          </a:p>
          <a:p xmlns:a="http://schemas.openxmlformats.org/drawingml/2006/main">
            <a:r>
              <a:t/>
            </a:r>
          </a:p>
          <a:p xmlns:a="http://schemas.openxmlformats.org/drawingml/2006/main">
            <a:r>
              <a:t/>
            </a:r>
          </a:p>
          <a:p xmlns:a="http://schemas.openxmlformats.org/drawingml/2006/main">
            <a:r>
              <a:t>## 9. 몬스터 애니메이션과 이펙트</a:t>
            </a:r>
          </a:p>
          <a:p xmlns:a="http://schemas.openxmlformats.org/drawingml/2006/main">
            <a:r>
              <a:t/>
            </a:r>
          </a:p>
          <a:p xmlns:a="http://schemas.openxmlformats.org/drawingml/2006/main">
            <a:r>
              <a:t>### 몬스터 상태</a:t>
            </a:r>
          </a:p>
          <a:p xmlns:a="http://schemas.openxmlformats.org/drawingml/2006/main">
            <a:r>
              <a:t/>
            </a:r>
          </a:p>
          <a:p xmlns:a="http://schemas.openxmlformats.org/drawingml/2006/main">
            <a:r>
              <a:t>- 등장: 눈가루·수증기·그림자 안에서 0.25초 동안 나타남. 예고 종료 후 이동과 피격 판정 활성화.</a:t>
            </a:r>
          </a:p>
          <a:p xmlns:a="http://schemas.openxmlformats.org/drawingml/2006/main">
            <a:r>
              <a:t>- 이동: 4프레임 정도의 통통 튀는 루프, 약 0.6~0.9초. 튼튼형은 더 묵직하게 움직임.</a:t>
            </a:r>
          </a:p>
          <a:p xmlns:a="http://schemas.openxmlformats.org/drawingml/2006/main">
            <a:r>
              <a:t>- 피격: 약 0.08초 밝아짐 + 0.12초 형태 수축·복원 + 짧은 넉백.</a:t>
            </a:r>
          </a:p>
          <a:p xmlns:a="http://schemas.openxmlformats.org/drawingml/2006/main">
            <a:r>
              <a:t>- 처치: 약 0.25초 동안 작아지며 씬별 입자로 흩어짐. 시체나 바닥 얼룩을 남기지 않음.</a:t>
            </a:r>
          </a:p>
          <a:p xmlns:a="http://schemas.openxmlformats.org/drawingml/2006/main">
            <a:r>
              <a:t>- 일반 피격은 셰이더·크기 변화로 처리할 수 있어 적마다 별도 피격 프레임을 요구하지 않는다.</a:t>
            </a:r>
          </a:p>
          <a:p xmlns:a="http://schemas.openxmlformats.org/drawingml/2006/main">
            <a:r>
              <a:t/>
            </a:r>
          </a:p>
          <a:p xmlns:a="http://schemas.openxmlformats.org/drawingml/2006/main">
            <a:r>
              <a:t>### 이펙트 목록</a:t>
            </a:r>
          </a:p>
          <a:p xmlns:a="http://schemas.openxmlformats.org/drawingml/2006/main">
            <a:r>
              <a:t/>
            </a:r>
          </a:p>
          <a:p xmlns:a="http://schemas.openxmlformats.org/drawingml/2006/main">
            <a:r>
              <a:t>| 이벤트 | 펭귄 | 카피바라 | 고양이 | 표현 규칙 |</a:t>
            </a:r>
          </a:p>
          <a:p xmlns:a="http://schemas.openxmlformats.org/drawingml/2006/main">
            <a:r>
              <a:t>|---|---|---|---|---|</a:t>
            </a:r>
          </a:p>
          <a:p xmlns:a="http://schemas.openxmlformats.org/drawingml/2006/main">
            <a:r>
              <a:t>| 이동 흔적 | 옅은 눈 발자국 | 작은 먼지·온기 점 | 작은 먼지 | 0.4~0.8초 안에 소멸 |</a:t>
            </a:r>
          </a:p>
          <a:p xmlns:a="http://schemas.openxmlformats.org/drawingml/2006/main">
            <a:r>
              <a:t>| 공격 준비 | 지속 눈꽃의 은은한 빛 | 방울이 모임 | 편지 끝 별빛 | 적의 공격처럼 보이지 않게 |</a:t>
            </a:r>
          </a:p>
          <a:p xmlns:a="http://schemas.openxmlformats.org/drawingml/2006/main">
            <a:r>
              <a:t>| 공격 본체 | 청백색 눈꽃 | 반투명 금빛 방울 고리 | 크림색 편지와 별 꼬리 | 판정과 위치·타이밍 일치 |</a:t>
            </a:r>
          </a:p>
          <a:p xmlns:a="http://schemas.openxmlformats.org/drawingml/2006/main">
            <a:r>
              <a:t>| 적 명중 | 얼음 조각 4~6개 | 작은 방울 4~6개 | 작은 별 4~6개 | 약 0.2초 |</a:t>
            </a:r>
          </a:p>
          <a:p xmlns:a="http://schemas.openxmlformats.org/drawingml/2006/main">
            <a:r>
              <a:t>| 적 처치 | 눈가루 | 따뜻한 김 | 라벤더 빛가루 | 약 0.25초 |</a:t>
            </a:r>
          </a:p>
          <a:p xmlns:a="http://schemas.openxmlformats.org/drawingml/2006/main">
            <a:r>
              <a:t>| 플레이어 피격 | 공통 작은 충격선, 체력 아이콘 반응 | 공통 | 공통 | 무적과 구분 가능하게 |</a:t>
            </a:r>
          </a:p>
          <a:p xmlns:a="http://schemas.openxmlformats.org/drawingml/2006/main">
            <a:r>
              <a:t>| 최고 기록 | 결과 패널의 작은 반짝임 | 공통 | 공통 | 약 1초, 반복하지 않음 |</a:t>
            </a:r>
          </a:p>
          <a:p xmlns:a="http://schemas.openxmlformats.org/drawingml/2006/main">
            <a:r>
              <a:t/>
            </a:r>
          </a:p>
          <a:p xmlns:a="http://schemas.openxmlformats.org/drawingml/2006/main">
            <a:r>
              <a:t>- 피격·처치 연출이 함께 발생하면 입자를 합쳐 과도하게 겹치지 않게 한다.</a:t>
            </a:r>
          </a:p>
          <a:p xmlns:a="http://schemas.openxmlformats.org/drawingml/2006/main">
            <a:r>
              <a:t>- 화면 전체 흰색 플래시와 지속적인 카메라 흔들림은 사용하지 않는다. 고정 카메라와 캐릭터 자체 반응으로 타격감을 만든다.</a:t>
            </a:r>
          </a:p>
          <a:p xmlns:a="http://schemas.openxmlformats.org/drawingml/2006/main">
            <a:r>
              <a:t>- 공격의 장식 입자는 충돌 판정이 없다. 실제 판정은 눈꽃·편지·확산 파동에만 있다.</a:t>
            </a:r>
          </a:p>
          <a:p xmlns:a="http://schemas.openxmlformats.org/drawingml/2006/main">
            <a:r>
              <a:t>- 입자는 동시에 약 200개를 상한으로 두고, 넘으면 오래된 장식 입자부터 생략한다. 전투 판정과 공격 본체는 생략하지 않는다.</a:t>
            </a:r>
          </a:p>
          <a:p xmlns:a="http://schemas.openxmlformats.org/drawingml/2006/main">
            <a:r>
              <a:t>- 발자국은 최대 40개. 사라지는 효과는 재사용하고 무한히 쌓이지 않게 한다.</a:t>
            </a:r>
          </a:p>
          <a:p xmlns:a="http://schemas.openxmlformats.org/drawingml/2006/main">
            <a:r>
              <a:t/>
            </a:r>
          </a:p>
          <a:p xmlns:a="http://schemas.openxmlformats.org/drawingml/2006/main">
            <a:r>
              <a:t>### 환경 애니메이션</a:t>
            </a:r>
          </a:p>
          <a:p xmlns:a="http://schemas.openxmlformats.org/drawingml/2006/main">
            <a:r>
              <a:t/>
            </a:r>
          </a:p>
          <a:p xmlns:a="http://schemas.openxmlformats.org/drawingml/2006/main">
            <a:r>
              <a:t>- 펭귄: 오로라가 천천히 흐르고, 가장자리 전나무에 약한 눈가루가 떨어진다.</a:t>
            </a:r>
          </a:p>
          <a:p xmlns:a="http://schemas.openxmlformats.org/drawingml/2006/main">
            <a:r>
              <a:t>- 카피바라: 탕에서 수증기가 올라오고, 물 표면이 은은하게 흔들린다.</a:t>
            </a:r>
          </a:p>
          <a:p xmlns:a="http://schemas.openxmlformats.org/drawingml/2006/main">
            <a:r>
              <a:t>- 고양이: 랜턴이 천천히 밝아졌다 어두워지고, 가장자리 반딧불이 움직인다.</a:t>
            </a:r>
          </a:p>
          <a:p xmlns:a="http://schemas.openxmlformats.org/drawingml/2006/main">
            <a:r>
              <a:t>- 환경 효과는 바닥의 적과 공격보다 낮은 대비로 표시한다. 플레이 영역 중앙의 짙은 안개나 큰 가림 요소는 없다.</a:t>
            </a:r>
          </a:p>
          <a:p xmlns:a="http://schemas.openxmlformats.org/drawingml/2006/main">
            <a:r>
              <a:t>- 전경 장식은 플레이 가능 영역을 가리지 않는다. 배경 건물과 물에는 복잡한 충돌을 넣지 않고 외곽 경계로 정리한다.</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문서 기준: 사용자 검토용 프로토타입 개발 기획 v0.2, 2026-09-10. 수치는 별도 명시가 없으면 초기 구현 제안값이다.</a:t>
            </a:r>
          </a:p>
          <a:p xmlns:a="http://schemas.openxmlformats.org/drawingml/2006/main">
            <a:r>
              <a:t/>
            </a:r>
          </a:p>
          <a:p xmlns:a="http://schemas.openxmlformats.org/drawingml/2006/main">
            <a:r>
              <a:t>기획 원문: output/animal-survivors-prototype-v0.1.md</a:t>
            </a:r>
          </a:p>
          <a:p xmlns:a="http://schemas.openxmlformats.org/drawingml/2006/main">
            <a:r>
              <a:t/>
            </a:r>
          </a:p>
          <a:p xmlns:a="http://schemas.openxmlformats.org/drawingml/2006/main">
            <a:r>
              <a:t>## 8. 캐릭터 애니메이션 명세</a:t>
            </a:r>
          </a:p>
          <a:p xmlns:a="http://schemas.openxmlformats.org/drawingml/2006/main">
            <a:r>
              <a:t/>
            </a:r>
          </a:p>
          <a:p xmlns:a="http://schemas.openxmlformats.org/drawingml/2006/main">
            <a:r>
              <a:t>전투 반응은 짧고 또렷하게, 환경 움직임은 느리고 은은하게 만든다. 아래 시간은 실제 게임 동작 시간이며, 일시정지 시 함께 멈춘다.</a:t>
            </a:r>
          </a:p>
          <a:p xmlns:a="http://schemas.openxmlformats.org/drawingml/2006/main">
            <a:r>
              <a:t/>
            </a:r>
          </a:p>
          <a:p xmlns:a="http://schemas.openxmlformats.org/drawingml/2006/main">
            <a:r>
              <a:t>| 상태 | 공통 동작 | 권장 길이·제작 기준 |</a:t>
            </a:r>
          </a:p>
          <a:p xmlns:a="http://schemas.openxmlformats.org/drawingml/2006/main">
            <a:r>
              <a:t>|---|---|---|</a:t>
            </a:r>
          </a:p>
          <a:p xmlns:a="http://schemas.openxmlformats.org/drawingml/2006/main">
            <a:r>
              <a:t>| 대기 | 약한 호흡, 간헐적 눈 깜박임 | 4프레임, 1.0초 루프 |</a:t>
            </a:r>
          </a:p>
          <a:p xmlns:a="http://schemas.openxmlformats.org/drawingml/2006/main">
            <a:r>
              <a:t>| 걷기 | 발 교대, 몸의 상하 운동, 부속물 흔들림 | 6프레임, 약 0.6초 루프 |</a:t>
            </a:r>
          </a:p>
          <a:p xmlns:a="http://schemas.openxmlformats.org/drawingml/2006/main">
            <a:r>
              <a:t>| 공격 | 작은 준비 동작과 즉시 복귀, 이동 가능 | 3프레임, 0.18~0.25초 |</a:t>
            </a:r>
          </a:p>
          <a:p xmlns:a="http://schemas.openxmlformats.org/drawingml/2006/main">
            <a:r>
              <a:t>| 피격 | 짧은 수축, 표정 변화, 순간 밝아짐 | 2프레임, 약 0.15초 |</a:t>
            </a:r>
          </a:p>
          <a:p xmlns:a="http://schemas.openxmlformats.org/drawingml/2006/main">
            <a:r>
              <a:t>| 탈진 | 힘이 풀려 앉고 눈을 감음 | 4프레임, 약 0.6초, 마지막 자세 유지 |</a:t>
            </a:r>
          </a:p>
          <a:p xmlns:a="http://schemas.openxmlformats.org/drawingml/2006/main">
            <a:r>
              <a:t>| 선택 반응 | 가벼운 점프나 손 흔들기 | 4프레임, 약 0.5초 |</a:t>
            </a:r>
          </a:p>
          <a:p xmlns:a="http://schemas.openxmlformats.org/drawingml/2006/main">
            <a:r>
              <a:t/>
            </a:r>
          </a:p>
          <a:p xmlns:a="http://schemas.openxmlformats.org/drawingml/2006/main">
            <a:r>
              <a:t>- 캐릭터마다 1개의 기본 방향 세트를 만들고 좌우는 반전한다. 가방·목도리 등의 반전은 이번 버전에서 허용한다.</a:t>
            </a:r>
          </a:p>
          <a:p xmlns:a="http://schemas.openxmlformats.org/drawingml/2006/main">
            <a:r>
              <a:t>- 기본 예상 분량은 캐릭터당 23프레임, 3종 합계 69프레임이다. 공통 포즈 재사용은 가능하다.</a:t>
            </a:r>
          </a:p>
          <a:p xmlns:a="http://schemas.openxmlformats.org/drawingml/2006/main">
            <a:r>
              <a:t>- 픽셀 씬은 회전·보간으로 선이 흐려지지 않게 주의한다. 보조 움직임도 픽셀 느낌을 유지한다.</a:t>
            </a:r>
          </a:p>
          <a:p xmlns:a="http://schemas.openxmlformats.org/drawingml/2006/main">
            <a:r>
              <a:t>- 걷기 애니메이션은 실제 이동량에 맞춰 재생한다. 벽을 향해 입력해도 실제로 정지했다면 발만 계속 걷지 않게 한다.</a:t>
            </a:r>
          </a:p>
          <a:p xmlns:a="http://schemas.openxmlformats.org/drawingml/2006/main">
            <a:r>
              <a:t>- 피격이나 공격 때문에 입력을 무시하거나 긴 동작 잠금을 걸지 않는다. 탈진 상태만 조작을 막는다.</a:t>
            </a:r>
          </a:p>
          <a:p xmlns:a="http://schemas.openxmlformats.org/drawingml/2006/main">
            <a:r>
              <a:t>- 우선순위: 탈진 &gt; 피격 반응 &gt; 공격 보조 동작 &gt; 걷기·대기. 발의 이동 루프와 공격 이펙트는 동시에 실행할 수 있다.</a:t>
            </a:r>
          </a:p>
          <a:p xmlns:a="http://schemas.openxmlformats.org/drawingml/2006/main">
            <a:r>
              <a:t/>
            </a:r>
          </a:p>
          <a:p xmlns:a="http://schemas.openxmlformats.org/drawingml/2006/main">
            <a:r>
              <a:t>### 동물별 움직임 차이</a:t>
            </a:r>
          </a:p>
          <a:p xmlns:a="http://schemas.openxmlformats.org/drawingml/2006/main">
            <a:r>
              <a:t/>
            </a:r>
          </a:p>
          <a:p xmlns:a="http://schemas.openxmlformats.org/drawingml/2006/main">
            <a:r>
              <a:t>| 동물 | 대기·걷기 | 공격 | 탈진 |</a:t>
            </a:r>
          </a:p>
          <a:p xmlns:a="http://schemas.openxmlformats.org/drawingml/2006/main">
            <a:r>
              <a:t>|---|---|---|---|</a:t>
            </a:r>
          </a:p>
          <a:p xmlns:a="http://schemas.openxmlformats.org/drawingml/2006/main">
            <a:r>
              <a:t>| 펭귄 | 좌우 뒤뚱거림, 발 교대, 목도리 지연 흔들림 | 회전 눈꽃 유지, 적중 시 날개·눈꽃의 작은 반응 | 배를 대고 편하게 엎드림 |</a:t>
            </a:r>
          </a:p>
          <a:p xmlns:a="http://schemas.openxmlformats.org/drawingml/2006/main">
            <a:r>
              <a:t>| 카피바라 | 몸통의 느린 상하 운동, 머리 유자의 작은 흔들림 | 볼과 몸이 살짝 부풀었다 복귀 | 다리를 접고 앉아 눈을 감음 |</a:t>
            </a:r>
          </a:p>
          <a:p xmlns:a="http://schemas.openxmlformats.org/drawingml/2006/main">
            <a:r>
              <a:t>| 고양이 | 사뿐한 발걸음, 꼬리 S자 운동, 가방 흔들림 | 앞발로 편지를 툭 보내기 | 몸을 둥글게 말고 앉음 |</a:t>
            </a:r>
          </a:p>
          <a:p xmlns:a="http://schemas.openxmlformats.org/drawingml/2006/main">
            <a:r>
              <a:t/>
            </a:r>
          </a:p>
          <a:p xmlns:a="http://schemas.openxmlformats.org/drawingml/2006/main">
            <a:r>
              <a:t>펭귄의 지속 공격은 매 회전마다 전신 공격 모션을 반복하지 않는다. 여러 적을 빠르게 맞힐 때 반응 애니메이션이 과도하게 겹치지 않도록 0.3초 이상의 표시 간격을 둔다.</a:t>
            </a:r>
          </a:p>
          <a:p xmlns:a="http://schemas.openxmlformats.org/drawingml/2006/main">
            <a:r>
              <a:t/>
            </a:r>
          </a:p>
          <a:p xmlns:a="http://schemas.openxmlformats.org/drawingml/2006/main">
            <a:r>
              <a:t/>
            </a:r>
          </a:p>
          <a:p xmlns:a="http://schemas.openxmlformats.org/drawingml/2006/main">
            <a:r>
              <a:t/>
            </a:r>
          </a:p>
          <a:p xmlns:a="http://schemas.openxmlformats.org/drawingml/2006/main">
            <a:r>
              <a:t>## 11. 필요한 제작 에셋</a:t>
            </a:r>
          </a:p>
          <a:p xmlns:a="http://schemas.openxmlformats.org/drawingml/2006/main">
            <a:r>
              <a:t/>
            </a:r>
          </a:p>
          <a:p xmlns:a="http://schemas.openxmlformats.org/drawingml/2006/main">
            <a:r>
              <a:t>| 분류 | 예상 수량 | 내용 |</a:t>
            </a:r>
          </a:p>
          <a:p xmlns:a="http://schemas.openxmlformats.org/drawingml/2006/main">
            <a:r>
              <a:t>|---|---:|---|</a:t>
            </a:r>
          </a:p>
          <a:p xmlns:a="http://schemas.openxmlformats.org/drawingml/2006/main">
            <a:r>
              <a:t>| 캐릭터 선택 카드 | 3 | 각 동물·배경, 이름과 기록 표시 공간 |</a:t>
            </a:r>
          </a:p>
          <a:p xmlns:a="http://schemas.openxmlformats.org/drawingml/2006/main">
            <a:r>
              <a:t>| 플레이 배경 세트 | 3 | 바닥·외곽 장식·환경 효과 분리 |</a:t>
            </a:r>
          </a:p>
          <a:p xmlns:a="http://schemas.openxmlformats.org/drawingml/2006/main">
            <a:r>
              <a:t>| 주인공 애니메이션 세트 | 3 | 캐릭터당 대기·걷기·공격·피격·탈진·선택 반응 |</a:t>
            </a:r>
          </a:p>
          <a:p xmlns:a="http://schemas.openxmlformats.org/drawingml/2006/main">
            <a:r>
              <a:t>| 몬스터 외형 | 6 | 씬당 기본형·튼튼형, 이동 루프 |</a:t>
            </a:r>
          </a:p>
          <a:p xmlns:a="http://schemas.openxmlformats.org/drawingml/2006/main">
            <a:r>
              <a:t>| 공격 세트 | 3 | 눈꽃·파동·편지 및 충돌에 맞는 이펙트 |</a:t>
            </a:r>
          </a:p>
          <a:p xmlns:a="http://schemas.openxmlformats.org/drawingml/2006/main">
            <a:r>
              <a:t>| 씬별 피격·처치 입자 | 3 | 공통 기능에 색·모양만 다르게 적용 |</a:t>
            </a:r>
          </a:p>
          <a:p xmlns:a="http://schemas.openxmlformats.org/drawingml/2006/main">
            <a:r>
              <a:t>| 공통 UI | 1세트 | 체력, 점수, 시간, 버튼, 일시정지, 결과 |</a:t>
            </a:r>
          </a:p>
          <a:p xmlns:a="http://schemas.openxmlformats.org/drawingml/2006/main">
            <a:r>
              <a:t>| 음악 | 인트로 1 + 씬 3 | 프로토타입 사용 권한이 확보된 루프 |</a:t>
            </a:r>
          </a:p>
          <a:p xmlns:a="http://schemas.openxmlformats.org/drawingml/2006/main">
            <a:r>
              <a:t>| 효과음 | 공통 + 캐릭터별 | 선택·공격·명중·피격·처치·결과 |</a:t>
            </a:r>
          </a:p>
          <a:p xmlns:a="http://schemas.openxmlformats.org/drawingml/2006/main">
            <a:r>
              <a:t/>
            </a:r>
          </a:p>
          <a:p xmlns:a="http://schemas.openxmlformats.org/drawingml/2006/main">
            <a:r>
              <a:t>주인공 표시 높이는 약 56~64px, 기본 적은 32~40px, 튼튼형은 44~54px에서 시작한다. 원본 에셋 해상도는 화풍에 따라 다를 수 있으나 게임 안의 실루엣 크기는 비슷하게 맞춘다. 충돌 원은 이미지 크기와 별도로 관리한다.</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문서 기준: 사용자 검토용 프로토타입 개발 기획 v0.2, 2026-09-10. 수치는 별도 명시가 없으면 초기 구현 제안값이다.</a:t>
            </a:r>
          </a:p>
          <a:p xmlns:a="http://schemas.openxmlformats.org/drawingml/2006/main">
            <a:r>
              <a:t/>
            </a:r>
          </a:p>
          <a:p xmlns:a="http://schemas.openxmlformats.org/drawingml/2006/main">
            <a:r>
              <a:t>기획 원문: output/animal-survivors-prototype-v0.1.md</a:t>
            </a:r>
          </a:p>
          <a:p xmlns:a="http://schemas.openxmlformats.org/drawingml/2006/main">
            <a:r>
              <a:t/>
            </a:r>
          </a:p>
          <a:p xmlns:a="http://schemas.openxmlformats.org/drawingml/2006/main">
            <a:r>
              <a:t>## 9. 몬스터 애니메이션과 이펙트</a:t>
            </a:r>
          </a:p>
          <a:p xmlns:a="http://schemas.openxmlformats.org/drawingml/2006/main">
            <a:r>
              <a:t/>
            </a:r>
          </a:p>
          <a:p xmlns:a="http://schemas.openxmlformats.org/drawingml/2006/main">
            <a:r>
              <a:t>### 몬스터 상태</a:t>
            </a:r>
          </a:p>
          <a:p xmlns:a="http://schemas.openxmlformats.org/drawingml/2006/main">
            <a:r>
              <a:t/>
            </a:r>
          </a:p>
          <a:p xmlns:a="http://schemas.openxmlformats.org/drawingml/2006/main">
            <a:r>
              <a:t>- 등장: 눈가루·수증기·그림자 안에서 0.25초 동안 나타남. 예고 종료 후 이동과 피격 판정 활성화.</a:t>
            </a:r>
          </a:p>
          <a:p xmlns:a="http://schemas.openxmlformats.org/drawingml/2006/main">
            <a:r>
              <a:t>- 이동: 4프레임 정도의 통통 튀는 루프, 약 0.6~0.9초. 튼튼형은 더 묵직하게 움직임.</a:t>
            </a:r>
          </a:p>
          <a:p xmlns:a="http://schemas.openxmlformats.org/drawingml/2006/main">
            <a:r>
              <a:t>- 피격: 약 0.08초 밝아짐 + 0.12초 형태 수축·복원 + 짧은 넉백.</a:t>
            </a:r>
          </a:p>
          <a:p xmlns:a="http://schemas.openxmlformats.org/drawingml/2006/main">
            <a:r>
              <a:t>- 처치: 약 0.25초 동안 작아지며 씬별 입자로 흩어짐. 시체나 바닥 얼룩을 남기지 않음.</a:t>
            </a:r>
          </a:p>
          <a:p xmlns:a="http://schemas.openxmlformats.org/drawingml/2006/main">
            <a:r>
              <a:t>- 일반 피격은 셰이더·크기 변화로 처리할 수 있어 적마다 별도 피격 프레임을 요구하지 않는다.</a:t>
            </a:r>
          </a:p>
          <a:p xmlns:a="http://schemas.openxmlformats.org/drawingml/2006/main">
            <a:r>
              <a:t/>
            </a:r>
          </a:p>
          <a:p xmlns:a="http://schemas.openxmlformats.org/drawingml/2006/main">
            <a:r>
              <a:t>### 이펙트 목록</a:t>
            </a:r>
          </a:p>
          <a:p xmlns:a="http://schemas.openxmlformats.org/drawingml/2006/main">
            <a:r>
              <a:t/>
            </a:r>
          </a:p>
          <a:p xmlns:a="http://schemas.openxmlformats.org/drawingml/2006/main">
            <a:r>
              <a:t>| 이벤트 | 펭귄 | 카피바라 | 고양이 | 표현 규칙 |</a:t>
            </a:r>
          </a:p>
          <a:p xmlns:a="http://schemas.openxmlformats.org/drawingml/2006/main">
            <a:r>
              <a:t>|---|---|---|---|---|</a:t>
            </a:r>
          </a:p>
          <a:p xmlns:a="http://schemas.openxmlformats.org/drawingml/2006/main">
            <a:r>
              <a:t>| 이동 흔적 | 옅은 눈 발자국 | 작은 먼지·온기 점 | 작은 먼지 | 0.4~0.8초 안에 소멸 |</a:t>
            </a:r>
          </a:p>
          <a:p xmlns:a="http://schemas.openxmlformats.org/drawingml/2006/main">
            <a:r>
              <a:t>| 공격 준비 | 지속 눈꽃의 은은한 빛 | 방울이 모임 | 편지 끝 별빛 | 적의 공격처럼 보이지 않게 |</a:t>
            </a:r>
          </a:p>
          <a:p xmlns:a="http://schemas.openxmlformats.org/drawingml/2006/main">
            <a:r>
              <a:t>| 공격 본체 | 청백색 눈꽃 | 반투명 금빛 방울 고리 | 크림색 편지와 별 꼬리 | 판정과 위치·타이밍 일치 |</a:t>
            </a:r>
          </a:p>
          <a:p xmlns:a="http://schemas.openxmlformats.org/drawingml/2006/main">
            <a:r>
              <a:t>| 적 명중 | 얼음 조각 4~6개 | 작은 방울 4~6개 | 작은 별 4~6개 | 약 0.2초 |</a:t>
            </a:r>
          </a:p>
          <a:p xmlns:a="http://schemas.openxmlformats.org/drawingml/2006/main">
            <a:r>
              <a:t>| 적 처치 | 눈가루 | 따뜻한 김 | 라벤더 빛가루 | 약 0.25초 |</a:t>
            </a:r>
          </a:p>
          <a:p xmlns:a="http://schemas.openxmlformats.org/drawingml/2006/main">
            <a:r>
              <a:t>| 플레이어 피격 | 공통 작은 충격선, 체력 아이콘 반응 | 공통 | 공통 | 무적과 구분 가능하게 |</a:t>
            </a:r>
          </a:p>
          <a:p xmlns:a="http://schemas.openxmlformats.org/drawingml/2006/main">
            <a:r>
              <a:t>| 최고 기록 | 결과 패널의 작은 반짝임 | 공통 | 공통 | 약 1초, 반복하지 않음 |</a:t>
            </a:r>
          </a:p>
          <a:p xmlns:a="http://schemas.openxmlformats.org/drawingml/2006/main">
            <a:r>
              <a:t/>
            </a:r>
          </a:p>
          <a:p xmlns:a="http://schemas.openxmlformats.org/drawingml/2006/main">
            <a:r>
              <a:t>- 피격·처치 연출이 함께 발생하면 입자를 합쳐 과도하게 겹치지 않게 한다.</a:t>
            </a:r>
          </a:p>
          <a:p xmlns:a="http://schemas.openxmlformats.org/drawingml/2006/main">
            <a:r>
              <a:t>- 화면 전체 흰색 플래시와 지속적인 카메라 흔들림은 사용하지 않는다. 고정 카메라와 캐릭터 자체 반응으로 타격감을 만든다.</a:t>
            </a:r>
          </a:p>
          <a:p xmlns:a="http://schemas.openxmlformats.org/drawingml/2006/main">
            <a:r>
              <a:t>- 공격의 장식 입자는 충돌 판정이 없다. 실제 판정은 눈꽃·편지·확산 파동에만 있다.</a:t>
            </a:r>
          </a:p>
          <a:p xmlns:a="http://schemas.openxmlformats.org/drawingml/2006/main">
            <a:r>
              <a:t>- 입자는 동시에 약 200개를 상한으로 두고, 넘으면 오래된 장식 입자부터 생략한다. 전투 판정과 공격 본체는 생략하지 않는다.</a:t>
            </a:r>
          </a:p>
          <a:p xmlns:a="http://schemas.openxmlformats.org/drawingml/2006/main">
            <a:r>
              <a:t>- 발자국은 최대 40개. 사라지는 효과는 재사용하고 무한히 쌓이지 않게 한다.</a:t>
            </a:r>
          </a:p>
          <a:p xmlns:a="http://schemas.openxmlformats.org/drawingml/2006/main">
            <a:r>
              <a:t/>
            </a:r>
          </a:p>
          <a:p xmlns:a="http://schemas.openxmlformats.org/drawingml/2006/main">
            <a:r>
              <a:t>### 환경 애니메이션</a:t>
            </a:r>
          </a:p>
          <a:p xmlns:a="http://schemas.openxmlformats.org/drawingml/2006/main">
            <a:r>
              <a:t/>
            </a:r>
          </a:p>
          <a:p xmlns:a="http://schemas.openxmlformats.org/drawingml/2006/main">
            <a:r>
              <a:t>- 펭귄: 오로라가 천천히 흐르고, 가장자리 전나무에 약한 눈가루가 떨어진다.</a:t>
            </a:r>
          </a:p>
          <a:p xmlns:a="http://schemas.openxmlformats.org/drawingml/2006/main">
            <a:r>
              <a:t>- 카피바라: 탕에서 수증기가 올라오고, 물 표면이 은은하게 흔들린다.</a:t>
            </a:r>
          </a:p>
          <a:p xmlns:a="http://schemas.openxmlformats.org/drawingml/2006/main">
            <a:r>
              <a:t>- 고양이: 랜턴이 천천히 밝아졌다 어두워지고, 가장자리 반딧불이 움직인다.</a:t>
            </a:r>
          </a:p>
          <a:p xmlns:a="http://schemas.openxmlformats.org/drawingml/2006/main">
            <a:r>
              <a:t>- 환경 효과는 바닥의 적과 공격보다 낮은 대비로 표시한다. 플레이 영역 중앙의 짙은 안개나 큰 가림 요소는 없다.</a:t>
            </a:r>
          </a:p>
          <a:p xmlns:a="http://schemas.openxmlformats.org/drawingml/2006/main">
            <a:r>
              <a:t>- 전경 장식은 플레이 가능 영역을 가리지 않는다. 배경 건물과 물에는 복잡한 충돌을 넣지 않고 외곽 경계로 정리한다.</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문서 기준: 사용자 검토용 프로토타입 개발 기획 v0.2, 2026-09-10. 수치는 별도 명시가 없으면 초기 구현 제안값이다.</a:t>
            </a:r>
          </a:p>
          <a:p xmlns:a="http://schemas.openxmlformats.org/drawingml/2006/main">
            <a:r>
              <a:t/>
            </a:r>
          </a:p>
          <a:p xmlns:a="http://schemas.openxmlformats.org/drawingml/2006/main">
            <a:r>
              <a:t>기획 원문: output/animal-survivors-prototype-v0.1.md</a:t>
            </a:r>
          </a:p>
          <a:p xmlns:a="http://schemas.openxmlformats.org/drawingml/2006/main">
            <a:r>
              <a:t/>
            </a:r>
          </a:p>
          <a:p xmlns:a="http://schemas.openxmlformats.org/drawingml/2006/main">
            <a:r>
              <a:t>## 10. 사운드</a:t>
            </a:r>
          </a:p>
          <a:p xmlns:a="http://schemas.openxmlformats.org/drawingml/2006/main">
            <a:r>
              <a:t/>
            </a:r>
          </a:p>
          <a:p xmlns:a="http://schemas.openxmlformats.org/drawingml/2006/main">
            <a:r>
              <a:t>| 항목 | 방향 |</a:t>
            </a:r>
          </a:p>
          <a:p xmlns:a="http://schemas.openxmlformats.org/drawingml/2006/main">
            <a:r>
              <a:t>|---|---|</a:t>
            </a:r>
          </a:p>
          <a:p xmlns:a="http://schemas.openxmlformats.org/drawingml/2006/main">
            <a:r>
              <a:t>| 인트로 | 짧고 포근한 공통 테마 |</a:t>
            </a:r>
          </a:p>
          <a:p xmlns:a="http://schemas.openxmlformats.org/drawingml/2006/main">
            <a:r>
              <a:t>| 펭귄 BGM | 맑은 벨·가벼운 건반 중심 루프 |</a:t>
            </a:r>
          </a:p>
          <a:p xmlns:a="http://schemas.openxmlformats.org/drawingml/2006/main">
            <a:r>
              <a:t>| 카피바라 BGM | 부드러운 타악·따뜻한 현 중심 루프 |</a:t>
            </a:r>
          </a:p>
          <a:p xmlns:a="http://schemas.openxmlformats.org/drawingml/2006/main">
            <a:r>
              <a:t>| 고양이 BGM | 잔잔한 건반·작은 반짝임 중심 루프 |</a:t>
            </a:r>
          </a:p>
          <a:p xmlns:a="http://schemas.openxmlformats.org/drawingml/2006/main">
            <a:r>
              <a:t>| 공격 | 눈꽃 찰랑 / 방울 퐁 / 종이 슝 |</a:t>
            </a:r>
          </a:p>
          <a:p xmlns:a="http://schemas.openxmlformats.org/drawingml/2006/main">
            <a:r>
              <a:t>| 적 피격·처치 | 낮은 볼륨의 짧고 둥근 소리 |</a:t>
            </a:r>
          </a:p>
          <a:p xmlns:a="http://schemas.openxmlformats.org/drawingml/2006/main">
            <a:r>
              <a:t>| 플레이어 피격 | 적 피격음과 구별되는 짧은 알림 |</a:t>
            </a:r>
          </a:p>
          <a:p xmlns:a="http://schemas.openxmlformats.org/drawingml/2006/main">
            <a:r>
              <a:t>| 결과·신기록 | 짧은 마무리음 / 별도 축하음 |</a:t>
            </a:r>
          </a:p>
          <a:p xmlns:a="http://schemas.openxmlformats.org/drawingml/2006/main">
            <a:r>
              <a:t/>
            </a:r>
          </a:p>
          <a:p xmlns:a="http://schemas.openxmlformats.org/drawingml/2006/main">
            <a:r>
              <a:t>- 음악은 반복 경계가 튀지 않게 하고, 효과음이 음악보다 지나치게 크지 않게 조정한다.</a:t>
            </a:r>
          </a:p>
          <a:p xmlns:a="http://schemas.openxmlformats.org/drawingml/2006/main">
            <a:r>
              <a:t>- 적 타격음은 0.08초 안의 다중 이벤트를 묶고 동시 재생 수도 제한한다.</a:t>
            </a:r>
          </a:p>
          <a:p xmlns:a="http://schemas.openxmlformats.org/drawingml/2006/main">
            <a:r>
              <a:t>- 발소리는 다수 타격음과 겹치지 않도록 아주 작게 쓰거나 첫 버전에서 생략한다.</a:t>
            </a:r>
          </a:p>
          <a:p xmlns:a="http://schemas.openxmlformats.org/drawingml/2006/main">
            <a:r>
              <a:t>- 음소거 설정은 인트로와 일시정지 화면에서 바꿀 수 있고 로컬에 저장한다.</a:t>
            </a:r>
          </a:p>
          <a:p xmlns:a="http://schemas.openxmlformats.org/drawingml/2006/main">
            <a:r>
              <a:t>- 브라우저 탭이 숨겨지면 게임과 오디오를 일시정지한다. 돌아왔을 때는 사용자가 계속하기를 눌러 재개한다.</a:t>
            </a:r>
          </a:p>
          <a:p xmlns:a="http://schemas.openxmlformats.org/drawingml/2006/main">
            <a:r>
              <a:t/>
            </a:r>
          </a:p>
          <a:p xmlns:a="http://schemas.openxmlformats.org/drawingml/2006/main">
            <a:r>
              <a:t/>
            </a:r>
          </a:p>
          <a:p xmlns:a="http://schemas.openxmlformats.org/drawingml/2006/main">
            <a:r>
              <a:t/>
            </a:r>
          </a:p>
          <a:p xmlns:a="http://schemas.openxmlformats.org/drawingml/2006/main">
            <a:r>
              <a:t>## 12. 구현 구조 제안</a:t>
            </a:r>
          </a:p>
          <a:p xmlns:a="http://schemas.openxmlformats.org/drawingml/2006/main">
            <a:r>
              <a:t/>
            </a:r>
          </a:p>
          <a:p xmlns:a="http://schemas.openxmlformats.org/drawingml/2006/main">
            <a:r>
              <a:t>엔진과 라이브러리는 구현 단계에서 결정한다. 아래는 특정 엔진에 의존하지 않는 책임 분리다.</a:t>
            </a:r>
          </a:p>
          <a:p xmlns:a="http://schemas.openxmlformats.org/drawingml/2006/main">
            <a:r>
              <a:t/>
            </a:r>
          </a:p>
          <a:p xmlns:a="http://schemas.openxmlformats.org/drawingml/2006/main">
            <a:r>
              <a:t>| 구성 | 책임 |</a:t>
            </a:r>
          </a:p>
          <a:p xmlns:a="http://schemas.openxmlformats.org/drawingml/2006/main">
            <a:r>
              <a:t>|---|---|</a:t>
            </a:r>
          </a:p>
          <a:p xmlns:a="http://schemas.openxmlformats.org/drawingml/2006/main">
            <a:r>
              <a:t>| Intro | 카드 선택, 캐릭터 최고 기록, 진입 전환 |</a:t>
            </a:r>
          </a:p>
          <a:p xmlns:a="http://schemas.openxmlformats.org/drawingml/2006/main">
            <a:r>
              <a:t>| Play 공통 | 이동, 체력, 충돌, 시간, 점수, 종료 |</a:t>
            </a:r>
          </a:p>
          <a:p xmlns:a="http://schemas.openxmlformats.org/drawingml/2006/main">
            <a:r>
              <a:t>| Penguin / Capybara / Cat 씬 설정 | 배경·스프라이트·음악·공격 설정 연결 |</a:t>
            </a:r>
          </a:p>
          <a:p xmlns:a="http://schemas.openxmlformats.org/drawingml/2006/main">
            <a:r>
              <a:t>| Attack | 회전형·파동형·투사체형 공격 실행 |</a:t>
            </a:r>
          </a:p>
          <a:p xmlns:a="http://schemas.openxmlformats.org/drawingml/2006/main">
            <a:r>
              <a:t>| Enemy / Spawn | 적 이동, 등장 곡선, 활성 수 제한 |</a:t>
            </a:r>
          </a:p>
          <a:p xmlns:a="http://schemas.openxmlformats.org/drawingml/2006/main">
            <a:r>
              <a:t>| Effects / Audio | 표시·음향 이벤트와 재사용·동시 수 제한 |</a:t>
            </a:r>
          </a:p>
          <a:p xmlns:a="http://schemas.openxmlformats.org/drawingml/2006/main">
            <a:r>
              <a:t>| HUD / Pause / Result | 상태 표시, 재시작·선택 화면 복귀 |</a:t>
            </a:r>
          </a:p>
          <a:p xmlns:a="http://schemas.openxmlformats.org/drawingml/2006/main">
            <a:r>
              <a:t>| Local Records | 캐릭터별 최고 점수, 소리 설정 |</a:t>
            </a:r>
          </a:p>
          <a:p xmlns:a="http://schemas.openxmlformats.org/drawingml/2006/main">
            <a:r>
              <a:t/>
            </a:r>
          </a:p>
          <a:p xmlns:a="http://schemas.openxmlformats.org/drawingml/2006/main">
            <a:r>
              <a:t>- 세 씬을 복사한 별도 게임 코드로 만들지 않는다. 공통 기능을 공유하면서 캐릭터별 씬은 개별 진입점과 설정을 가진다.</a:t>
            </a:r>
          </a:p>
          <a:p xmlns:a="http://schemas.openxmlformats.org/drawingml/2006/main">
            <a:r>
              <a:t>- 공격 수치, 적 수치, 생성 시간표는 코드 곳곳의 숫자 대신 수정 가능한 설정 데이터에 모은다.</a:t>
            </a:r>
          </a:p>
          <a:p xmlns:a="http://schemas.openxmlformats.org/drawingml/2006/main">
            <a:r>
              <a:t>- 실행 상태는 `INTRO / PLAYING / PAUSED / GAME_OVER`를 명확히 구분한다. 전환 연출 중에는 중복 시작·재시작을 막는다.</a:t>
            </a:r>
          </a:p>
          <a:p xmlns:a="http://schemas.openxmlformats.org/drawingml/2006/main">
            <a:r>
              <a:t>- 점수 지급, 피격, 사망은 상태 검사를 통해 한 번만 처리한다.</a:t>
            </a:r>
          </a:p>
          <a:p xmlns:a="http://schemas.openxmlformats.org/drawingml/2006/main">
            <a:r>
              <a:t>- 프레임 속도가 달라도 이동·공격·생성 시간이 같도록 시간 기준으로 갱신한다. 탭 복귀 시 지난 시간을 한 번에 따라잡으며 적을 대량 생성하지 않는다.</a:t>
            </a:r>
          </a:p>
          <a:p xmlns:a="http://schemas.openxmlformats.org/drawingml/2006/main">
            <a:r>
              <a:t>- 적·투사체·입자는 풀링 또는 동등한 재사용 전략을 적용한다. 씬 종료 시 타이머·오디오·입력·이펙트를 정리한다.</a:t>
            </a:r>
          </a:p>
          <a:p xmlns:a="http://schemas.openxmlformats.org/drawingml/2006/main">
            <a:r>
              <a:t>- 투사체는 이동 구간을 검사해 낮은 프레임에서 적을 통과하지 않게 한다.</a:t>
            </a:r>
          </a:p>
          <a:p xmlns:a="http://schemas.openxmlformats.org/drawingml/2006/main">
            <a:r>
              <a:t>- 개발용으로 활성 적 수, 투사체 수, 프레임 시간, 생성 구간, 충돌 원을 확인할 수 있게 한다. 일반 플레이 화면에서는 숨긴다.</a:t>
            </a:r>
          </a:p>
          <a:p xmlns:a="http://schemas.openxmlformats.org/drawingml/2006/main">
            <a:r>
              <a:t>- 저장 실패나 사용할 수 없는 오디오가 있어도 플레이는 가능하게 한다.</a:t>
            </a:r>
          </a:p>
          <a:p xmlns:a="http://schemas.openxmlformats.org/drawingml/2006/main">
            <a:r>
              <a:t/>
            </a:r>
          </a:p>
          <a:p xmlns:a="http://schemas.openxmlformats.org/drawingml/2006/main">
            <a:r>
              <a:t>### 이후 확장을 위한 최소 준비</a:t>
            </a:r>
          </a:p>
          <a:p xmlns:a="http://schemas.openxmlformats.org/drawingml/2006/main">
            <a:r>
              <a:t/>
            </a:r>
          </a:p>
          <a:p xmlns:a="http://schemas.openxmlformats.org/drawingml/2006/main">
            <a:r>
              <a:t>씬·공격·몬스터 설정을 분리해두면 나중에 새로운 캐릭터나 적을 추가할 수 있다. 다만 이번 단계에서 장비 시스템·절차 생성기·결제 구조를 미리 만들지는 않는다. 첫 플레이 결과를 보고 다음 기획을 결정한다.</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22 개발 상세</a:t>
            </a:r>
          </a:p>
          <a:p xmlns:a="http://schemas.openxmlformats.org/drawingml/2006/main">
            <a:r>
              <a:t/>
            </a:r>
          </a:p>
          <a:p xmlns:a="http://schemas.openxmlformats.org/drawingml/2006/main">
            <a:r>
              <a:t>## 2. 시안 적용 방향</a:t>
            </a:r>
          </a:p>
          <a:p xmlns:a="http://schemas.openxmlformats.org/drawingml/2006/main">
            <a:r>
              <a:t/>
            </a:r>
          </a:p>
          <a:p xmlns:a="http://schemas.openxmlformats.org/drawingml/2006/main">
            <a:r>
              <a:t>| 선택 순서 | 캐릭터 | 기준 시안 | 플레이 씬 | 공격 이미지 |</a:t>
            </a:r>
          </a:p>
          <a:p xmlns:a="http://schemas.openxmlformats.org/drawingml/2006/main">
            <a:r>
              <a:t>|---|---|---|---|---|</a:t>
            </a:r>
          </a:p>
          <a:p xmlns:a="http://schemas.openxmlformats.org/drawingml/2006/main">
            <a:r>
              <a:t>| 1 | 펭귄 | 7번 | 오로라 눈밭 | 주변을 도는 눈꽃 |</a:t>
            </a:r>
          </a:p>
          <a:p xmlns:a="http://schemas.openxmlformats.org/drawingml/2006/main">
            <a:r>
              <a:t>| 2 | 카피바라 | 2번 | 온천 마을 | 바깥으로 퍼지는 온천방울 |</a:t>
            </a:r>
          </a:p>
          <a:p xmlns:a="http://schemas.openxmlformats.org/drawingml/2006/main">
            <a:r>
              <a:t>| 3 | 고양이 | 3번 | 달빛 우체국 | 적을 향해 날아가는 별빛 편지 |</a:t>
            </a:r>
          </a:p>
          <a:p xmlns:a="http://schemas.openxmlformats.org/drawingml/2006/main">
            <a:r>
              <a:t/>
            </a:r>
          </a:p>
          <a:p xmlns:a="http://schemas.openxmlformats.org/drawingml/2006/main">
            <a:r>
              <a:t>### 기준 이미지</a:t>
            </a:r>
          </a:p>
          <a:p xmlns:a="http://schemas.openxmlformats.org/drawingml/2006/main">
            <a:r>
              <a:t/>
            </a:r>
          </a:p>
          <a:p xmlns:a="http://schemas.openxmlformats.org/drawingml/2006/main">
            <a:r>
              <a:t>**7번 · 펭귄 오로라 눈밭**</a:t>
            </a:r>
          </a:p>
          <a:p xmlns:a="http://schemas.openxmlformats.org/drawingml/2006/main">
            <a:r>
              <a:t/>
            </a:r>
          </a:p>
          <a:p xmlns:a="http://schemas.openxmlformats.org/drawingml/2006/main">
            <a:r>
              <a:t>![펭귄 오로라 눈밭](animal-concepts/07.png)</a:t>
            </a:r>
          </a:p>
          <a:p xmlns:a="http://schemas.openxmlformats.org/drawingml/2006/main">
            <a:r>
              <a:t/>
            </a:r>
          </a:p>
          <a:p xmlns:a="http://schemas.openxmlformats.org/drawingml/2006/main">
            <a:r>
              <a:t>**2번 · 카피바라 온천 마을**</a:t>
            </a:r>
          </a:p>
          <a:p xmlns:a="http://schemas.openxmlformats.org/drawingml/2006/main">
            <a:r>
              <a:t/>
            </a:r>
          </a:p>
          <a:p xmlns:a="http://schemas.openxmlformats.org/drawingml/2006/main">
            <a:r>
              <a:t>![카피바라 온천 마을](animal-concepts/02.png)</a:t>
            </a:r>
          </a:p>
          <a:p xmlns:a="http://schemas.openxmlformats.org/drawingml/2006/main">
            <a:r>
              <a:t/>
            </a:r>
          </a:p>
          <a:p xmlns:a="http://schemas.openxmlformats.org/drawingml/2006/main">
            <a:r>
              <a:t>**3번 · 고양이 달빛 우체국**</a:t>
            </a:r>
          </a:p>
          <a:p xmlns:a="http://schemas.openxmlformats.org/drawingml/2006/main">
            <a:r>
              <a:t/>
            </a:r>
          </a:p>
          <a:p xmlns:a="http://schemas.openxmlformats.org/drawingml/2006/main">
            <a:r>
              <a:t>![고양이 달빛 우체국](animal-concepts/03.png)</a:t>
            </a:r>
          </a:p>
          <a:p xmlns:a="http://schemas.openxmlformats.org/drawingml/2006/main">
            <a:r>
              <a:t/>
            </a:r>
          </a:p>
          <a:p xmlns:a="http://schemas.openxmlformats.org/drawingml/2006/main">
            <a:r>
              <a:t>### 그래픽 해석</a:t>
            </a:r>
          </a:p>
          <a:p xmlns:a="http://schemas.openxmlformats.org/drawingml/2006/main">
            <a:r>
              <a:t/>
            </a:r>
          </a:p>
          <a:p xmlns:a="http://schemas.openxmlformats.org/drawingml/2006/main">
            <a:r>
              <a:t>- 펭귄 씬은 7번의 파스텔 픽셀 느낌, 카피바라·고양이 씬은 2·3번의 부드러운 일러스트 느낌을 유지한다. 이번에는 화풍별 플레이 인상도 함께 비교한다.</a:t>
            </a:r>
          </a:p>
          <a:p xmlns:a="http://schemas.openxmlformats.org/drawingml/2006/main">
            <a:r>
              <a:t>- 공통 UI의 배치·글꼴·크기·아이콘 문법은 통일한다. 씬에 따라 포인트 색만 바뀐다.</a:t>
            </a:r>
          </a:p>
          <a:p xmlns:a="http://schemas.openxmlformats.org/drawingml/2006/main">
            <a:r>
              <a:t>- 기준 이미지는 구성과 분위기를 위한 참고다. 완성 이미지를 배경으로 그대로 깔면 이미지 속 주인공·몬스터·공격이 중복되므로 사용하지 않는다.</a:t>
            </a:r>
          </a:p>
          <a:p xmlns:a="http://schemas.openxmlformats.org/drawingml/2006/main">
            <a:r>
              <a:t>- 실제 제작에서는 배경, 주인공, 몬스터, 전경, 공격 이펙트를 분리된 에셋으로 만든다.</a:t>
            </a:r>
          </a:p>
          <a:p xmlns:a="http://schemas.openxmlformats.org/drawingml/2006/main">
            <a:r>
              <a:t>- 플레이 영역 바닥은 기준 이미지보다 단순하게 만들고, 디테일은 가장자리로 보낸다. 주인공과 적의 외곽선이 바닥에서 분명하게 구분되어야 한다.</a:t>
            </a:r>
          </a:p>
          <a:p xmlns:a="http://schemas.openxmlformats.org/drawingml/2006/main">
            <a:r>
              <a:t>- 정적인 공격 고리나 몬스터를 배경에 그려 넣지 않는다. 움직이는 게임 오브젝트로 구현한다.</a:t>
            </a:r>
          </a:p>
          <a:p xmlns:a="http://schemas.openxmlformats.org/drawingml/2006/main">
            <a:r>
              <a:t/>
            </a:r>
          </a:p>
          <a:p xmlns:a="http://schemas.openxmlformats.org/drawingml/2006/main">
            <a:r>
              <a:t/>
            </a:r>
          </a:p>
          <a:p xmlns:a="http://schemas.openxmlformats.org/drawingml/2006/main">
            <a:r>
              <a:t>## 11. 필요한 제작 에셋</a:t>
            </a:r>
          </a:p>
          <a:p xmlns:a="http://schemas.openxmlformats.org/drawingml/2006/main">
            <a:r>
              <a:t/>
            </a:r>
          </a:p>
          <a:p xmlns:a="http://schemas.openxmlformats.org/drawingml/2006/main">
            <a:r>
              <a:t>| 분류 | 예상 수량 | 내용 |</a:t>
            </a:r>
          </a:p>
          <a:p xmlns:a="http://schemas.openxmlformats.org/drawingml/2006/main">
            <a:r>
              <a:t>|---|---:|---|</a:t>
            </a:r>
          </a:p>
          <a:p xmlns:a="http://schemas.openxmlformats.org/drawingml/2006/main">
            <a:r>
              <a:t>| 캐릭터 선택 카드 | 3 | 각 동물·배경, 이름과 기록 표시 공간 |</a:t>
            </a:r>
          </a:p>
          <a:p xmlns:a="http://schemas.openxmlformats.org/drawingml/2006/main">
            <a:r>
              <a:t>| 플레이 배경 세트 | 3 | 바닥·외곽 장식·환경 효과 분리 |</a:t>
            </a:r>
          </a:p>
          <a:p xmlns:a="http://schemas.openxmlformats.org/drawingml/2006/main">
            <a:r>
              <a:t>| 주인공 애니메이션 세트 | 3 | 캐릭터당 대기·걷기·공격·피격·탈진·선택 반응 |</a:t>
            </a:r>
          </a:p>
          <a:p xmlns:a="http://schemas.openxmlformats.org/drawingml/2006/main">
            <a:r>
              <a:t>| 몬스터 외형 | 6 | 씬당 기본형·튼튼형, 이동 루프 |</a:t>
            </a:r>
          </a:p>
          <a:p xmlns:a="http://schemas.openxmlformats.org/drawingml/2006/main">
            <a:r>
              <a:t>| 공격 세트 | 3 | 눈꽃·파동·편지 및 충돌에 맞는 이펙트 |</a:t>
            </a:r>
          </a:p>
          <a:p xmlns:a="http://schemas.openxmlformats.org/drawingml/2006/main">
            <a:r>
              <a:t>| 씬별 피격·처치 입자 | 3 | 공통 기능에 색·모양만 다르게 적용 |</a:t>
            </a:r>
          </a:p>
          <a:p xmlns:a="http://schemas.openxmlformats.org/drawingml/2006/main">
            <a:r>
              <a:t>| 공통 UI | 1세트 | 체력, 점수, 시간, 버튼, 일시정지, 결과 |</a:t>
            </a:r>
          </a:p>
          <a:p xmlns:a="http://schemas.openxmlformats.org/drawingml/2006/main">
            <a:r>
              <a:t>| 음악 | 인트로 1 + 씬 3 | 프로토타입 사용 권한이 확보된 루프 |</a:t>
            </a:r>
          </a:p>
          <a:p xmlns:a="http://schemas.openxmlformats.org/drawingml/2006/main">
            <a:r>
              <a:t>| 효과음 | 공통 + 캐릭터별 | 선택·공격·명중·피격·처치·결과 |</a:t>
            </a:r>
          </a:p>
          <a:p xmlns:a="http://schemas.openxmlformats.org/drawingml/2006/main">
            <a:r>
              <a:t/>
            </a:r>
          </a:p>
          <a:p xmlns:a="http://schemas.openxmlformats.org/drawingml/2006/main">
            <a:r>
              <a:t>주인공 표시 높이는 약 56~64px, 기본 적은 32~40px, 튼튼형은 44~54px에서 시작한다. 원본 에셋 해상도는 화풍에 따라 다를 수 있으나 게임 안의 실루엣 크기는 비슷하게 맞춘다. 충돌 원은 이미지 크기와 별도로 관리한다.</a:t>
            </a:r>
          </a:p>
          <a:p xmlns:a="http://schemas.openxmlformats.org/drawingml/2006/main">
            <a:r>
              <a:t/>
            </a:r>
          </a:p>
          <a:p xmlns:a="http://schemas.openxmlformats.org/drawingml/2006/main">
            <a:r>
              <a:t/>
            </a:r>
          </a:p>
          <a:p xmlns:a="http://schemas.openxmlformats.org/drawingml/2006/main">
            <a:r>
              <a:t/>
            </a:r>
          </a:p>
          <a:p xmlns:a="http://schemas.openxmlformats.org/drawingml/2006/main">
            <a:r>
              <a:t>에셋 위치: output/animal-concepts/02.png, 03.png, 07.png. 펭귄 GIF와 시트: output/penguin-animation-v0.1/. 본 PPT에 기준 이미지와 GIF를 내장한다. 기존 배경 이미지 안의 펭귄·몬스터·눈꽃을 그대로 둔 채 움직이는 오브젝트를 중복 배치하지 않는다.</a:t>
            </a:r>
          </a:p>
          <a:p xmlns:a="http://schemas.openxmlformats.org/drawingml/2006/main">
            <a:r>
              <a:t>기존 기획의 권장 프레임 예산 23프레임/캐릭터는 초기 산정이다. 현재 펭귄 GIF 5종은 각 8프레임이며 최종 프레임 수는 동작 품질에 따라 확정한다.</a:t>
            </a:r>
          </a:p>
          <a:p xmlns:a="http://schemas.openxmlformats.org/drawingml/2006/main">
            <a:r>
              <a:t/>
            </a:r>
          </a:p>
          <a:p xmlns:a="http://schemas.openxmlformats.org/drawingml/2006/main">
            <a:r>
              <a:t>기획 원문: output/animal-survivors-prototype-v0.1.md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문서 기준: 사용자 검토용 프로토타입 개발 기획 v0.2, 2026-09-10. 수치는 별도 명시가 없으면 초기 구현 제안값이다.</a:t>
            </a:r>
          </a:p>
          <a:p xmlns:a="http://schemas.openxmlformats.org/drawingml/2006/main">
            <a:r>
              <a:t/>
            </a:r>
          </a:p>
          <a:p xmlns:a="http://schemas.openxmlformats.org/drawingml/2006/main">
            <a:r>
              <a:t>기획 원문: output/animal-survivors-prototype-v0.1.md</a:t>
            </a:r>
          </a:p>
          <a:p xmlns:a="http://schemas.openxmlformats.org/drawingml/2006/main">
            <a:r>
              <a:t/>
            </a:r>
          </a:p>
          <a:p xmlns:a="http://schemas.openxmlformats.org/drawingml/2006/main">
            <a:r>
              <a:t>## 12. 구현 구조 제안</a:t>
            </a:r>
          </a:p>
          <a:p xmlns:a="http://schemas.openxmlformats.org/drawingml/2006/main">
            <a:r>
              <a:t/>
            </a:r>
          </a:p>
          <a:p xmlns:a="http://schemas.openxmlformats.org/drawingml/2006/main">
            <a:r>
              <a:t>엔진과 라이브러리는 구현 단계에서 결정한다. 아래는 특정 엔진에 의존하지 않는 책임 분리다.</a:t>
            </a:r>
          </a:p>
          <a:p xmlns:a="http://schemas.openxmlformats.org/drawingml/2006/main">
            <a:r>
              <a:t/>
            </a:r>
          </a:p>
          <a:p xmlns:a="http://schemas.openxmlformats.org/drawingml/2006/main">
            <a:r>
              <a:t>| 구성 | 책임 |</a:t>
            </a:r>
          </a:p>
          <a:p xmlns:a="http://schemas.openxmlformats.org/drawingml/2006/main">
            <a:r>
              <a:t>|---|---|</a:t>
            </a:r>
          </a:p>
          <a:p xmlns:a="http://schemas.openxmlformats.org/drawingml/2006/main">
            <a:r>
              <a:t>| Intro | 카드 선택, 캐릭터 최고 기록, 진입 전환 |</a:t>
            </a:r>
          </a:p>
          <a:p xmlns:a="http://schemas.openxmlformats.org/drawingml/2006/main">
            <a:r>
              <a:t>| Play 공통 | 이동, 체력, 충돌, 시간, 점수, 종료 |</a:t>
            </a:r>
          </a:p>
          <a:p xmlns:a="http://schemas.openxmlformats.org/drawingml/2006/main">
            <a:r>
              <a:t>| Penguin / Capybara / Cat 씬 설정 | 배경·스프라이트·음악·공격 설정 연결 |</a:t>
            </a:r>
          </a:p>
          <a:p xmlns:a="http://schemas.openxmlformats.org/drawingml/2006/main">
            <a:r>
              <a:t>| Attack | 회전형·파동형·투사체형 공격 실행 |</a:t>
            </a:r>
          </a:p>
          <a:p xmlns:a="http://schemas.openxmlformats.org/drawingml/2006/main">
            <a:r>
              <a:t>| Enemy / Spawn | 적 이동, 등장 곡선, 활성 수 제한 |</a:t>
            </a:r>
          </a:p>
          <a:p xmlns:a="http://schemas.openxmlformats.org/drawingml/2006/main">
            <a:r>
              <a:t>| Effects / Audio | 표시·음향 이벤트와 재사용·동시 수 제한 |</a:t>
            </a:r>
          </a:p>
          <a:p xmlns:a="http://schemas.openxmlformats.org/drawingml/2006/main">
            <a:r>
              <a:t>| HUD / Pause / Result | 상태 표시, 재시작·선택 화면 복귀 |</a:t>
            </a:r>
          </a:p>
          <a:p xmlns:a="http://schemas.openxmlformats.org/drawingml/2006/main">
            <a:r>
              <a:t>| Local Records | 캐릭터별 최고 점수, 소리 설정 |</a:t>
            </a:r>
          </a:p>
          <a:p xmlns:a="http://schemas.openxmlformats.org/drawingml/2006/main">
            <a:r>
              <a:t/>
            </a:r>
          </a:p>
          <a:p xmlns:a="http://schemas.openxmlformats.org/drawingml/2006/main">
            <a:r>
              <a:t>- 세 씬을 복사한 별도 게임 코드로 만들지 않는다. 공통 기능을 공유하면서 캐릭터별 씬은 개별 진입점과 설정을 가진다.</a:t>
            </a:r>
          </a:p>
          <a:p xmlns:a="http://schemas.openxmlformats.org/drawingml/2006/main">
            <a:r>
              <a:t>- 공격 수치, 적 수치, 생성 시간표는 코드 곳곳의 숫자 대신 수정 가능한 설정 데이터에 모은다.</a:t>
            </a:r>
          </a:p>
          <a:p xmlns:a="http://schemas.openxmlformats.org/drawingml/2006/main">
            <a:r>
              <a:t>- 실행 상태는 `INTRO / PLAYING / PAUSED / GAME_OVER`를 명확히 구분한다. 전환 연출 중에는 중복 시작·재시작을 막는다.</a:t>
            </a:r>
          </a:p>
          <a:p xmlns:a="http://schemas.openxmlformats.org/drawingml/2006/main">
            <a:r>
              <a:t>- 점수 지급, 피격, 사망은 상태 검사를 통해 한 번만 처리한다.</a:t>
            </a:r>
          </a:p>
          <a:p xmlns:a="http://schemas.openxmlformats.org/drawingml/2006/main">
            <a:r>
              <a:t>- 프레임 속도가 달라도 이동·공격·생성 시간이 같도록 시간 기준으로 갱신한다. 탭 복귀 시 지난 시간을 한 번에 따라잡으며 적을 대량 생성하지 않는다.</a:t>
            </a:r>
          </a:p>
          <a:p xmlns:a="http://schemas.openxmlformats.org/drawingml/2006/main">
            <a:r>
              <a:t>- 적·투사체·입자는 풀링 또는 동등한 재사용 전략을 적용한다. 씬 종료 시 타이머·오디오·입력·이펙트를 정리한다.</a:t>
            </a:r>
          </a:p>
          <a:p xmlns:a="http://schemas.openxmlformats.org/drawingml/2006/main">
            <a:r>
              <a:t>- 투사체는 이동 구간을 검사해 낮은 프레임에서 적을 통과하지 않게 한다.</a:t>
            </a:r>
          </a:p>
          <a:p xmlns:a="http://schemas.openxmlformats.org/drawingml/2006/main">
            <a:r>
              <a:t>- 개발용으로 활성 적 수, 투사체 수, 프레임 시간, 생성 구간, 충돌 원을 확인할 수 있게 한다. 일반 플레이 화면에서는 숨긴다.</a:t>
            </a:r>
          </a:p>
          <a:p xmlns:a="http://schemas.openxmlformats.org/drawingml/2006/main">
            <a:r>
              <a:t>- 저장 실패나 사용할 수 없는 오디오가 있어도 플레이는 가능하게 한다.</a:t>
            </a:r>
          </a:p>
          <a:p xmlns:a="http://schemas.openxmlformats.org/drawingml/2006/main">
            <a:r>
              <a:t/>
            </a:r>
          </a:p>
          <a:p xmlns:a="http://schemas.openxmlformats.org/drawingml/2006/main">
            <a:r>
              <a:t>### 이후 확장을 위한 최소 준비</a:t>
            </a:r>
          </a:p>
          <a:p xmlns:a="http://schemas.openxmlformats.org/drawingml/2006/main">
            <a:r>
              <a:t/>
            </a:r>
          </a:p>
          <a:p xmlns:a="http://schemas.openxmlformats.org/drawingml/2006/main">
            <a:r>
              <a:t>씬·공격·몬스터 설정을 분리해두면 나중에 새로운 캐릭터나 적을 추가할 수 있다. 다만 이번 단계에서 장비 시스템·절차 생성기·결제 구조를 미리 만들지는 않는다. 첫 플레이 결과를 보고 다음 기획을 결정한다.</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문서 기준: 사용자 검토용 프로토타입 개발 기획 v0.2, 2026-09-10. 수치는 별도 명시가 없으면 초기 구현 제안값이다.</a:t>
            </a:r>
          </a:p>
          <a:p xmlns:a="http://schemas.openxmlformats.org/drawingml/2006/main">
            <a:r>
              <a:t/>
            </a:r>
          </a:p>
          <a:p xmlns:a="http://schemas.openxmlformats.org/drawingml/2006/main">
            <a:r>
              <a:t>기획 원문: output/animal-survivors-prototype-v0.1.md</a:t>
            </a:r>
          </a:p>
          <a:p xmlns:a="http://schemas.openxmlformats.org/drawingml/2006/main">
            <a:r>
              <a:t/>
            </a:r>
          </a:p>
          <a:p xmlns:a="http://schemas.openxmlformats.org/drawingml/2006/main">
            <a:r>
              <a:t>## 12. 구현 구조 제안</a:t>
            </a:r>
          </a:p>
          <a:p xmlns:a="http://schemas.openxmlformats.org/drawingml/2006/main">
            <a:r>
              <a:t/>
            </a:r>
          </a:p>
          <a:p xmlns:a="http://schemas.openxmlformats.org/drawingml/2006/main">
            <a:r>
              <a:t>엔진과 라이브러리는 구현 단계에서 결정한다. 아래는 특정 엔진에 의존하지 않는 책임 분리다.</a:t>
            </a:r>
          </a:p>
          <a:p xmlns:a="http://schemas.openxmlformats.org/drawingml/2006/main">
            <a:r>
              <a:t/>
            </a:r>
          </a:p>
          <a:p xmlns:a="http://schemas.openxmlformats.org/drawingml/2006/main">
            <a:r>
              <a:t>| 구성 | 책임 |</a:t>
            </a:r>
          </a:p>
          <a:p xmlns:a="http://schemas.openxmlformats.org/drawingml/2006/main">
            <a:r>
              <a:t>|---|---|</a:t>
            </a:r>
          </a:p>
          <a:p xmlns:a="http://schemas.openxmlformats.org/drawingml/2006/main">
            <a:r>
              <a:t>| Intro | 카드 선택, 캐릭터 최고 기록, 진입 전환 |</a:t>
            </a:r>
          </a:p>
          <a:p xmlns:a="http://schemas.openxmlformats.org/drawingml/2006/main">
            <a:r>
              <a:t>| Play 공통 | 이동, 체력, 충돌, 시간, 점수, 종료 |</a:t>
            </a:r>
          </a:p>
          <a:p xmlns:a="http://schemas.openxmlformats.org/drawingml/2006/main">
            <a:r>
              <a:t>| Penguin / Capybara / Cat 씬 설정 | 배경·스프라이트·음악·공격 설정 연결 |</a:t>
            </a:r>
          </a:p>
          <a:p xmlns:a="http://schemas.openxmlformats.org/drawingml/2006/main">
            <a:r>
              <a:t>| Attack | 회전형·파동형·투사체형 공격 실행 |</a:t>
            </a:r>
          </a:p>
          <a:p xmlns:a="http://schemas.openxmlformats.org/drawingml/2006/main">
            <a:r>
              <a:t>| Enemy / Spawn | 적 이동, 등장 곡선, 활성 수 제한 |</a:t>
            </a:r>
          </a:p>
          <a:p xmlns:a="http://schemas.openxmlformats.org/drawingml/2006/main">
            <a:r>
              <a:t>| Effects / Audio | 표시·음향 이벤트와 재사용·동시 수 제한 |</a:t>
            </a:r>
          </a:p>
          <a:p xmlns:a="http://schemas.openxmlformats.org/drawingml/2006/main">
            <a:r>
              <a:t>| HUD / Pause / Result | 상태 표시, 재시작·선택 화면 복귀 |</a:t>
            </a:r>
          </a:p>
          <a:p xmlns:a="http://schemas.openxmlformats.org/drawingml/2006/main">
            <a:r>
              <a:t>| Local Records | 캐릭터별 최고 점수, 소리 설정 |</a:t>
            </a:r>
          </a:p>
          <a:p xmlns:a="http://schemas.openxmlformats.org/drawingml/2006/main">
            <a:r>
              <a:t/>
            </a:r>
          </a:p>
          <a:p xmlns:a="http://schemas.openxmlformats.org/drawingml/2006/main">
            <a:r>
              <a:t>- 세 씬을 복사한 별도 게임 코드로 만들지 않는다. 공통 기능을 공유하면서 캐릭터별 씬은 개별 진입점과 설정을 가진다.</a:t>
            </a:r>
          </a:p>
          <a:p xmlns:a="http://schemas.openxmlformats.org/drawingml/2006/main">
            <a:r>
              <a:t>- 공격 수치, 적 수치, 생성 시간표는 코드 곳곳의 숫자 대신 수정 가능한 설정 데이터에 모은다.</a:t>
            </a:r>
          </a:p>
          <a:p xmlns:a="http://schemas.openxmlformats.org/drawingml/2006/main">
            <a:r>
              <a:t>- 실행 상태는 `INTRO / PLAYING / PAUSED / GAME_OVER`를 명확히 구분한다. 전환 연출 중에는 중복 시작·재시작을 막는다.</a:t>
            </a:r>
          </a:p>
          <a:p xmlns:a="http://schemas.openxmlformats.org/drawingml/2006/main">
            <a:r>
              <a:t>- 점수 지급, 피격, 사망은 상태 검사를 통해 한 번만 처리한다.</a:t>
            </a:r>
          </a:p>
          <a:p xmlns:a="http://schemas.openxmlformats.org/drawingml/2006/main">
            <a:r>
              <a:t>- 프레임 속도가 달라도 이동·공격·생성 시간이 같도록 시간 기준으로 갱신한다. 탭 복귀 시 지난 시간을 한 번에 따라잡으며 적을 대량 생성하지 않는다.</a:t>
            </a:r>
          </a:p>
          <a:p xmlns:a="http://schemas.openxmlformats.org/drawingml/2006/main">
            <a:r>
              <a:t>- 적·투사체·입자는 풀링 또는 동등한 재사용 전략을 적용한다. 씬 종료 시 타이머·오디오·입력·이펙트를 정리한다.</a:t>
            </a:r>
          </a:p>
          <a:p xmlns:a="http://schemas.openxmlformats.org/drawingml/2006/main">
            <a:r>
              <a:t>- 투사체는 이동 구간을 검사해 낮은 프레임에서 적을 통과하지 않게 한다.</a:t>
            </a:r>
          </a:p>
          <a:p xmlns:a="http://schemas.openxmlformats.org/drawingml/2006/main">
            <a:r>
              <a:t>- 개발용으로 활성 적 수, 투사체 수, 프레임 시간, 생성 구간, 충돌 원을 확인할 수 있게 한다. 일반 플레이 화면에서는 숨긴다.</a:t>
            </a:r>
          </a:p>
          <a:p xmlns:a="http://schemas.openxmlformats.org/drawingml/2006/main">
            <a:r>
              <a:t>- 저장 실패나 사용할 수 없는 오디오가 있어도 플레이는 가능하게 한다.</a:t>
            </a:r>
          </a:p>
          <a:p xmlns:a="http://schemas.openxmlformats.org/drawingml/2006/main">
            <a:r>
              <a:t/>
            </a:r>
          </a:p>
          <a:p xmlns:a="http://schemas.openxmlformats.org/drawingml/2006/main">
            <a:r>
              <a:t>### 이후 확장을 위한 최소 준비</a:t>
            </a:r>
          </a:p>
          <a:p xmlns:a="http://schemas.openxmlformats.org/drawingml/2006/main">
            <a:r>
              <a:t/>
            </a:r>
          </a:p>
          <a:p xmlns:a="http://schemas.openxmlformats.org/drawingml/2006/main">
            <a:r>
              <a:t>씬·공격·몬스터 설정을 분리해두면 나중에 새로운 캐릭터나 적을 추가할 수 있다. 다만 이번 단계에서 장비 시스템·절차 생성기·결제 구조를 미리 만들지는 않는다. 첫 플레이 결과를 보고 다음 기획을 결정한다.</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문서 기준: 사용자 검토용 프로토타입 개발 기획 v0.2, 2026-09-10. 수치는 별도 명시가 없으면 초기 구현 제안값이다.</a:t>
            </a:r>
          </a:p>
          <a:p xmlns:a="http://schemas.openxmlformats.org/drawingml/2006/main">
            <a:r>
              <a:t/>
            </a:r>
          </a:p>
          <a:p xmlns:a="http://schemas.openxmlformats.org/drawingml/2006/main">
            <a:r>
              <a:t>기획 원문: output/animal-survivors-prototype-v0.1.md</a:t>
            </a:r>
          </a:p>
          <a:p xmlns:a="http://schemas.openxmlformats.org/drawingml/2006/main">
            <a:r>
              <a:t/>
            </a:r>
          </a:p>
          <a:p xmlns:a="http://schemas.openxmlformats.org/drawingml/2006/main">
            <a:r>
              <a:t>## 13. 제작 순서와 완료 기준</a:t>
            </a:r>
          </a:p>
          <a:p xmlns:a="http://schemas.openxmlformats.org/drawingml/2006/main">
            <a:r>
              <a:t/>
            </a:r>
          </a:p>
          <a:p xmlns:a="http://schemas.openxmlformats.org/drawingml/2006/main">
            <a:r>
              <a:t>### 1단계 — 플레이 흐름</a:t>
            </a:r>
          </a:p>
          <a:p xmlns:a="http://schemas.openxmlformats.org/drawingml/2006/main">
            <a:r>
              <a:t/>
            </a:r>
          </a:p>
          <a:p xmlns:a="http://schemas.openxmlformats.org/drawingml/2006/main">
            <a:r>
              <a:t>인트로 카드 3개 → 해당 씬 진입 → 이동 → 체력 소진 → 결과 → 재시작·다른 캐릭터 선택을 먼저 연결한다.</a:t>
            </a:r>
          </a:p>
          <a:p xmlns:a="http://schemas.openxmlformats.org/drawingml/2006/main">
            <a:r>
              <a:t/>
            </a:r>
          </a:p>
          <a:p xmlns:a="http://schemas.openxmlformats.org/drawingml/2006/main">
            <a:r>
              <a:t>완료 기준: 어떤 동물을 골라도 정확한 씬과 캐릭터로 시작하고, 재시작 때 이전 상태가 남지 않는다.</a:t>
            </a:r>
          </a:p>
          <a:p xmlns:a="http://schemas.openxmlformats.org/drawingml/2006/main">
            <a:r>
              <a:t/>
            </a:r>
          </a:p>
          <a:p xmlns:a="http://schemas.openxmlformats.org/drawingml/2006/main">
            <a:r>
              <a:t>### 2단계 — 전투와 기록</a:t>
            </a:r>
          </a:p>
          <a:p xmlns:a="http://schemas.openxmlformats.org/drawingml/2006/main">
            <a:r>
              <a:t/>
            </a:r>
          </a:p>
          <a:p xmlns:a="http://schemas.openxmlformats.org/drawingml/2006/main">
            <a:r>
              <a:t>자동 공격 3종, 몬스터 2종, 무한 생성표, 접촉 피해·무적, 처치 점수·캐릭터별 기록을 연결한다.</a:t>
            </a:r>
          </a:p>
          <a:p xmlns:a="http://schemas.openxmlformats.org/drawingml/2006/main">
            <a:r>
              <a:t/>
            </a:r>
          </a:p>
          <a:p xmlns:a="http://schemas.openxmlformats.org/drawingml/2006/main">
            <a:r>
              <a:t>완료 기준: 무한 생성이 중단되지 않고, 모든 피해와 점수가 규칙대로 한 번만 반영된다.</a:t>
            </a:r>
          </a:p>
          <a:p xmlns:a="http://schemas.openxmlformats.org/drawingml/2006/main">
            <a:r>
              <a:t/>
            </a:r>
          </a:p>
          <a:p xmlns:a="http://schemas.openxmlformats.org/drawingml/2006/main">
            <a:r>
              <a:t>### 3단계 — 시안 기반 표현</a:t>
            </a:r>
          </a:p>
          <a:p xmlns:a="http://schemas.openxmlformats.org/drawingml/2006/main">
            <a:r>
              <a:t/>
            </a:r>
          </a:p>
          <a:p xmlns:a="http://schemas.openxmlformats.org/drawingml/2006/main">
            <a:r>
              <a:t>배경·캐릭터·몬스터 외형, 걷기·피격·탈진, 공격 이펙트, 환경 움직임, 음악·효과음을 적용한다.</a:t>
            </a:r>
          </a:p>
          <a:p xmlns:a="http://schemas.openxmlformats.org/drawingml/2006/main">
            <a:r>
              <a:t/>
            </a:r>
          </a:p>
          <a:p xmlns:a="http://schemas.openxmlformats.org/drawingml/2006/main">
            <a:r>
              <a:t>완료 기준: 2·3·7번의 분위기가 각 씬에서 구별되고, 공격·피격·처치·게임 종료를 눈과 소리로 이해할 수 있다.</a:t>
            </a:r>
          </a:p>
          <a:p xmlns:a="http://schemas.openxmlformats.org/drawingml/2006/main">
            <a:r>
              <a:t/>
            </a:r>
          </a:p>
          <a:p xmlns:a="http://schemas.openxmlformats.org/drawingml/2006/main">
            <a:r>
              <a:t>### 4단계 — 비교 플레이와 튜닝</a:t>
            </a:r>
          </a:p>
          <a:p xmlns:a="http://schemas.openxmlformats.org/drawingml/2006/main">
            <a:r>
              <a:t/>
            </a:r>
          </a:p>
          <a:p xmlns:a="http://schemas.openxmlformats.org/drawingml/2006/main">
            <a:r>
              <a:t>캐릭터별로 초반과 최대 생성 구간을 확인하고, 너무 안전하거나 불리한 공격·생성 조합을 조정한다.</a:t>
            </a:r>
          </a:p>
          <a:p xmlns:a="http://schemas.openxmlformats.org/drawingml/2006/main">
            <a:r>
              <a:t/>
            </a:r>
          </a:p>
          <a:p xmlns:a="http://schemas.openxmlformats.org/drawingml/2006/main">
            <a:r>
              <a:t>완료 기준: 세 캐릭터 모두 이동할 이유와 공격의 손맛이 있으며, 동시 적 상한에서도 입력·점수·효과가 안정적으로 동작한다.</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문서 기준: 사용자 검토용 프로토타입 개발 기획 v0.2, 2026-09-10. 수치는 별도 명시가 없으면 초기 구현 제안값이다.</a:t>
            </a:r>
          </a:p>
          <a:p xmlns:a="http://schemas.openxmlformats.org/drawingml/2006/main">
            <a:r>
              <a:t/>
            </a:r>
          </a:p>
          <a:p xmlns:a="http://schemas.openxmlformats.org/drawingml/2006/main">
            <a:r>
              <a:t>기획 원문: output/animal-survivors-prototype-v0.1.md</a:t>
            </a:r>
          </a:p>
          <a:p xmlns:a="http://schemas.openxmlformats.org/drawingml/2006/main">
            <a:r>
              <a:t/>
            </a:r>
          </a:p>
          <a:p xmlns:a="http://schemas.openxmlformats.org/drawingml/2006/main">
            <a:r>
              <a:t>## 14. 검수 체크리스트</a:t>
            </a:r>
          </a:p>
          <a:p xmlns:a="http://schemas.openxmlformats.org/drawingml/2006/main">
            <a:r>
              <a:t/>
            </a:r>
          </a:p>
          <a:p xmlns:a="http://schemas.openxmlformats.org/drawingml/2006/main">
            <a:r>
              <a:t>### 기능</a:t>
            </a:r>
          </a:p>
          <a:p xmlns:a="http://schemas.openxmlformats.org/drawingml/2006/main">
            <a:r>
              <a:t/>
            </a:r>
          </a:p>
          <a:p xmlns:a="http://schemas.openxmlformats.org/drawingml/2006/main">
            <a:r>
              <a:t>- [ ] 펭귄·카피바라·고양이 선택이 각각 올바른 플레이 씬으로 연결된다.</a:t>
            </a:r>
          </a:p>
          <a:p xmlns:a="http://schemas.openxmlformats.org/drawingml/2006/main">
            <a:r>
              <a:t>- [ ] 카드 중복 클릭으로 게임이나 음악이 여러 번 시작되지 않는다.</a:t>
            </a:r>
          </a:p>
          <a:p xmlns:a="http://schemas.openxmlformats.org/drawingml/2006/main">
            <a:r>
              <a:t>- [ ] 이동 입력과 대각선 속도가 일관되고 경계를 벗어나지 않는다.</a:t>
            </a:r>
          </a:p>
          <a:p xmlns:a="http://schemas.openxmlformats.org/drawingml/2006/main">
            <a:r>
              <a:t>- [ ] 세 공격이 명세에 맞게 자동 발동하고 실제 이펙트와 피해 시점이 일치한다.</a:t>
            </a:r>
          </a:p>
          <a:p xmlns:a="http://schemas.openxmlformats.org/drawingml/2006/main">
            <a:r>
              <a:t>- [ ] 다수 적 접촉 시 무적 규칙이 적용되고 체력이 한순간에 모두 사라지지 않는다.</a:t>
            </a:r>
          </a:p>
          <a:p xmlns:a="http://schemas.openxmlformats.org/drawingml/2006/main">
            <a:r>
              <a:t>- [ ] 기본형·튼튼형 점수가 정확히 1회 지급된다.</a:t>
            </a:r>
          </a:p>
          <a:p xmlns:a="http://schemas.openxmlformats.org/drawingml/2006/main">
            <a:r>
              <a:t>- [ ] 체력 0 이후 점수·공격·생성이 진행되지 않는다.</a:t>
            </a:r>
          </a:p>
          <a:p xmlns:a="http://schemas.openxmlformats.org/drawingml/2006/main">
            <a:r>
              <a:t>- [ ] 일시정지 중 적·공격·시간·점수·파티클이 멈춘다.</a:t>
            </a:r>
          </a:p>
          <a:p xmlns:a="http://schemas.openxmlformats.org/drawingml/2006/main">
            <a:r>
              <a:t>- [ ] 재시작을 반복하거나 동물을 바꿔도 적·타이머·오디오가 남지 않는다.</a:t>
            </a:r>
          </a:p>
          <a:p xmlns:a="http://schemas.openxmlformats.org/drawingml/2006/main">
            <a:r>
              <a:t>- [ ] 최고 기록은 캐릭터별로 보존되고 새로고침 후에도 읽힌다.</a:t>
            </a:r>
          </a:p>
          <a:p xmlns:a="http://schemas.openxmlformats.org/drawingml/2006/main">
            <a:r>
              <a:t>- [ ] 탭 숨김·복귀 시 강제 피격이나 생성 폭주가 없다.</a:t>
            </a:r>
          </a:p>
          <a:p xmlns:a="http://schemas.openxmlformats.org/drawingml/2006/main">
            <a:r>
              <a:t/>
            </a:r>
          </a:p>
          <a:p xmlns:a="http://schemas.openxmlformats.org/drawingml/2006/main">
            <a:r>
              <a:t>### 시각·조작감</a:t>
            </a:r>
          </a:p>
          <a:p xmlns:a="http://schemas.openxmlformats.org/drawingml/2006/main">
            <a:r>
              <a:t/>
            </a:r>
          </a:p>
          <a:p xmlns:a="http://schemas.openxmlformats.org/drawingml/2006/main">
            <a:r>
              <a:t>- [ ] 눈밭·온천·야간 씬 모두 주인공과 적이 바닥에서 구분된다.</a:t>
            </a:r>
          </a:p>
          <a:p xmlns:a="http://schemas.openxmlformats.org/drawingml/2006/main">
            <a:r>
              <a:t>- [ ] 장식에 가려져 보이지 않는 적에게 피해를 받지 않는다.</a:t>
            </a:r>
          </a:p>
          <a:p xmlns:a="http://schemas.openxmlformats.org/drawingml/2006/main">
            <a:r>
              <a:t>- [ ] 피격·무적·탈진이 명확하게 구분된다.</a:t>
            </a:r>
          </a:p>
          <a:p xmlns:a="http://schemas.openxmlformats.org/drawingml/2006/main">
            <a:r>
              <a:t>- [ ] 공격 연출이 이동 입력을 막지 않는다.</a:t>
            </a:r>
          </a:p>
          <a:p xmlns:a="http://schemas.openxmlformats.org/drawingml/2006/main">
            <a:r>
              <a:t>- [ ] 회전 눈꽃 안쪽, 파동 사이 공백, 편지의 단일 타격 차이가 실제로 체감된다.</a:t>
            </a:r>
          </a:p>
          <a:p xmlns:a="http://schemas.openxmlformats.org/drawingml/2006/main">
            <a:r>
              <a:t>- [ ] 점수·체력·시간과 메뉴가 작은 창에서도 읽힌다.</a:t>
            </a:r>
          </a:p>
          <a:p xmlns:a="http://schemas.openxmlformats.org/drawingml/2006/main">
            <a:r>
              <a:t/>
            </a:r>
          </a:p>
          <a:p xmlns:a="http://schemas.openxmlformats.org/drawingml/2006/main">
            <a:r>
              <a:t>### 안정성과 체감 확인</a:t>
            </a:r>
          </a:p>
          <a:p xmlns:a="http://schemas.openxmlformats.org/drawingml/2006/main">
            <a:r>
              <a:t/>
            </a:r>
          </a:p>
          <a:p xmlns:a="http://schemas.openxmlformats.org/drawingml/2006/main">
            <a:r>
              <a:t>- [ ] 캐릭터별 10분 실행 또는 동일 길이의 자동 실행에서 적과 이펙트 수가 상한을 지킨다.</a:t>
            </a:r>
          </a:p>
          <a:p xmlns:a="http://schemas.openxmlformats.org/drawingml/2006/main">
            <a:r>
              <a:t>- [ ] 최대 생성 구간으로 빠르게 진입하는 개발용 검증이 가능하다.</a:t>
            </a:r>
          </a:p>
          <a:p xmlns:a="http://schemas.openxmlformats.org/drawingml/2006/main">
            <a:r>
              <a:t>- [ ] 재시작·씬 전환 20회 후에도 객체·이벤트·메모리가 지속적으로 쌓이지 않는다.</a:t>
            </a:r>
          </a:p>
          <a:p xmlns:a="http://schemas.openxmlformats.org/drawingml/2006/main">
            <a:r>
              <a:t>- [ ] 기준 테스트 PC와 브라우저를 기록하고, 활성 적 100마리에서 60fps 목표와 입력 반응을 확인한다. 목표 미달 시 장식부터 줄이고 실제 수치를 기록한다.</a:t>
            </a:r>
          </a:p>
          <a:p xmlns:a="http://schemas.openxmlformats.org/drawingml/2006/main">
            <a:r>
              <a:t>- [ ] 외형별 첫 인상, 공격 만족도, 피격 이해도, 다시 하고 싶은 캐릭터를 비교 기록한다.</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문서 기준: 사용자 검토용 프로토타입 개발 기획 v0.2, 2026-09-10. 수치는 별도 명시가 없으면 초기 구현 제안값이다.</a:t>
            </a:r>
          </a:p>
          <a:p xmlns:a="http://schemas.openxmlformats.org/drawingml/2006/main">
            <a:r>
              <a:t/>
            </a:r>
          </a:p>
          <a:p xmlns:a="http://schemas.openxmlformats.org/drawingml/2006/main">
            <a:r>
              <a:t>기획 원문: output/animal-survivors-prototype-v0.1.md</a:t>
            </a:r>
          </a:p>
          <a:p xmlns:a="http://schemas.openxmlformats.org/drawingml/2006/main">
            <a:r>
              <a:t/>
            </a:r>
          </a:p>
          <a:p xmlns:a="http://schemas.openxmlformats.org/drawingml/2006/main">
            <a:r>
              <a:t>## 14. 검수 체크리스트</a:t>
            </a:r>
          </a:p>
          <a:p xmlns:a="http://schemas.openxmlformats.org/drawingml/2006/main">
            <a:r>
              <a:t/>
            </a:r>
          </a:p>
          <a:p xmlns:a="http://schemas.openxmlformats.org/drawingml/2006/main">
            <a:r>
              <a:t>### 기능</a:t>
            </a:r>
          </a:p>
          <a:p xmlns:a="http://schemas.openxmlformats.org/drawingml/2006/main">
            <a:r>
              <a:t/>
            </a:r>
          </a:p>
          <a:p xmlns:a="http://schemas.openxmlformats.org/drawingml/2006/main">
            <a:r>
              <a:t>- [ ] 펭귄·카피바라·고양이 선택이 각각 올바른 플레이 씬으로 연결된다.</a:t>
            </a:r>
          </a:p>
          <a:p xmlns:a="http://schemas.openxmlformats.org/drawingml/2006/main">
            <a:r>
              <a:t>- [ ] 카드 중복 클릭으로 게임이나 음악이 여러 번 시작되지 않는다.</a:t>
            </a:r>
          </a:p>
          <a:p xmlns:a="http://schemas.openxmlformats.org/drawingml/2006/main">
            <a:r>
              <a:t>- [ ] 이동 입력과 대각선 속도가 일관되고 경계를 벗어나지 않는다.</a:t>
            </a:r>
          </a:p>
          <a:p xmlns:a="http://schemas.openxmlformats.org/drawingml/2006/main">
            <a:r>
              <a:t>- [ ] 세 공격이 명세에 맞게 자동 발동하고 실제 이펙트와 피해 시점이 일치한다.</a:t>
            </a:r>
          </a:p>
          <a:p xmlns:a="http://schemas.openxmlformats.org/drawingml/2006/main">
            <a:r>
              <a:t>- [ ] 다수 적 접촉 시 무적 규칙이 적용되고 체력이 한순간에 모두 사라지지 않는다.</a:t>
            </a:r>
          </a:p>
          <a:p xmlns:a="http://schemas.openxmlformats.org/drawingml/2006/main">
            <a:r>
              <a:t>- [ ] 기본형·튼튼형 점수가 정확히 1회 지급된다.</a:t>
            </a:r>
          </a:p>
          <a:p xmlns:a="http://schemas.openxmlformats.org/drawingml/2006/main">
            <a:r>
              <a:t>- [ ] 체력 0 이후 점수·공격·생성이 진행되지 않는다.</a:t>
            </a:r>
          </a:p>
          <a:p xmlns:a="http://schemas.openxmlformats.org/drawingml/2006/main">
            <a:r>
              <a:t>- [ ] 일시정지 중 적·공격·시간·점수·파티클이 멈춘다.</a:t>
            </a:r>
          </a:p>
          <a:p xmlns:a="http://schemas.openxmlformats.org/drawingml/2006/main">
            <a:r>
              <a:t>- [ ] 재시작을 반복하거나 동물을 바꿔도 적·타이머·오디오가 남지 않는다.</a:t>
            </a:r>
          </a:p>
          <a:p xmlns:a="http://schemas.openxmlformats.org/drawingml/2006/main">
            <a:r>
              <a:t>- [ ] 최고 기록은 캐릭터별로 보존되고 새로고침 후에도 읽힌다.</a:t>
            </a:r>
          </a:p>
          <a:p xmlns:a="http://schemas.openxmlformats.org/drawingml/2006/main">
            <a:r>
              <a:t>- [ ] 탭 숨김·복귀 시 강제 피격이나 생성 폭주가 없다.</a:t>
            </a:r>
          </a:p>
          <a:p xmlns:a="http://schemas.openxmlformats.org/drawingml/2006/main">
            <a:r>
              <a:t/>
            </a:r>
          </a:p>
          <a:p xmlns:a="http://schemas.openxmlformats.org/drawingml/2006/main">
            <a:r>
              <a:t>### 시각·조작감</a:t>
            </a:r>
          </a:p>
          <a:p xmlns:a="http://schemas.openxmlformats.org/drawingml/2006/main">
            <a:r>
              <a:t/>
            </a:r>
          </a:p>
          <a:p xmlns:a="http://schemas.openxmlformats.org/drawingml/2006/main">
            <a:r>
              <a:t>- [ ] 눈밭·온천·야간 씬 모두 주인공과 적이 바닥에서 구분된다.</a:t>
            </a:r>
          </a:p>
          <a:p xmlns:a="http://schemas.openxmlformats.org/drawingml/2006/main">
            <a:r>
              <a:t>- [ ] 장식에 가려져 보이지 않는 적에게 피해를 받지 않는다.</a:t>
            </a:r>
          </a:p>
          <a:p xmlns:a="http://schemas.openxmlformats.org/drawingml/2006/main">
            <a:r>
              <a:t>- [ ] 피격·무적·탈진이 명확하게 구분된다.</a:t>
            </a:r>
          </a:p>
          <a:p xmlns:a="http://schemas.openxmlformats.org/drawingml/2006/main">
            <a:r>
              <a:t>- [ ] 공격 연출이 이동 입력을 막지 않는다.</a:t>
            </a:r>
          </a:p>
          <a:p xmlns:a="http://schemas.openxmlformats.org/drawingml/2006/main">
            <a:r>
              <a:t>- [ ] 회전 눈꽃 안쪽, 파동 사이 공백, 편지의 단일 타격 차이가 실제로 체감된다.</a:t>
            </a:r>
          </a:p>
          <a:p xmlns:a="http://schemas.openxmlformats.org/drawingml/2006/main">
            <a:r>
              <a:t>- [ ] 점수·체력·시간과 메뉴가 작은 창에서도 읽힌다.</a:t>
            </a:r>
          </a:p>
          <a:p xmlns:a="http://schemas.openxmlformats.org/drawingml/2006/main">
            <a:r>
              <a:t/>
            </a:r>
          </a:p>
          <a:p xmlns:a="http://schemas.openxmlformats.org/drawingml/2006/main">
            <a:r>
              <a:t>### 안정성과 체감 확인</a:t>
            </a:r>
          </a:p>
          <a:p xmlns:a="http://schemas.openxmlformats.org/drawingml/2006/main">
            <a:r>
              <a:t/>
            </a:r>
          </a:p>
          <a:p xmlns:a="http://schemas.openxmlformats.org/drawingml/2006/main">
            <a:r>
              <a:t>- [ ] 캐릭터별 10분 실행 또는 동일 길이의 자동 실행에서 적과 이펙트 수가 상한을 지킨다.</a:t>
            </a:r>
          </a:p>
          <a:p xmlns:a="http://schemas.openxmlformats.org/drawingml/2006/main">
            <a:r>
              <a:t>- [ ] 최대 생성 구간으로 빠르게 진입하는 개발용 검증이 가능하다.</a:t>
            </a:r>
          </a:p>
          <a:p xmlns:a="http://schemas.openxmlformats.org/drawingml/2006/main">
            <a:r>
              <a:t>- [ ] 재시작·씬 전환 20회 후에도 객체·이벤트·메모리가 지속적으로 쌓이지 않는다.</a:t>
            </a:r>
          </a:p>
          <a:p xmlns:a="http://schemas.openxmlformats.org/drawingml/2006/main">
            <a:r>
              <a:t>- [ ] 기준 테스트 PC와 브라우저를 기록하고, 활성 적 100마리에서 60fps 목표와 입력 반응을 확인한다. 목표 미달 시 장식부터 줄이고 실제 수치를 기록한다.</a:t>
            </a:r>
          </a:p>
          <a:p xmlns:a="http://schemas.openxmlformats.org/drawingml/2006/main">
            <a:r>
              <a:t>- [ ] 외형별 첫 인상, 공격 만족도, 피격 이해도, 다시 하고 싶은 캐릭터를 비교 기록한다.</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슬라이드 28 개발 상세</a:t>
            </a:r>
          </a:p>
          <a:p xmlns:a="http://schemas.openxmlformats.org/drawingml/2006/main">
            <a:r>
              <a:t/>
            </a:r>
          </a:p>
          <a:p xmlns:a="http://schemas.openxmlformats.org/drawingml/2006/main">
            <a:r>
              <a:t>## 15. 검토할 때 수정하기 좋은 항목</a:t>
            </a:r>
          </a:p>
          <a:p xmlns:a="http://schemas.openxmlformats.org/drawingml/2006/main">
            <a:r>
              <a:t/>
            </a:r>
          </a:p>
          <a:p xmlns:a="http://schemas.openxmlformats.org/drawingml/2006/main">
            <a:r>
              <a:t>아래는 미확정 제안이다. 원하는 항목만 변경해 다음 버전에 반영할 수 있다.</a:t>
            </a:r>
          </a:p>
          <a:p xmlns:a="http://schemas.openxmlformats.org/drawingml/2006/main">
            <a:r>
              <a:t/>
            </a:r>
          </a:p>
          <a:p xmlns:a="http://schemas.openxmlformats.org/drawingml/2006/main">
            <a:r>
              <a:t>| 항목 | 현재 초안 |</a:t>
            </a:r>
          </a:p>
          <a:p xmlns:a="http://schemas.openxmlformats.org/drawingml/2006/main">
            <a:r>
              <a:t>|---|---|</a:t>
            </a:r>
          </a:p>
          <a:p xmlns:a="http://schemas.openxmlformats.org/drawingml/2006/main">
            <a:r>
              <a:t>| 플랫폼 | PC 브라우저 우선, 가로 화면 |</a:t>
            </a:r>
          </a:p>
          <a:p xmlns:a="http://schemas.openxmlformats.org/drawingml/2006/main">
            <a:r>
              <a:t>| 화풍 | 7번 픽셀 느낌 / 2·3번 일러스트 느낌 유지 |</a:t>
            </a:r>
          </a:p>
          <a:p xmlns:a="http://schemas.openxmlformats.org/drawingml/2006/main">
            <a:r>
              <a:t>| 카메라 | 고정, 한 화면 경기장 |</a:t>
            </a:r>
          </a:p>
          <a:p xmlns:a="http://schemas.openxmlformats.org/drawingml/2006/main">
            <a:r>
              <a:t>| 직접 조작 | 이동만, 공격은 자동 |</a:t>
            </a:r>
          </a:p>
          <a:p xmlns:a="http://schemas.openxmlformats.org/drawingml/2006/main">
            <a:r>
              <a:t>| 체력 | 5칸, 회복 없음 |</a:t>
            </a:r>
          </a:p>
          <a:p xmlns:a="http://schemas.openxmlformats.org/drawingml/2006/main">
            <a:r>
              <a:t>| 캐릭터 차이 | 이동 속도·체력 동일, 공격 방식·연출·배경 다름 |</a:t>
            </a:r>
          </a:p>
          <a:p xmlns:a="http://schemas.openxmlformats.org/drawingml/2006/main">
            <a:r>
              <a:t>| 공격 | 펭귄 눈꽃 궤도 / 카피바라 방울 파동 / 고양이 별빛 편지 |</a:t>
            </a:r>
          </a:p>
          <a:p xmlns:a="http://schemas.openxmlformats.org/drawingml/2006/main">
            <a:r>
              <a:t>| 적 | 씬별 외형 2종, 추적 행동 공유 |</a:t>
            </a:r>
          </a:p>
          <a:p xmlns:a="http://schemas.openxmlformats.org/drawingml/2006/main">
            <a:r>
              <a:t>| 난이도 | 5분까지 압박 증가, 이후 상한 유지 |</a:t>
            </a:r>
          </a:p>
          <a:p xmlns:a="http://schemas.openxmlformats.org/drawingml/2006/main">
            <a:r>
              <a:t>| 점수 | 처치만 반영, 캐릭터별 최고 점수 |</a:t>
            </a:r>
          </a:p>
          <a:p xmlns:a="http://schemas.openxmlformats.org/drawingml/2006/main">
            <a:r>
              <a:t>| 성장 | 이번 버전에는 없음 |</a:t>
            </a:r>
          </a:p>
          <a:p xmlns:a="http://schemas.openxmlformats.org/drawingml/2006/main">
            <a:r>
              <a:t>| 종료 | 사망 시 결과, 재도전 가능 |</a:t>
            </a:r>
          </a:p>
          <a:p xmlns:a="http://schemas.openxmlformats.org/drawingml/2006/main">
            <a:r>
              <a:t/>
            </a:r>
          </a:p>
          <a:p xmlns:a="http://schemas.openxmlformats.org/drawingml/2006/main">
            <a:r>
              <a:t>다음 검토에서는 특히 **화풍 유지 여부, 한 화면 경기장 여부, 자동 공격 3종의 취향, 체력과 난이도**를 먼저 조정하면 이후 제작 방향이 명확해진다.</a:t>
            </a:r>
          </a:p>
          <a:p xmlns:a="http://schemas.openxmlformats.org/drawingml/2006/main">
            <a:r>
              <a:t/>
            </a:r>
          </a:p>
          <a:p xmlns:a="http://schemas.openxmlformats.org/drawingml/2006/main">
            <a:r>
              <a:t/>
            </a:r>
          </a:p>
          <a:p xmlns:a="http://schemas.openxmlformats.org/drawingml/2006/main">
            <a:r>
              <a:t>개발 지시 예문:</a:t>
            </a:r>
          </a:p>
          <a:p xmlns:a="http://schemas.openxmlformats.org/drawingml/2006/main">
            <a:r>
              <a:t>이 PPT의 검토 완료 버전을 기준으로 3캐릭터 프로토타입을 개발해 주세요. 화면 흐름, 캐릭터별 공격, 무한 생성, 체력·점수, GIF 동작 방향과 완료 기준을 반영하세요. 펭귄 GIF는 연출 참고이며 게임 판정과 궤도는 별도로 구현하세요. 세 씬은 공통 시스템과 개별 설정으로 구성하세요. 본문에 없는 장비·레벨업·과금 시스템을 추가하지 마세요. 변경한 항목은 [슬라이드 번호 / 항목 / 새 값]으로 기재합니다.</a:t>
            </a:r>
          </a:p>
          <a:p xmlns:a="http://schemas.openxmlformats.org/drawingml/2006/main">
            <a:r>
              <a:t/>
            </a:r>
          </a:p>
          <a:p xmlns:a="http://schemas.openxmlformats.org/drawingml/2006/main">
            <a:r>
              <a:t>이 문서는 리뷰 후 개발에 전달하기 위한 기획서이며 이미 완성된 게임을 설명하지 않는다.</a:t>
            </a:r>
          </a:p>
          <a:p xmlns:a="http://schemas.openxmlformats.org/drawingml/2006/main">
            <a:r>
              <a:t/>
            </a:r>
          </a:p>
          <a:p xmlns:a="http://schemas.openxmlformats.org/drawingml/2006/main">
            <a:r>
              <a:t>기획 원문: output/animal-survivors-prototype-v0.1.md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94de48a9f3d4ee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aa0e1a60a324031" /><Relationship Type="http://schemas.openxmlformats.org/officeDocument/2006/relationships/slideLayout" Target="/ppt/slideLayouts/slideLayout1.xml" Id="R12619b20ef7a427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2619b20ef7a427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a62ecc3603544d3" /><Relationship Type="http://schemas.openxmlformats.org/officeDocument/2006/relationships/image" Target="/ppt/media/image.png" Id="Rd643a8f4034c44f6" /><Relationship Type="http://schemas.openxmlformats.org/officeDocument/2006/relationships/notesSlide" Target="/ppt/notesSlides/notesSlide1.xml" Id="Rbc079c83b6a345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b2cecba3cac48a4" /><Relationship Type="http://schemas.openxmlformats.org/officeDocument/2006/relationships/notesSlide" Target="/ppt/notesSlides/notesSlide2.xml" Id="Re68133614d7b4e9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9a0d4a9508d4aa2" /><Relationship Type="http://schemas.openxmlformats.org/officeDocument/2006/relationships/notesSlide" Target="/ppt/notesSlides/notesSlide3.xml" Id="R45f02be11c224f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444e16ca3c9464a" /><Relationship Type="http://schemas.openxmlformats.org/officeDocument/2006/relationships/notesSlide" Target="/ppt/notesSlides/notesSlide4.xml" Id="R3c6a1ccab52345f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36da9bbaa844279" /><Relationship Type="http://schemas.openxmlformats.org/officeDocument/2006/relationships/notesSlide" Target="/ppt/notesSlides/notesSlide5.xml" Id="R1d2b99455ca34c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fb238e9040f4dd6" /><Relationship Type="http://schemas.openxmlformats.org/officeDocument/2006/relationships/notesSlide" Target="/ppt/notesSlides/notesSlide6.xml" Id="R8b4bf5831c0840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d19d6fca3fe4cac" /><Relationship Type="http://schemas.openxmlformats.org/officeDocument/2006/relationships/image" Target="/ppt/media/image2.png" Id="R7aff6eec0c0d4670" /><Relationship Type="http://schemas.openxmlformats.org/officeDocument/2006/relationships/notesSlide" Target="/ppt/notesSlides/notesSlide7.xml" Id="Re2527255519b47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31b02d94bb94d0b" /><Relationship Type="http://schemas.openxmlformats.org/officeDocument/2006/relationships/image" Target="/ppt/media/image3.png" Id="Rb9c0bc8925824cd3" /><Relationship Type="http://schemas.openxmlformats.org/officeDocument/2006/relationships/notesSlide" Target="/ppt/notesSlides/notesSlide8.xml" Id="R2cf6d94b3b3f42c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5f939021e1547c5" /><Relationship Type="http://schemas.openxmlformats.org/officeDocument/2006/relationships/image" Target="/ppt/media/image4.png" Id="R4eaa62c158b245da" /><Relationship Type="http://schemas.openxmlformats.org/officeDocument/2006/relationships/notesSlide" Target="/ppt/notesSlides/notesSlide9.xml" Id="Rc965ecc6a1df45b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6deb3fb1aae459d" /><Relationship Type="http://schemas.openxmlformats.org/officeDocument/2006/relationships/notesSlide" Target="/ppt/notesSlides/notesSlide10.xml" Id="R3359bfe3ff5c4bf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0b3f7a832eb49bf" /><Relationship Type="http://schemas.openxmlformats.org/officeDocument/2006/relationships/notesSlide" Target="/ppt/notesSlides/notesSlide11.xml" Id="R4d80798c83644be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d3823f7a95d41f5" /><Relationship Type="http://schemas.openxmlformats.org/officeDocument/2006/relationships/notesSlide" Target="/ppt/notesSlides/notesSlide12.xml" Id="R38b4aab2438b459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e82a732130648dd" /><Relationship Type="http://schemas.openxmlformats.org/officeDocument/2006/relationships/notesSlide" Target="/ppt/notesSlides/notesSlide13.xml" Id="Ra3ed13bdb60f405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26d89228f7d4225" /><Relationship Type="http://schemas.openxmlformats.org/officeDocument/2006/relationships/notesSlide" Target="/ppt/notesSlides/notesSlide14.xml" Id="Rcb698b88106f4cb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e5f96b7a54a4d2c" /><Relationship Type="http://schemas.openxmlformats.org/officeDocument/2006/relationships/image" Target="/ppt/media/image.gif" Id="R44f0fa3c4a4c427c" /><Relationship Type="http://schemas.openxmlformats.org/officeDocument/2006/relationships/image" Target="/ppt/media/image2.gif" Id="R28b26735aa6a4966" /><Relationship Type="http://schemas.openxmlformats.org/officeDocument/2006/relationships/notesSlide" Target="/ppt/notesSlides/notesSlide15.xml" Id="R2f137b65ea37462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c89e58f78c3492d" /><Relationship Type="http://schemas.openxmlformats.org/officeDocument/2006/relationships/image" Target="/ppt/media/image3.gif" Id="R4f31d4a7870a49df" /><Relationship Type="http://schemas.openxmlformats.org/officeDocument/2006/relationships/notesSlide" Target="/ppt/notesSlides/notesSlide16.xml" Id="R3887a3ac134341c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5120e7783f84535" /><Relationship Type="http://schemas.openxmlformats.org/officeDocument/2006/relationships/image" Target="/ppt/media/image4.gif" Id="Rbccf2f3cd0e4437c" /><Relationship Type="http://schemas.openxmlformats.org/officeDocument/2006/relationships/image" Target="/ppt/media/image5.gif" Id="R473435ed1c85430f" /><Relationship Type="http://schemas.openxmlformats.org/officeDocument/2006/relationships/notesSlide" Target="/ppt/notesSlides/notesSlide17.xml" Id="Rb7d3c2af737f4a7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a72728946d44c46" /><Relationship Type="http://schemas.openxmlformats.org/officeDocument/2006/relationships/notesSlide" Target="/ppt/notesSlides/notesSlide18.xml" Id="Ra9391021ce6c41c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9ae9eef10cf4914" /><Relationship Type="http://schemas.openxmlformats.org/officeDocument/2006/relationships/notesSlide" Target="/ppt/notesSlides/notesSlide19.xml" Id="R3724d592d691423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5bc0e0a227a4f27" /><Relationship Type="http://schemas.openxmlformats.org/officeDocument/2006/relationships/notesSlide" Target="/ppt/notesSlides/notesSlide20.xml" Id="R8b965d45b8364bc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67cd366ea664f85" /><Relationship Type="http://schemas.openxmlformats.org/officeDocument/2006/relationships/notesSlide" Target="/ppt/notesSlides/notesSlide21.xml" Id="R8a21364ef14948c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08eab3b3fd84736" /><Relationship Type="http://schemas.openxmlformats.org/officeDocument/2006/relationships/notesSlide" Target="/ppt/notesSlides/notesSlide22.xml" Id="R5557ef65d9d54bd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6b22915c2784541" /><Relationship Type="http://schemas.openxmlformats.org/officeDocument/2006/relationships/notesSlide" Target="/ppt/notesSlides/notesSlide23.xml" Id="R1c315d380e6c468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0dc78502b42d41c3" /><Relationship Type="http://schemas.openxmlformats.org/officeDocument/2006/relationships/notesSlide" Target="/ppt/notesSlides/notesSlide24.xml" Id="Rd20520654acc4ac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0c79830403741ee" /><Relationship Type="http://schemas.openxmlformats.org/officeDocument/2006/relationships/notesSlide" Target="/ppt/notesSlides/notesSlide25.xml" Id="R9fef0b96c23a450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d475cfd43544b08" /><Relationship Type="http://schemas.openxmlformats.org/officeDocument/2006/relationships/notesSlide" Target="/ppt/notesSlides/notesSlide26.xml" Id="Rbcd18ff91e8a436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4d650843be514264" /><Relationship Type="http://schemas.openxmlformats.org/officeDocument/2006/relationships/notesSlide" Target="/ppt/notesSlides/notesSlide27.xml" Id="Rb97485883a8442e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771bde98919446b" /><Relationship Type="http://schemas.openxmlformats.org/officeDocument/2006/relationships/notesSlide" Target="/ppt/notesSlides/notesSlide28.xml" Id="R399d07039ee248e1" /></Relationships>
</file>

<file path=ppt/slides/slide1.xml><?xml version="1.0" encoding="utf-8"?>
<p:sld xmlns:p="http://schemas.openxmlformats.org/presentationml/2006/main">
  <p:cSld>
    <p:bg>
      <p:bgPr>
        <a:solidFill xmlns:a="http://schemas.openxmlformats.org/drawingml/2006/main">
          <a:srgbClr val="E8EF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3FF17EF-A8DC-4654-9A9F-82A1D781A29F}"/>
              </a:ext>
            </a:extLst>
          </p:cNvPr>
          <p:cNvSpPr>
            <a:spLocks xmlns:a="http://schemas.openxmlformats.org/drawingml/2006/main" noGrp="1"/>
          </p:cNvSpPr>
          <p:nvPr/>
        </p:nvSpPr>
        <p:spPr>
          <a:xfrm xmlns:a="http://schemas.openxmlformats.org/drawingml/2006/main">
            <a:off x="609600" y="1095375"/>
            <a:ext cx="619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800" b="1">
                <a:solidFill>
                  <a:srgbClr val="26374D"/>
                </a:solidFill>
                <a:latin typeface="Malgun Gothic"/>
                <a:ea typeface="Malgun Gothic"/>
                <a:cs typeface="Malgun Gothic"/>
              </a:defRPr>
            </a:pPr>
            <a:r>
              <a:rPr sz="4800" b="1">
                <a:solidFill>
                  <a:srgbClr val="26374D"/>
                </a:solidFill>
                <a:latin typeface="Malgun Gothic"/>
                <a:ea typeface="Malgun Gothic"/>
                <a:cs typeface="Malgun Gothic"/>
              </a:rPr>
              <a:t>포근한 모험</a:t>
            </a:r>
          </a:p>
        </p:txBody>
      </p:sp>
      <p:sp>
        <p:nvSpPr>
          <p:cNvPr id="2" name="">
            <a:extLst xmlns:a="http://schemas.openxmlformats.org/drawingml/2006/main">
              <a:ext uri="{FF2B5EF4-FFF2-40B4-BE49-F238E27FC236}">
                <a16:creationId xmlns:a16="http://schemas.microsoft.com/office/drawing/2014/main" id="{73F6691C-DC6C-40E0-AF9D-22CCD9EF49CA}"/>
              </a:ext>
            </a:extLst>
          </p:cNvPr>
          <p:cNvSpPr>
            <a:spLocks xmlns:a="http://schemas.openxmlformats.org/drawingml/2006/main" noGrp="1"/>
          </p:cNvSpPr>
          <p:nvPr/>
        </p:nvSpPr>
        <p:spPr>
          <a:xfrm xmlns:a="http://schemas.openxmlformats.org/drawingml/2006/main">
            <a:off x="647700" y="2124075"/>
            <a:ext cx="628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00" b="1">
                <a:solidFill>
                  <a:srgbClr val="26374D"/>
                </a:solidFill>
                <a:latin typeface="Malgun Gothic"/>
                <a:ea typeface="Malgun Gothic"/>
                <a:cs typeface="Malgun Gothic"/>
              </a:defRPr>
            </a:pPr>
            <a:r>
              <a:rPr sz="2700" b="1">
                <a:solidFill>
                  <a:srgbClr val="26374D"/>
                </a:solidFill>
                <a:latin typeface="Malgun Gothic"/>
                <a:ea typeface="Malgun Gothic"/>
                <a:cs typeface="Malgun Gothic"/>
              </a:rPr>
              <a:t>프로토타입 개발 기획서</a:t>
            </a:r>
          </a:p>
        </p:txBody>
      </p:sp>
      <p:sp>
        <p:nvSpPr>
          <p:cNvPr id="3" name="">
            <a:extLst xmlns:a="http://schemas.openxmlformats.org/drawingml/2006/main">
              <a:ext uri="{FF2B5EF4-FFF2-40B4-BE49-F238E27FC236}">
                <a16:creationId xmlns:a16="http://schemas.microsoft.com/office/drawing/2014/main" id="{D13A7407-0654-468A-8675-9E3762979380}"/>
              </a:ext>
            </a:extLst>
          </p:cNvPr>
          <p:cNvSpPr>
            <a:spLocks xmlns:a="http://schemas.openxmlformats.org/drawingml/2006/main" noGrp="1"/>
          </p:cNvSpPr>
          <p:nvPr/>
        </p:nvSpPr>
        <p:spPr>
          <a:xfrm xmlns:a="http://schemas.openxmlformats.org/drawingml/2006/main">
            <a:off x="647700" y="3162300"/>
            <a:ext cx="5905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68778C"/>
                </a:solidFill>
                <a:latin typeface="Malgun Gothic"/>
                <a:ea typeface="Malgun Gothic"/>
                <a:cs typeface="Malgun Gothic"/>
              </a:defRPr>
            </a:pPr>
            <a:r>
              <a:rPr sz="2100" b="0">
                <a:solidFill>
                  <a:srgbClr val="68778C"/>
                </a:solidFill>
                <a:latin typeface="Malgun Gothic"/>
                <a:ea typeface="Malgun Gothic"/>
                <a:cs typeface="Malgun Gothic"/>
              </a:rPr>
              <a:t>펭귄 · 카피바라 · 고양이</a:t>
            </a:r>
          </a:p>
          <a:p xmlns:a="http://schemas.openxmlformats.org/drawingml/2006/main">
            <a:pPr>
              <a:defRPr sz="2100" b="0">
                <a:solidFill>
                  <a:srgbClr val="68778C"/>
                </a:solidFill>
                <a:latin typeface="Malgun Gothic"/>
                <a:ea typeface="Malgun Gothic"/>
                <a:cs typeface="Malgun Gothic"/>
              </a:defRPr>
            </a:pPr>
            <a:r>
              <a:rPr sz="2100" b="0">
                <a:solidFill>
                  <a:srgbClr val="68778C"/>
                </a:solidFill>
                <a:latin typeface="Malgun Gothic"/>
                <a:ea typeface="Malgun Gothic"/>
                <a:cs typeface="Malgun Gothic"/>
              </a:rPr>
              <a:t>캐릭터 선택과 무한 생존 플레이</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d643a8f4034c44f6"/>
          <a:stretch xmlns:a="http://schemas.openxmlformats.org/drawingml/2006/main"/>
        </p:blipFill>
        <p:spPr>
          <a:xfrm xmlns:a="http://schemas.openxmlformats.org/drawingml/2006/main">
            <a:off x="7524750" y="1381125"/>
            <a:ext cx="3714750" cy="3714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BFD28FD-866A-4316-92F4-318FDE9B19F9}"/>
              </a:ext>
            </a:extLst>
          </p:cNvPr>
          <p:cNvSpPr>
            <a:spLocks xmlns:a="http://schemas.openxmlformats.org/drawingml/2006/main" noGrp="1"/>
          </p:cNvSpPr>
          <p:nvPr/>
        </p:nvSpPr>
        <p:spPr>
          <a:xfrm xmlns:a="http://schemas.openxmlformats.org/drawingml/2006/main">
            <a:off x="647700" y="5705475"/>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617FA7"/>
                </a:solidFill>
                <a:latin typeface="Malgun Gothic"/>
                <a:ea typeface="Malgun Gothic"/>
                <a:cs typeface="Malgun Gothic"/>
              </a:defRPr>
            </a:pPr>
            <a:r>
              <a:rPr sz="1650" b="0">
                <a:solidFill>
                  <a:srgbClr val="617FA7"/>
                </a:solidFill>
                <a:latin typeface="Malgun Gothic"/>
                <a:ea typeface="Malgun Gothic"/>
                <a:cs typeface="Malgun Gothic"/>
              </a:rPr>
              <a:t>검토용 v0.2   /   2026.09.10</a:t>
            </a:r>
          </a:p>
        </p:txBody>
      </p:sp>
    </p:spTree>
    <p:extLst>
      <p:ext uri="{BB962C8B-B14F-4D97-AF65-F5344CB8AC3E}">
        <p14:creationId xmlns:p14="http://schemas.microsoft.com/office/powerpoint/2010/main" val="1356350623"/>
      </p:ext>
    </p:extLst>
  </p:cSld>
</p:sld>
</file>

<file path=ppt/slides/slide2.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B8040ED-64E4-4E34-A16D-F56506EFFED6}"/>
              </a:ext>
            </a:extLst>
          </p:cNvPr>
          <p:cNvSpPr>
            <a:spLocks xmlns:a="http://schemas.openxmlformats.org/drawingml/2006/main" noGrp="1"/>
          </p:cNvSpPr>
          <p:nvPr/>
        </p:nvSpPr>
        <p:spPr>
          <a:xfrm xmlns:a="http://schemas.openxmlformats.org/drawingml/2006/main">
            <a:off x="571500" y="40957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26374D"/>
                </a:solidFill>
                <a:latin typeface="Malgun Gothic"/>
                <a:ea typeface="Malgun Gothic"/>
                <a:cs typeface="Malgun Gothic"/>
              </a:defRPr>
            </a:pPr>
            <a:r>
              <a:rPr sz="3150" b="1">
                <a:solidFill>
                  <a:srgbClr val="26374D"/>
                </a:solidFill>
                <a:latin typeface="Malgun Gothic"/>
                <a:ea typeface="Malgun Gothic"/>
                <a:cs typeface="Malgun Gothic"/>
              </a:rPr>
              <a:t>프로토타입 범위</a:t>
            </a:r>
          </a:p>
        </p:txBody>
      </p:sp>
      <p:sp>
        <p:nvSpPr>
          <p:cNvPr id="2" name="">
            <a:extLst xmlns:a="http://schemas.openxmlformats.org/drawingml/2006/main">
              <a:ext uri="{FF2B5EF4-FFF2-40B4-BE49-F238E27FC236}">
                <a16:creationId xmlns:a16="http://schemas.microsoft.com/office/drawing/2014/main" id="{CFC9BDE8-E315-41F7-91BB-D9FE320E3ED3}"/>
              </a:ext>
            </a:extLst>
          </p:cNvPr>
          <p:cNvSpPr>
            <a:spLocks xmlns:a="http://schemas.openxmlformats.org/drawingml/2006/main" noGrp="1"/>
          </p:cNvSpPr>
          <p:nvPr/>
        </p:nvSpPr>
        <p:spPr>
          <a:xfrm xmlns:a="http://schemas.openxmlformats.org/drawingml/2006/main">
            <a:off x="590550" y="1104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이번 문서는 캐릭터 선택부터 결과와 재도전까지의 동작을 정의한다</a:t>
            </a:r>
          </a:p>
        </p:txBody>
      </p:sp>
      <p:sp>
        <p:nvSpPr>
          <p:cNvPr id="3" name="">
            <a:extLst xmlns:a="http://schemas.openxmlformats.org/drawingml/2006/main">
              <a:ext uri="{FF2B5EF4-FFF2-40B4-BE49-F238E27FC236}">
                <a16:creationId xmlns:a16="http://schemas.microsoft.com/office/drawing/2014/main" id="{5929388E-0224-4110-BAAA-07775C45D275}"/>
              </a:ext>
            </a:extLst>
          </p:cNvPr>
          <p:cNvSpPr>
            <a:spLocks xmlns:a="http://schemas.openxmlformats.org/drawingml/2006/main" noGrp="1"/>
          </p:cNvSpPr>
          <p:nvPr/>
        </p:nvSpPr>
        <p:spPr>
          <a:xfrm xmlns:a="http://schemas.openxmlformats.org/drawingml/2006/main">
            <a:off x="590550" y="6496050"/>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68778C"/>
                </a:solidFill>
                <a:latin typeface="Malgun Gothic"/>
                <a:ea typeface="Malgun Gothic"/>
                <a:cs typeface="Malgun Gothic"/>
              </a:defRPr>
            </a:pPr>
            <a:r>
              <a:rPr sz="975" b="0">
                <a:solidFill>
                  <a:srgbClr val="68778C"/>
                </a:solidFill>
                <a:latin typeface="Malgun Gothic"/>
                <a:ea typeface="Malgun Gothic"/>
                <a:cs typeface="Malgun Gothic"/>
              </a:rPr>
              <a:t>동물 힐링 서바이벌 / 프로토타입 개발 기획 v0.2</a:t>
            </a:r>
          </a:p>
        </p:txBody>
      </p:sp>
      <p:sp>
        <p:nvSpPr>
          <p:cNvPr id="4" name="">
            <a:extLst xmlns:a="http://schemas.openxmlformats.org/drawingml/2006/main">
              <a:ext uri="{FF2B5EF4-FFF2-40B4-BE49-F238E27FC236}">
                <a16:creationId xmlns:a16="http://schemas.microsoft.com/office/drawing/2014/main" id="{072D0918-0382-49D2-90A2-B7BC5FFC8E42}"/>
              </a:ext>
            </a:extLst>
          </p:cNvPr>
          <p:cNvSpPr>
            <a:spLocks xmlns:a="http://schemas.openxmlformats.org/drawingml/2006/main" noGrp="1"/>
          </p:cNvSpPr>
          <p:nvPr/>
        </p:nvSpPr>
        <p:spPr>
          <a:xfrm xmlns:a="http://schemas.openxmlformats.org/drawingml/2006/main">
            <a:off x="11096625" y="64770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8778C"/>
                </a:solidFill>
                <a:latin typeface="Malgun Gothic"/>
                <a:ea typeface="Malgun Gothic"/>
                <a:cs typeface="Malgun Gothic"/>
              </a:defRPr>
            </a:pPr>
            <a:r>
              <a:rPr sz="1125" b="0">
                <a:solidFill>
                  <a:srgbClr val="68778C"/>
                </a:solidFill>
                <a:latin typeface="Malgun Gothic"/>
                <a:ea typeface="Malgun Gothic"/>
                <a:cs typeface="Malgun Gothic"/>
              </a:rPr>
              <a:t>02</a:t>
            </a:r>
          </a:p>
        </p:txBody>
      </p:sp>
      <p:sp>
        <p:nvSpPr>
          <p:cNvPr id="5" name="">
            <a:extLst xmlns:a="http://schemas.openxmlformats.org/drawingml/2006/main">
              <a:ext uri="{FF2B5EF4-FFF2-40B4-BE49-F238E27FC236}">
                <a16:creationId xmlns:a16="http://schemas.microsoft.com/office/drawing/2014/main" id="{CC339E9A-B7FF-47F8-9283-F1AE8F2AB686}"/>
              </a:ext>
            </a:extLst>
          </p:cNvPr>
          <p:cNvSpPr>
            <a:spLocks xmlns:a="http://schemas.openxmlformats.org/drawingml/2006/main" noGrp="1"/>
          </p:cNvSpPr>
          <p:nvPr/>
        </p:nvSpPr>
        <p:spPr>
          <a:xfrm xmlns:a="http://schemas.openxmlformats.org/drawingml/2006/main">
            <a:off x="609600" y="18097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6374D"/>
                </a:solidFill>
                <a:latin typeface="Malgun Gothic"/>
                <a:ea typeface="Malgun Gothic"/>
                <a:cs typeface="Malgun Gothic"/>
              </a:defRPr>
            </a:pPr>
            <a:r>
              <a:rPr sz="2025" b="1">
                <a:solidFill>
                  <a:srgbClr val="26374D"/>
                </a:solidFill>
                <a:latin typeface="Malgun Gothic"/>
                <a:ea typeface="Malgun Gothic"/>
                <a:cs typeface="Malgun Gothic"/>
              </a:rPr>
              <a:t>요청에 포함된 기능</a:t>
            </a:r>
          </a:p>
        </p:txBody>
      </p:sp>
      <p:sp>
        <p:nvSpPr>
          <p:cNvPr id="6" name="">
            <a:extLst xmlns:a="http://schemas.openxmlformats.org/drawingml/2006/main">
              <a:ext uri="{FF2B5EF4-FFF2-40B4-BE49-F238E27FC236}">
                <a16:creationId xmlns:a16="http://schemas.microsoft.com/office/drawing/2014/main" id="{4B310983-DD3F-435A-877F-2585B7860B7A}"/>
              </a:ext>
            </a:extLst>
          </p:cNvPr>
          <p:cNvSpPr>
            <a:spLocks xmlns:a="http://schemas.openxmlformats.org/drawingml/2006/main" noGrp="1"/>
          </p:cNvSpPr>
          <p:nvPr/>
        </p:nvSpPr>
        <p:spPr>
          <a:xfrm xmlns:a="http://schemas.openxmlformats.org/drawingml/2006/main">
            <a:off x="609600" y="22288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8778C"/>
                </a:solidFill>
                <a:latin typeface="Malgun Gothic"/>
                <a:ea typeface="Malgun Gothic"/>
                <a:cs typeface="Malgun Gothic"/>
              </a:defRPr>
            </a:pPr>
            <a:r>
              <a:rPr sz="1875" b="0">
                <a:solidFill>
                  <a:srgbClr val="68778C"/>
                </a:solidFill>
                <a:latin typeface="Malgun Gothic"/>
                <a:ea typeface="Malgun Gothic"/>
                <a:cs typeface="Malgun Gothic"/>
              </a:rPr>
              <a:t>인트로 선택 화면, 플레이 씬 3개, 자동 공격, 무한 몬스터, 처치 점수</a:t>
            </a:r>
          </a:p>
        </p:txBody>
      </p:sp>
      <p:sp>
        <p:nvSpPr>
          <p:cNvPr id="7" name="">
            <a:extLst xmlns:a="http://schemas.openxmlformats.org/drawingml/2006/main">
              <a:ext uri="{FF2B5EF4-FFF2-40B4-BE49-F238E27FC236}">
                <a16:creationId xmlns:a16="http://schemas.microsoft.com/office/drawing/2014/main" id="{10962D8A-2E80-46EA-B40E-EC1A309D48CB}"/>
              </a:ext>
            </a:extLst>
          </p:cNvPr>
          <p:cNvSpPr>
            <a:spLocks xmlns:a="http://schemas.openxmlformats.org/drawingml/2006/main" noGrp="1"/>
          </p:cNvSpPr>
          <p:nvPr/>
        </p:nvSpPr>
        <p:spPr>
          <a:xfrm xmlns:a="http://schemas.openxmlformats.org/drawingml/2006/main">
            <a:off x="609600" y="30670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6374D"/>
                </a:solidFill>
                <a:latin typeface="Malgun Gothic"/>
                <a:ea typeface="Malgun Gothic"/>
                <a:cs typeface="Malgun Gothic"/>
              </a:defRPr>
            </a:pPr>
            <a:r>
              <a:rPr sz="2025" b="1">
                <a:solidFill>
                  <a:srgbClr val="26374D"/>
                </a:solidFill>
                <a:latin typeface="Malgun Gothic"/>
                <a:ea typeface="Malgun Gothic"/>
                <a:cs typeface="Malgun Gothic"/>
              </a:rPr>
              <a:t>검토할 기본값</a:t>
            </a:r>
          </a:p>
        </p:txBody>
      </p:sp>
      <p:sp>
        <p:nvSpPr>
          <p:cNvPr id="8" name="">
            <a:extLst xmlns:a="http://schemas.openxmlformats.org/drawingml/2006/main">
              <a:ext uri="{FF2B5EF4-FFF2-40B4-BE49-F238E27FC236}">
                <a16:creationId xmlns:a16="http://schemas.microsoft.com/office/drawing/2014/main" id="{9DCB2539-F184-4751-86A8-5A9137F2124A}"/>
              </a:ext>
            </a:extLst>
          </p:cNvPr>
          <p:cNvSpPr>
            <a:spLocks xmlns:a="http://schemas.openxmlformats.org/drawingml/2006/main" noGrp="1"/>
          </p:cNvSpPr>
          <p:nvPr/>
        </p:nvSpPr>
        <p:spPr>
          <a:xfrm xmlns:a="http://schemas.openxmlformats.org/drawingml/2006/main">
            <a:off x="609600" y="34861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8778C"/>
                </a:solidFill>
                <a:latin typeface="Malgun Gothic"/>
                <a:ea typeface="Malgun Gothic"/>
                <a:cs typeface="Malgun Gothic"/>
              </a:defRPr>
            </a:pPr>
            <a:r>
              <a:rPr sz="1875" b="0">
                <a:solidFill>
                  <a:srgbClr val="68778C"/>
                </a:solidFill>
                <a:latin typeface="Malgun Gothic"/>
                <a:ea typeface="Malgun Gothic"/>
                <a:cs typeface="Malgun Gothic"/>
              </a:rPr>
              <a:t>PC 브라우저, 고정 화면, 이동 조작, 체력 5칸, 캐릭터별 최고 기록</a:t>
            </a:r>
          </a:p>
        </p:txBody>
      </p:sp>
      <p:sp>
        <p:nvSpPr>
          <p:cNvPr id="9" name="">
            <a:extLst xmlns:a="http://schemas.openxmlformats.org/drawingml/2006/main">
              <a:ext uri="{FF2B5EF4-FFF2-40B4-BE49-F238E27FC236}">
                <a16:creationId xmlns:a16="http://schemas.microsoft.com/office/drawing/2014/main" id="{C01AAFFD-C121-430C-B28F-0C2F903909D6}"/>
              </a:ext>
            </a:extLst>
          </p:cNvPr>
          <p:cNvSpPr>
            <a:spLocks xmlns:a="http://schemas.openxmlformats.org/drawingml/2006/main" noGrp="1"/>
          </p:cNvSpPr>
          <p:nvPr/>
        </p:nvSpPr>
        <p:spPr>
          <a:xfrm xmlns:a="http://schemas.openxmlformats.org/drawingml/2006/main">
            <a:off x="609600" y="43243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6374D"/>
                </a:solidFill>
                <a:latin typeface="Malgun Gothic"/>
                <a:ea typeface="Malgun Gothic"/>
                <a:cs typeface="Malgun Gothic"/>
              </a:defRPr>
            </a:pPr>
            <a:r>
              <a:rPr sz="2025" b="1">
                <a:solidFill>
                  <a:srgbClr val="26374D"/>
                </a:solidFill>
                <a:latin typeface="Malgun Gothic"/>
                <a:ea typeface="Malgun Gothic"/>
                <a:cs typeface="Malgun Gothic"/>
              </a:rPr>
              <a:t>이번 버전의 범위 밖</a:t>
            </a:r>
          </a:p>
        </p:txBody>
      </p:sp>
      <p:sp>
        <p:nvSpPr>
          <p:cNvPr id="10" name="">
            <a:extLst xmlns:a="http://schemas.openxmlformats.org/drawingml/2006/main">
              <a:ext uri="{FF2B5EF4-FFF2-40B4-BE49-F238E27FC236}">
                <a16:creationId xmlns:a16="http://schemas.microsoft.com/office/drawing/2014/main" id="{7591CE22-48E4-43B1-A8D4-E67111ED4031}"/>
              </a:ext>
            </a:extLst>
          </p:cNvPr>
          <p:cNvSpPr>
            <a:spLocks xmlns:a="http://schemas.openxmlformats.org/drawingml/2006/main" noGrp="1"/>
          </p:cNvSpPr>
          <p:nvPr/>
        </p:nvSpPr>
        <p:spPr>
          <a:xfrm xmlns:a="http://schemas.openxmlformats.org/drawingml/2006/main">
            <a:off x="609600" y="47434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8778C"/>
                </a:solidFill>
                <a:latin typeface="Malgun Gothic"/>
                <a:ea typeface="Malgun Gothic"/>
                <a:cs typeface="Malgun Gothic"/>
              </a:defRPr>
            </a:pPr>
            <a:r>
              <a:rPr sz="1875" b="0">
                <a:solidFill>
                  <a:srgbClr val="68778C"/>
                </a:solidFill>
                <a:latin typeface="Malgun Gothic"/>
                <a:ea typeface="Malgun Gothic"/>
                <a:cs typeface="Malgun Gothic"/>
              </a:rPr>
              <a:t>레벨업, 장비, 영구 성장, 재화, 보스, 스테이지 클리어, 결제, 온라인 랭킹</a:t>
            </a:r>
          </a:p>
        </p:txBody>
      </p:sp>
      <p:sp>
        <p:nvSpPr>
          <p:cNvPr id="11" name="">
            <a:extLst xmlns:a="http://schemas.openxmlformats.org/drawingml/2006/main">
              <a:ext uri="{FF2B5EF4-FFF2-40B4-BE49-F238E27FC236}">
                <a16:creationId xmlns:a16="http://schemas.microsoft.com/office/drawing/2014/main" id="{1B07CDAC-AC81-452A-AED6-B07FC096D261}"/>
              </a:ext>
            </a:extLst>
          </p:cNvPr>
          <p:cNvSpPr>
            <a:spLocks xmlns:a="http://schemas.openxmlformats.org/drawingml/2006/main" noGrp="1"/>
          </p:cNvSpPr>
          <p:nvPr/>
        </p:nvSpPr>
        <p:spPr>
          <a:xfrm xmlns:a="http://schemas.openxmlformats.org/drawingml/2006/main">
            <a:off x="609600" y="58578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7FA7"/>
                </a:solidFill>
                <a:latin typeface="Malgun Gothic"/>
                <a:ea typeface="Malgun Gothic"/>
                <a:cs typeface="Malgun Gothic"/>
              </a:defRPr>
            </a:pPr>
            <a:r>
              <a:rPr sz="1650" b="1">
                <a:solidFill>
                  <a:srgbClr val="617FA7"/>
                </a:solidFill>
                <a:latin typeface="Malgun Gothic"/>
                <a:ea typeface="Malgun Gothic"/>
                <a:cs typeface="Malgun Gothic"/>
              </a:rPr>
              <a:t>목표: 각 동물의 조작감과 공격 연출을 비교하고 반복 플레이가 즐거운지 확인한다</a:t>
            </a:r>
          </a:p>
        </p:txBody>
      </p:sp>
    </p:spTree>
    <p:extLst>
      <p:ext uri="{BB962C8B-B14F-4D97-AF65-F5344CB8AC3E}">
        <p14:creationId xmlns:p14="http://schemas.microsoft.com/office/powerpoint/2010/main" val="192640703"/>
      </p:ext>
    </p:extLst>
  </p:cSld>
</p:sld>
</file>

<file path=ppt/slides/slide3.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496EBA2-2607-4BF7-BEE1-279338DCFCF6}"/>
              </a:ext>
            </a:extLst>
          </p:cNvPr>
          <p:cNvSpPr>
            <a:spLocks xmlns:a="http://schemas.openxmlformats.org/drawingml/2006/main" noGrp="1"/>
          </p:cNvSpPr>
          <p:nvPr/>
        </p:nvSpPr>
        <p:spPr>
          <a:xfrm xmlns:a="http://schemas.openxmlformats.org/drawingml/2006/main">
            <a:off x="571500" y="40957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26374D"/>
                </a:solidFill>
                <a:latin typeface="Malgun Gothic"/>
                <a:ea typeface="Malgun Gothic"/>
                <a:cs typeface="Malgun Gothic"/>
              </a:defRPr>
            </a:pPr>
            <a:r>
              <a:rPr sz="3150" b="1">
                <a:solidFill>
                  <a:srgbClr val="26374D"/>
                </a:solidFill>
                <a:latin typeface="Malgun Gothic"/>
                <a:ea typeface="Malgun Gothic"/>
                <a:cs typeface="Malgun Gothic"/>
              </a:rPr>
              <a:t>씬 구성과 공통 플레이 흐름</a:t>
            </a:r>
          </a:p>
        </p:txBody>
      </p:sp>
      <p:sp>
        <p:nvSpPr>
          <p:cNvPr id="2" name="">
            <a:extLst xmlns:a="http://schemas.openxmlformats.org/drawingml/2006/main">
              <a:ext uri="{FF2B5EF4-FFF2-40B4-BE49-F238E27FC236}">
                <a16:creationId xmlns:a16="http://schemas.microsoft.com/office/drawing/2014/main" id="{D4D78DF6-FE01-4F16-93BC-A7983C94D381}"/>
              </a:ext>
            </a:extLst>
          </p:cNvPr>
          <p:cNvSpPr>
            <a:spLocks xmlns:a="http://schemas.openxmlformats.org/drawingml/2006/main" noGrp="1"/>
          </p:cNvSpPr>
          <p:nvPr/>
        </p:nvSpPr>
        <p:spPr>
          <a:xfrm xmlns:a="http://schemas.openxmlformats.org/drawingml/2006/main">
            <a:off x="590550" y="1104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인트로 1개와 캐릭터별 플레이 씬 3개를 구성한다</a:t>
            </a:r>
          </a:p>
        </p:txBody>
      </p:sp>
      <p:sp>
        <p:nvSpPr>
          <p:cNvPr id="3" name="">
            <a:extLst xmlns:a="http://schemas.openxmlformats.org/drawingml/2006/main">
              <a:ext uri="{FF2B5EF4-FFF2-40B4-BE49-F238E27FC236}">
                <a16:creationId xmlns:a16="http://schemas.microsoft.com/office/drawing/2014/main" id="{BD3625CA-9CF4-4EB0-8955-1A28202057B9}"/>
              </a:ext>
            </a:extLst>
          </p:cNvPr>
          <p:cNvSpPr>
            <a:spLocks xmlns:a="http://schemas.openxmlformats.org/drawingml/2006/main" noGrp="1"/>
          </p:cNvSpPr>
          <p:nvPr/>
        </p:nvSpPr>
        <p:spPr>
          <a:xfrm xmlns:a="http://schemas.openxmlformats.org/drawingml/2006/main">
            <a:off x="590550" y="6496050"/>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68778C"/>
                </a:solidFill>
                <a:latin typeface="Malgun Gothic"/>
                <a:ea typeface="Malgun Gothic"/>
                <a:cs typeface="Malgun Gothic"/>
              </a:defRPr>
            </a:pPr>
            <a:r>
              <a:rPr sz="975" b="0">
                <a:solidFill>
                  <a:srgbClr val="68778C"/>
                </a:solidFill>
                <a:latin typeface="Malgun Gothic"/>
                <a:ea typeface="Malgun Gothic"/>
                <a:cs typeface="Malgun Gothic"/>
              </a:rPr>
              <a:t>동물 힐링 서바이벌 / 프로토타입 개발 기획 v0.2</a:t>
            </a:r>
          </a:p>
        </p:txBody>
      </p:sp>
      <p:sp>
        <p:nvSpPr>
          <p:cNvPr id="4" name="">
            <a:extLst xmlns:a="http://schemas.openxmlformats.org/drawingml/2006/main">
              <a:ext uri="{FF2B5EF4-FFF2-40B4-BE49-F238E27FC236}">
                <a16:creationId xmlns:a16="http://schemas.microsoft.com/office/drawing/2014/main" id="{4283CF77-E823-426F-9515-20605C8A4049}"/>
              </a:ext>
            </a:extLst>
          </p:cNvPr>
          <p:cNvSpPr>
            <a:spLocks xmlns:a="http://schemas.openxmlformats.org/drawingml/2006/main" noGrp="1"/>
          </p:cNvSpPr>
          <p:nvPr/>
        </p:nvSpPr>
        <p:spPr>
          <a:xfrm xmlns:a="http://schemas.openxmlformats.org/drawingml/2006/main">
            <a:off x="11096625" y="64770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8778C"/>
                </a:solidFill>
                <a:latin typeface="Malgun Gothic"/>
                <a:ea typeface="Malgun Gothic"/>
                <a:cs typeface="Malgun Gothic"/>
              </a:defRPr>
            </a:pPr>
            <a:r>
              <a:rPr sz="1125" b="0">
                <a:solidFill>
                  <a:srgbClr val="68778C"/>
                </a:solidFill>
                <a:latin typeface="Malgun Gothic"/>
                <a:ea typeface="Malgun Gothic"/>
                <a:cs typeface="Malgun Gothic"/>
              </a:rPr>
              <a:t>03</a:t>
            </a:r>
          </a:p>
        </p:txBody>
      </p:sp>
      <p:graphicFrame>
        <p:nvGraphicFramePr>
          <p:cNvPr id="12" name=""/>
          <p:cNvGraphicFramePr/>
          <p:nvPr/>
        </p:nvGraphicFramePr>
        <p:xfrm>
          <a:off xmlns:a="http://schemas.openxmlformats.org/drawingml/2006/main" x="590550" y="1762125"/>
          <a:ext xmlns:a="http://schemas.openxmlformats.org/drawingml/2006/main" cx="11010900" cy="3143250"/>
        </p:xfrm>
        <a:graphic xmlns:a="http://schemas.openxmlformats.org/drawingml/2006/main">
          <a:graphicData uri="http://schemas.openxmlformats.org/drawingml/2006/table">
            <a:tbl>
              <a:tblPr/>
              <a:tblGrid>
                <a:gridCol w="2381250"/>
                <a:gridCol w="2667000"/>
                <a:gridCol w="2476500"/>
                <a:gridCol w="3486150"/>
              </a:tblGrid>
              <a:tr h="785813">
                <a:tc>
                  <a:txBody>
                    <a:bodyPr lIns="123825" tIns="66675" rIns="123825" bIns="66675">
                      <a:noAutofit/>
                    </a:bodyPr>
                    <a:lstStyle/>
                    <a:p>
                      <a:r>
                        <a:rPr sz="1800" b="1">
                          <a:solidFill>
                            <a:srgbClr val="FFFFFF"/>
                          </a:solidFill>
                          <a:latin typeface="Malgun Gothic"/>
                          <a:ea typeface="Malgun Gothic"/>
                          <a:cs typeface="Malgun Gothic"/>
                        </a:rPr>
                        <a:t>진입 선택</a:t>
                      </a:r>
                    </a:p>
                  </a:txBody>
                  <a:tcPr marL="91440" marR="91440" marT="45720" marB="45720" anchor="ctr">
                    <a:solidFill>
                      <a:srgbClr val="26374D"/>
                    </a:solidFill>
                  </a:tcPr>
                </a:tc>
                <a:tc>
                  <a:txBody>
                    <a:bodyPr lIns="123825" tIns="66675" rIns="123825" bIns="66675">
                      <a:noAutofit/>
                    </a:bodyPr>
                    <a:lstStyle/>
                    <a:p>
                      <a:r>
                        <a:rPr sz="1800" b="1">
                          <a:solidFill>
                            <a:srgbClr val="FFFFFF"/>
                          </a:solidFill>
                          <a:latin typeface="Malgun Gothic"/>
                          <a:ea typeface="Malgun Gothic"/>
                          <a:cs typeface="Malgun Gothic"/>
                        </a:rPr>
                        <a:t>플레이 씬</a:t>
                      </a:r>
                    </a:p>
                  </a:txBody>
                  <a:tcPr marL="91440" marR="91440" marT="45720" marB="45720" anchor="ctr">
                    <a:solidFill>
                      <a:srgbClr val="26374D"/>
                    </a:solidFill>
                  </a:tcPr>
                </a:tc>
                <a:tc>
                  <a:txBody>
                    <a:bodyPr lIns="123825" tIns="66675" rIns="123825" bIns="66675">
                      <a:noAutofit/>
                    </a:bodyPr>
                    <a:lstStyle/>
                    <a:p>
                      <a:r>
                        <a:rPr sz="1800" b="1">
                          <a:solidFill>
                            <a:srgbClr val="FFFFFF"/>
                          </a:solidFill>
                          <a:latin typeface="Malgun Gothic"/>
                          <a:ea typeface="Malgun Gothic"/>
                          <a:cs typeface="Malgun Gothic"/>
                        </a:rPr>
                        <a:t>공격</a:t>
                      </a:r>
                    </a:p>
                  </a:txBody>
                  <a:tcPr marL="91440" marR="91440" marT="45720" marB="45720" anchor="ctr">
                    <a:solidFill>
                      <a:srgbClr val="26374D"/>
                    </a:solidFill>
                  </a:tcPr>
                </a:tc>
                <a:tc>
                  <a:txBody>
                    <a:bodyPr lIns="123825" tIns="66675" rIns="123825" bIns="66675">
                      <a:noAutofit/>
                    </a:bodyPr>
                    <a:lstStyle/>
                    <a:p>
                      <a:r>
                        <a:rPr sz="1800" b="1">
                          <a:solidFill>
                            <a:srgbClr val="FFFFFF"/>
                          </a:solidFill>
                          <a:latin typeface="Malgun Gothic"/>
                          <a:ea typeface="Malgun Gothic"/>
                          <a:cs typeface="Malgun Gothic"/>
                        </a:rPr>
                        <a:t>결과 후 선택</a:t>
                      </a:r>
                    </a:p>
                  </a:txBody>
                  <a:tcPr marL="91440" marR="91440" marT="45720" marB="45720" anchor="ctr">
                    <a:solidFill>
                      <a:srgbClr val="26374D"/>
                    </a:solidFill>
                  </a:tcPr>
                </a:tc>
              </a:tr>
              <a:tr h="785813">
                <a:tc>
                  <a:txBody>
                    <a:bodyPr lIns="123825" tIns="66675" rIns="123825" bIns="66675">
                      <a:noAutofit/>
                    </a:bodyPr>
                    <a:lstStyle/>
                    <a:p>
                      <a:r>
                        <a:rPr sz="1800" b="0">
                          <a:solidFill>
                            <a:srgbClr val="26374D"/>
                          </a:solidFill>
                          <a:latin typeface="Malgun Gothic"/>
                          <a:ea typeface="Malgun Gothic"/>
                          <a:cs typeface="Malgun Gothic"/>
                        </a:rPr>
                        <a:t>펭귄 / 시안 7</a:t>
                      </a:r>
                    </a:p>
                  </a:txBody>
                  <a:tcPr marL="91440" marR="91440" marT="45720" marB="45720" anchor="ctr">
                    <a:solidFill>
                      <a:srgbClr val="E9EFF6"/>
                    </a:solidFill>
                  </a:tcPr>
                </a:tc>
                <a:tc>
                  <a:txBody>
                    <a:bodyPr lIns="123825" tIns="66675" rIns="123825" bIns="66675">
                      <a:noAutofit/>
                    </a:bodyPr>
                    <a:lstStyle/>
                    <a:p>
                      <a:r>
                        <a:rPr sz="1800" b="0">
                          <a:solidFill>
                            <a:srgbClr val="26374D"/>
                          </a:solidFill>
                          <a:latin typeface="Malgun Gothic"/>
                          <a:ea typeface="Malgun Gothic"/>
                          <a:cs typeface="Malgun Gothic"/>
                        </a:rPr>
                        <a:t>오로라 눈밭</a:t>
                      </a:r>
                    </a:p>
                  </a:txBody>
                  <a:tcPr marL="91440" marR="91440" marT="45720" marB="45720" anchor="ctr">
                    <a:solidFill>
                      <a:srgbClr val="E9EFF6"/>
                    </a:solidFill>
                  </a:tcPr>
                </a:tc>
                <a:tc>
                  <a:txBody>
                    <a:bodyPr lIns="123825" tIns="66675" rIns="123825" bIns="66675">
                      <a:noAutofit/>
                    </a:bodyPr>
                    <a:lstStyle/>
                    <a:p>
                      <a:r>
                        <a:rPr sz="1800" b="0">
                          <a:solidFill>
                            <a:srgbClr val="26374D"/>
                          </a:solidFill>
                          <a:latin typeface="Malgun Gothic"/>
                          <a:ea typeface="Malgun Gothic"/>
                          <a:cs typeface="Malgun Gothic"/>
                        </a:rPr>
                        <a:t>회전 눈꽃</a:t>
                      </a:r>
                    </a:p>
                  </a:txBody>
                  <a:tcPr marL="91440" marR="91440" marT="45720" marB="45720" anchor="ctr">
                    <a:solidFill>
                      <a:srgbClr val="E9EFF6"/>
                    </a:solidFill>
                  </a:tcPr>
                </a:tc>
                <a:tc>
                  <a:txBody>
                    <a:bodyPr lIns="123825" tIns="66675" rIns="123825" bIns="66675">
                      <a:noAutofit/>
                    </a:bodyPr>
                    <a:lstStyle/>
                    <a:p>
                      <a:r>
                        <a:rPr sz="1800" b="0">
                          <a:solidFill>
                            <a:srgbClr val="26374D"/>
                          </a:solidFill>
                          <a:latin typeface="Malgun Gothic"/>
                          <a:ea typeface="Malgun Gothic"/>
                          <a:cs typeface="Malgun Gothic"/>
                        </a:rPr>
                        <a:t>재도전 / 캐릭터 선택</a:t>
                      </a:r>
                    </a:p>
                  </a:txBody>
                  <a:tcPr marL="91440" marR="91440" marT="45720" marB="45720" anchor="ctr">
                    <a:solidFill>
                      <a:srgbClr val="E9EFF6"/>
                    </a:solidFill>
                  </a:tcPr>
                </a:tc>
              </a:tr>
              <a:tr h="785813">
                <a:tc>
                  <a:txBody>
                    <a:bodyPr lIns="123825" tIns="66675" rIns="123825" bIns="66675">
                      <a:noAutofit/>
                    </a:bodyPr>
                    <a:lstStyle/>
                    <a:p>
                      <a:r>
                        <a:rPr sz="1800" b="0">
                          <a:solidFill>
                            <a:srgbClr val="26374D"/>
                          </a:solidFill>
                          <a:latin typeface="Malgun Gothic"/>
                          <a:ea typeface="Malgun Gothic"/>
                          <a:cs typeface="Malgun Gothic"/>
                        </a:rPr>
                        <a:t>카피바라 / 시안 2</a:t>
                      </a:r>
                    </a:p>
                  </a:txBody>
                  <a:tcPr marL="91440" marR="91440" marT="45720" marB="45720" anchor="ctr">
                    <a:solidFill>
                      <a:srgbClr val="F2F5F9"/>
                    </a:solidFill>
                  </a:tcPr>
                </a:tc>
                <a:tc>
                  <a:txBody>
                    <a:bodyPr lIns="123825" tIns="66675" rIns="123825" bIns="66675">
                      <a:noAutofit/>
                    </a:bodyPr>
                    <a:lstStyle/>
                    <a:p>
                      <a:r>
                        <a:rPr sz="1800" b="0">
                          <a:solidFill>
                            <a:srgbClr val="26374D"/>
                          </a:solidFill>
                          <a:latin typeface="Malgun Gothic"/>
                          <a:ea typeface="Malgun Gothic"/>
                          <a:cs typeface="Malgun Gothic"/>
                        </a:rPr>
                        <a:t>온천 마을</a:t>
                      </a:r>
                    </a:p>
                  </a:txBody>
                  <a:tcPr marL="91440" marR="91440" marT="45720" marB="45720" anchor="ctr">
                    <a:solidFill>
                      <a:srgbClr val="F2F5F9"/>
                    </a:solidFill>
                  </a:tcPr>
                </a:tc>
                <a:tc>
                  <a:txBody>
                    <a:bodyPr lIns="123825" tIns="66675" rIns="123825" bIns="66675">
                      <a:noAutofit/>
                    </a:bodyPr>
                    <a:lstStyle/>
                    <a:p>
                      <a:r>
                        <a:rPr sz="1800" b="0">
                          <a:solidFill>
                            <a:srgbClr val="26374D"/>
                          </a:solidFill>
                          <a:latin typeface="Malgun Gothic"/>
                          <a:ea typeface="Malgun Gothic"/>
                          <a:cs typeface="Malgun Gothic"/>
                        </a:rPr>
                        <a:t>온천방울 파동</a:t>
                      </a:r>
                    </a:p>
                  </a:txBody>
                  <a:tcPr marL="91440" marR="91440" marT="45720" marB="45720" anchor="ctr">
                    <a:solidFill>
                      <a:srgbClr val="F2F5F9"/>
                    </a:solidFill>
                  </a:tcPr>
                </a:tc>
                <a:tc>
                  <a:txBody>
                    <a:bodyPr lIns="123825" tIns="66675" rIns="123825" bIns="66675">
                      <a:noAutofit/>
                    </a:bodyPr>
                    <a:lstStyle/>
                    <a:p>
                      <a:r>
                        <a:rPr sz="1800" b="0">
                          <a:solidFill>
                            <a:srgbClr val="26374D"/>
                          </a:solidFill>
                          <a:latin typeface="Malgun Gothic"/>
                          <a:ea typeface="Malgun Gothic"/>
                          <a:cs typeface="Malgun Gothic"/>
                        </a:rPr>
                        <a:t>재도전 / 캐릭터 선택</a:t>
                      </a:r>
                    </a:p>
                  </a:txBody>
                  <a:tcPr marL="91440" marR="91440" marT="45720" marB="45720" anchor="ctr">
                    <a:solidFill>
                      <a:srgbClr val="F2F5F9"/>
                    </a:solidFill>
                  </a:tcPr>
                </a:tc>
              </a:tr>
              <a:tr h="785813">
                <a:tc>
                  <a:txBody>
                    <a:bodyPr lIns="123825" tIns="66675" rIns="123825" bIns="66675">
                      <a:noAutofit/>
                    </a:bodyPr>
                    <a:lstStyle/>
                    <a:p>
                      <a:r>
                        <a:rPr sz="1800" b="0">
                          <a:solidFill>
                            <a:srgbClr val="26374D"/>
                          </a:solidFill>
                          <a:latin typeface="Malgun Gothic"/>
                          <a:ea typeface="Malgun Gothic"/>
                          <a:cs typeface="Malgun Gothic"/>
                        </a:rPr>
                        <a:t>고양이 / 시안 3</a:t>
                      </a:r>
                    </a:p>
                  </a:txBody>
                  <a:tcPr marL="91440" marR="91440" marT="45720" marB="45720" anchor="ctr">
                    <a:solidFill>
                      <a:srgbClr val="E9EFF6"/>
                    </a:solidFill>
                  </a:tcPr>
                </a:tc>
                <a:tc>
                  <a:txBody>
                    <a:bodyPr lIns="123825" tIns="66675" rIns="123825" bIns="66675">
                      <a:noAutofit/>
                    </a:bodyPr>
                    <a:lstStyle/>
                    <a:p>
                      <a:r>
                        <a:rPr sz="1800" b="0">
                          <a:solidFill>
                            <a:srgbClr val="26374D"/>
                          </a:solidFill>
                          <a:latin typeface="Malgun Gothic"/>
                          <a:ea typeface="Malgun Gothic"/>
                          <a:cs typeface="Malgun Gothic"/>
                        </a:rPr>
                        <a:t>달빛 우체국</a:t>
                      </a:r>
                    </a:p>
                  </a:txBody>
                  <a:tcPr marL="91440" marR="91440" marT="45720" marB="45720" anchor="ctr">
                    <a:solidFill>
                      <a:srgbClr val="E9EFF6"/>
                    </a:solidFill>
                  </a:tcPr>
                </a:tc>
                <a:tc>
                  <a:txBody>
                    <a:bodyPr lIns="123825" tIns="66675" rIns="123825" bIns="66675">
                      <a:noAutofit/>
                    </a:bodyPr>
                    <a:lstStyle/>
                    <a:p>
                      <a:r>
                        <a:rPr sz="1800" b="0">
                          <a:solidFill>
                            <a:srgbClr val="26374D"/>
                          </a:solidFill>
                          <a:latin typeface="Malgun Gothic"/>
                          <a:ea typeface="Malgun Gothic"/>
                          <a:cs typeface="Malgun Gothic"/>
                        </a:rPr>
                        <a:t>별빛 편지</a:t>
                      </a:r>
                    </a:p>
                  </a:txBody>
                  <a:tcPr marL="91440" marR="91440" marT="45720" marB="45720" anchor="ctr">
                    <a:solidFill>
                      <a:srgbClr val="E9EFF6"/>
                    </a:solidFill>
                  </a:tcPr>
                </a:tc>
                <a:tc>
                  <a:txBody>
                    <a:bodyPr lIns="123825" tIns="66675" rIns="123825" bIns="66675">
                      <a:noAutofit/>
                    </a:bodyPr>
                    <a:lstStyle/>
                    <a:p>
                      <a:r>
                        <a:rPr sz="1800" b="0">
                          <a:solidFill>
                            <a:srgbClr val="26374D"/>
                          </a:solidFill>
                          <a:latin typeface="Malgun Gothic"/>
                          <a:ea typeface="Malgun Gothic"/>
                          <a:cs typeface="Malgun Gothic"/>
                        </a:rPr>
                        <a:t>재도전 / 캐릭터 선택</a:t>
                      </a:r>
                    </a:p>
                  </a:txBody>
                  <a:tcPr marL="91440" marR="91440" marT="45720" marB="45720" anchor="ctr">
                    <a:solidFill>
                      <a:srgbClr val="E9EFF6"/>
                    </a:solidFill>
                  </a:tcPr>
                </a:tc>
              </a:tr>
            </a:tbl>
          </a:graphicData>
        </a:graphic>
      </p:graphicFrame>
      <p:sp>
        <p:nvSpPr>
          <p:cNvPr id="6" name="">
            <a:extLst xmlns:a="http://schemas.openxmlformats.org/drawingml/2006/main">
              <a:ext uri="{FF2B5EF4-FFF2-40B4-BE49-F238E27FC236}">
                <a16:creationId xmlns:a16="http://schemas.microsoft.com/office/drawing/2014/main" id="{2FA588D7-8A44-4927-B1A1-FE46D36AF2CC}"/>
              </a:ext>
            </a:extLst>
          </p:cNvPr>
          <p:cNvSpPr>
            <a:spLocks xmlns:a="http://schemas.openxmlformats.org/drawingml/2006/main" noGrp="1"/>
          </p:cNvSpPr>
          <p:nvPr/>
        </p:nvSpPr>
        <p:spPr>
          <a:xfrm xmlns:a="http://schemas.openxmlformats.org/drawingml/2006/main">
            <a:off x="619125" y="5210175"/>
            <a:ext cx="209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6374D"/>
                </a:solidFill>
                <a:latin typeface="Malgun Gothic"/>
                <a:ea typeface="Malgun Gothic"/>
                <a:cs typeface="Malgun Gothic"/>
              </a:defRPr>
            </a:pPr>
            <a:r>
              <a:rPr sz="2025" b="1">
                <a:solidFill>
                  <a:srgbClr val="26374D"/>
                </a:solidFill>
                <a:latin typeface="Malgun Gothic"/>
                <a:ea typeface="Malgun Gothic"/>
                <a:cs typeface="Malgun Gothic"/>
              </a:rPr>
              <a:t>공통 규칙</a:t>
            </a:r>
          </a:p>
        </p:txBody>
      </p:sp>
      <p:sp>
        <p:nvSpPr>
          <p:cNvPr id="7" name="">
            <a:extLst xmlns:a="http://schemas.openxmlformats.org/drawingml/2006/main">
              <a:ext uri="{FF2B5EF4-FFF2-40B4-BE49-F238E27FC236}">
                <a16:creationId xmlns:a16="http://schemas.microsoft.com/office/drawing/2014/main" id="{BDFB1647-478F-4E53-A8F2-4E8A36B33015}"/>
              </a:ext>
            </a:extLst>
          </p:cNvPr>
          <p:cNvSpPr>
            <a:spLocks xmlns:a="http://schemas.openxmlformats.org/drawingml/2006/main" noGrp="1"/>
          </p:cNvSpPr>
          <p:nvPr/>
        </p:nvSpPr>
        <p:spPr>
          <a:xfrm xmlns:a="http://schemas.openxmlformats.org/drawingml/2006/main">
            <a:off x="619125" y="560070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8778C"/>
                </a:solidFill>
                <a:latin typeface="Malgun Gothic"/>
                <a:ea typeface="Malgun Gothic"/>
                <a:cs typeface="Malgun Gothic"/>
              </a:defRPr>
            </a:pPr>
            <a:r>
              <a:rPr sz="1875" b="0">
                <a:solidFill>
                  <a:srgbClr val="68778C"/>
                </a:solidFill>
                <a:latin typeface="Malgun Gothic"/>
                <a:ea typeface="Malgun Gothic"/>
                <a:cs typeface="Malgun Gothic"/>
              </a:rPr>
              <a:t>이동과 자동 공격으로 생존한다. 체력 0에서 플레이를 멈추고 결과를 표시한다.</a:t>
            </a:r>
          </a:p>
        </p:txBody>
      </p:sp>
    </p:spTree>
    <p:extLst>
      <p:ext uri="{BB962C8B-B14F-4D97-AF65-F5344CB8AC3E}">
        <p14:creationId xmlns:p14="http://schemas.microsoft.com/office/powerpoint/2010/main" val="2089975885"/>
      </p:ext>
    </p:extLst>
  </p:cSld>
</p:sld>
</file>

<file path=ppt/slides/slide4.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39CEE1F-259A-47F0-9E72-548B92FC32A1}"/>
              </a:ext>
            </a:extLst>
          </p:cNvPr>
          <p:cNvSpPr>
            <a:spLocks xmlns:a="http://schemas.openxmlformats.org/drawingml/2006/main" noGrp="1"/>
          </p:cNvSpPr>
          <p:nvPr/>
        </p:nvSpPr>
        <p:spPr>
          <a:xfrm xmlns:a="http://schemas.openxmlformats.org/drawingml/2006/main">
            <a:off x="571500" y="40957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26374D"/>
                </a:solidFill>
                <a:latin typeface="Malgun Gothic"/>
                <a:ea typeface="Malgun Gothic"/>
                <a:cs typeface="Malgun Gothic"/>
              </a:defRPr>
            </a:pPr>
            <a:r>
              <a:rPr sz="3150" b="1">
                <a:solidFill>
                  <a:srgbClr val="26374D"/>
                </a:solidFill>
                <a:latin typeface="Malgun Gothic"/>
                <a:ea typeface="Malgun Gothic"/>
                <a:cs typeface="Malgun Gothic"/>
              </a:rPr>
              <a:t>인트로와 캐릭터 선택</a:t>
            </a:r>
          </a:p>
        </p:txBody>
      </p:sp>
      <p:sp>
        <p:nvSpPr>
          <p:cNvPr id="2" name="">
            <a:extLst xmlns:a="http://schemas.openxmlformats.org/drawingml/2006/main">
              <a:ext uri="{FF2B5EF4-FFF2-40B4-BE49-F238E27FC236}">
                <a16:creationId xmlns:a16="http://schemas.microsoft.com/office/drawing/2014/main" id="{9073C393-285E-4B0D-BB70-A8F8EB867E89}"/>
              </a:ext>
            </a:extLst>
          </p:cNvPr>
          <p:cNvSpPr>
            <a:spLocks xmlns:a="http://schemas.openxmlformats.org/drawingml/2006/main" noGrp="1"/>
          </p:cNvSpPr>
          <p:nvPr/>
        </p:nvSpPr>
        <p:spPr>
          <a:xfrm xmlns:a="http://schemas.openxmlformats.org/drawingml/2006/main">
            <a:off x="590550" y="1104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카드 한 번 선택으로 해당 씬을 시작한다</a:t>
            </a:r>
          </a:p>
        </p:txBody>
      </p:sp>
      <p:sp>
        <p:nvSpPr>
          <p:cNvPr id="3" name="">
            <a:extLst xmlns:a="http://schemas.openxmlformats.org/drawingml/2006/main">
              <a:ext uri="{FF2B5EF4-FFF2-40B4-BE49-F238E27FC236}">
                <a16:creationId xmlns:a16="http://schemas.microsoft.com/office/drawing/2014/main" id="{23535460-FEB7-4633-B843-1414C44EB6D5}"/>
              </a:ext>
            </a:extLst>
          </p:cNvPr>
          <p:cNvSpPr>
            <a:spLocks xmlns:a="http://schemas.openxmlformats.org/drawingml/2006/main" noGrp="1"/>
          </p:cNvSpPr>
          <p:nvPr/>
        </p:nvSpPr>
        <p:spPr>
          <a:xfrm xmlns:a="http://schemas.openxmlformats.org/drawingml/2006/main">
            <a:off x="590550" y="6496050"/>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68778C"/>
                </a:solidFill>
                <a:latin typeface="Malgun Gothic"/>
                <a:ea typeface="Malgun Gothic"/>
                <a:cs typeface="Malgun Gothic"/>
              </a:defRPr>
            </a:pPr>
            <a:r>
              <a:rPr sz="975" b="0">
                <a:solidFill>
                  <a:srgbClr val="68778C"/>
                </a:solidFill>
                <a:latin typeface="Malgun Gothic"/>
                <a:ea typeface="Malgun Gothic"/>
                <a:cs typeface="Malgun Gothic"/>
              </a:rPr>
              <a:t>동물 힐링 서바이벌 / 프로토타입 개발 기획 v0.2</a:t>
            </a:r>
          </a:p>
        </p:txBody>
      </p:sp>
      <p:sp>
        <p:nvSpPr>
          <p:cNvPr id="4" name="">
            <a:extLst xmlns:a="http://schemas.openxmlformats.org/drawingml/2006/main">
              <a:ext uri="{FF2B5EF4-FFF2-40B4-BE49-F238E27FC236}">
                <a16:creationId xmlns:a16="http://schemas.microsoft.com/office/drawing/2014/main" id="{EE5FADB5-7E31-45F9-B297-A8C9133C684F}"/>
              </a:ext>
            </a:extLst>
          </p:cNvPr>
          <p:cNvSpPr>
            <a:spLocks xmlns:a="http://schemas.openxmlformats.org/drawingml/2006/main" noGrp="1"/>
          </p:cNvSpPr>
          <p:nvPr/>
        </p:nvSpPr>
        <p:spPr>
          <a:xfrm xmlns:a="http://schemas.openxmlformats.org/drawingml/2006/main">
            <a:off x="11096625" y="64770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8778C"/>
                </a:solidFill>
                <a:latin typeface="Malgun Gothic"/>
                <a:ea typeface="Malgun Gothic"/>
                <a:cs typeface="Malgun Gothic"/>
              </a:defRPr>
            </a:pPr>
            <a:r>
              <a:rPr sz="1125" b="0">
                <a:solidFill>
                  <a:srgbClr val="68778C"/>
                </a:solidFill>
                <a:latin typeface="Malgun Gothic"/>
                <a:ea typeface="Malgun Gothic"/>
                <a:cs typeface="Malgun Gothic"/>
              </a:rPr>
              <a:t>04</a:t>
            </a:r>
          </a:p>
        </p:txBody>
      </p:sp>
      <p:graphicFrame>
        <p:nvGraphicFramePr>
          <p:cNvPr id="11" name=""/>
          <p:cNvGraphicFramePr/>
          <p:nvPr/>
        </p:nvGraphicFramePr>
        <p:xfrm>
          <a:off xmlns:a="http://schemas.openxmlformats.org/drawingml/2006/main" x="590550" y="1762125"/>
          <a:ext xmlns:a="http://schemas.openxmlformats.org/drawingml/2006/main" cx="11010900" cy="3524250"/>
        </p:xfrm>
        <a:graphic xmlns:a="http://schemas.openxmlformats.org/drawingml/2006/main">
          <a:graphicData uri="http://schemas.openxmlformats.org/drawingml/2006/table">
            <a:tbl>
              <a:tblPr/>
              <a:tblGrid>
                <a:gridCol w="2238375"/>
                <a:gridCol w="8772525"/>
              </a:tblGrid>
              <a:tr h="587375">
                <a:tc>
                  <a:txBody>
                    <a:bodyPr lIns="123825" tIns="66675" rIns="123825" bIns="66675">
                      <a:noAutofit/>
                    </a:bodyPr>
                    <a:lstStyle/>
                    <a:p>
                      <a:r>
                        <a:rPr sz="1800" b="1">
                          <a:solidFill>
                            <a:srgbClr val="FFFFFF"/>
                          </a:solidFill>
                          <a:latin typeface="Malgun Gothic"/>
                          <a:ea typeface="Malgun Gothic"/>
                          <a:cs typeface="Malgun Gothic"/>
                        </a:rPr>
                        <a:t>화면 위치</a:t>
                      </a:r>
                    </a:p>
                  </a:txBody>
                  <a:tcPr marL="91440" marR="91440" marT="45720" marB="45720" anchor="ctr">
                    <a:solidFill>
                      <a:srgbClr val="26374D"/>
                    </a:solidFill>
                  </a:tcPr>
                </a:tc>
                <a:tc>
                  <a:txBody>
                    <a:bodyPr lIns="123825" tIns="66675" rIns="123825" bIns="66675">
                      <a:noAutofit/>
                    </a:bodyPr>
                    <a:lstStyle/>
                    <a:p>
                      <a:r>
                        <a:rPr sz="1800" b="1">
                          <a:solidFill>
                            <a:srgbClr val="FFFFFF"/>
                          </a:solidFill>
                          <a:latin typeface="Malgun Gothic"/>
                          <a:ea typeface="Malgun Gothic"/>
                          <a:cs typeface="Malgun Gothic"/>
                        </a:rPr>
                        <a:t>내용과 동작</a:t>
                      </a:r>
                    </a:p>
                  </a:txBody>
                  <a:tcPr marL="91440" marR="91440" marT="45720" marB="45720" anchor="ctr">
                    <a:solidFill>
                      <a:srgbClr val="26374D"/>
                    </a:solidFill>
                  </a:tcPr>
                </a:tc>
              </a:tr>
              <a:tr h="587375">
                <a:tc>
                  <a:txBody>
                    <a:bodyPr lIns="123825" tIns="66675" rIns="123825" bIns="66675">
                      <a:noAutofit/>
                    </a:bodyPr>
                    <a:lstStyle/>
                    <a:p>
                      <a:r>
                        <a:rPr sz="1800" b="0">
                          <a:solidFill>
                            <a:srgbClr val="26374D"/>
                          </a:solidFill>
                          <a:latin typeface="Malgun Gothic"/>
                          <a:ea typeface="Malgun Gothic"/>
                          <a:cs typeface="Malgun Gothic"/>
                        </a:rPr>
                        <a:t>상단</a:t>
                      </a:r>
                    </a:p>
                  </a:txBody>
                  <a:tcPr marL="91440" marR="91440" marT="45720" marB="45720" anchor="ctr">
                    <a:solidFill>
                      <a:srgbClr val="E9EFF6"/>
                    </a:solidFill>
                  </a:tcPr>
                </a:tc>
                <a:tc>
                  <a:txBody>
                    <a:bodyPr lIns="123825" tIns="66675" rIns="123825" bIns="66675">
                      <a:noAutofit/>
                    </a:bodyPr>
                    <a:lstStyle/>
                    <a:p>
                      <a:r>
                        <a:rPr sz="1800" b="0">
                          <a:solidFill>
                            <a:srgbClr val="26374D"/>
                          </a:solidFill>
                          <a:latin typeface="Malgun Gothic"/>
                          <a:ea typeface="Malgun Gothic"/>
                          <a:cs typeface="Malgun Gothic"/>
                        </a:rPr>
                        <a:t>가제 「포근한 모험」 / 함께할 친구를 골라 주세요</a:t>
                      </a:r>
                    </a:p>
                  </a:txBody>
                  <a:tcPr marL="91440" marR="91440" marT="45720" marB="45720" anchor="ctr">
                    <a:solidFill>
                      <a:srgbClr val="E9EFF6"/>
                    </a:solidFill>
                  </a:tcPr>
                </a:tc>
              </a:tr>
              <a:tr h="587375">
                <a:tc>
                  <a:txBody>
                    <a:bodyPr lIns="123825" tIns="66675" rIns="123825" bIns="66675">
                      <a:noAutofit/>
                    </a:bodyPr>
                    <a:lstStyle/>
                    <a:p>
                      <a:r>
                        <a:rPr sz="1800" b="0">
                          <a:solidFill>
                            <a:srgbClr val="26374D"/>
                          </a:solidFill>
                          <a:latin typeface="Malgun Gothic"/>
                          <a:ea typeface="Malgun Gothic"/>
                          <a:cs typeface="Malgun Gothic"/>
                        </a:rPr>
                        <a:t>중앙</a:t>
                      </a:r>
                    </a:p>
                  </a:txBody>
                  <a:tcPr marL="91440" marR="91440" marT="45720" marB="45720" anchor="ctr">
                    <a:solidFill>
                      <a:srgbClr val="F2F5F9"/>
                    </a:solidFill>
                  </a:tcPr>
                </a:tc>
                <a:tc>
                  <a:txBody>
                    <a:bodyPr lIns="123825" tIns="66675" rIns="123825" bIns="66675">
                      <a:noAutofit/>
                    </a:bodyPr>
                    <a:lstStyle/>
                    <a:p>
                      <a:r>
                        <a:rPr sz="1800" b="0">
                          <a:solidFill>
                            <a:srgbClr val="26374D"/>
                          </a:solidFill>
                          <a:latin typeface="Malgun Gothic"/>
                          <a:ea typeface="Malgun Gothic"/>
                          <a:cs typeface="Malgun Gothic"/>
                        </a:rPr>
                        <a:t>펭귄, 카피바라, 고양이 순서로 카드 3개</a:t>
                      </a:r>
                    </a:p>
                  </a:txBody>
                  <a:tcPr marL="91440" marR="91440" marT="45720" marB="45720" anchor="ctr">
                    <a:solidFill>
                      <a:srgbClr val="F2F5F9"/>
                    </a:solidFill>
                  </a:tcPr>
                </a:tc>
              </a:tr>
              <a:tr h="587375">
                <a:tc>
                  <a:txBody>
                    <a:bodyPr lIns="123825" tIns="66675" rIns="123825" bIns="66675">
                      <a:noAutofit/>
                    </a:bodyPr>
                    <a:lstStyle/>
                    <a:p>
                      <a:r>
                        <a:rPr sz="1800" b="0">
                          <a:solidFill>
                            <a:srgbClr val="26374D"/>
                          </a:solidFill>
                          <a:latin typeface="Malgun Gothic"/>
                          <a:ea typeface="Malgun Gothic"/>
                          <a:cs typeface="Malgun Gothic"/>
                        </a:rPr>
                        <a:t>카드 정보</a:t>
                      </a:r>
                    </a:p>
                  </a:txBody>
                  <a:tcPr marL="91440" marR="91440" marT="45720" marB="45720" anchor="ctr">
                    <a:solidFill>
                      <a:srgbClr val="E9EFF6"/>
                    </a:solidFill>
                  </a:tcPr>
                </a:tc>
                <a:tc>
                  <a:txBody>
                    <a:bodyPr lIns="123825" tIns="66675" rIns="123825" bIns="66675">
                      <a:noAutofit/>
                    </a:bodyPr>
                    <a:lstStyle/>
                    <a:p>
                      <a:r>
                        <a:rPr sz="1800" b="0">
                          <a:solidFill>
                            <a:srgbClr val="26374D"/>
                          </a:solidFill>
                          <a:latin typeface="Malgun Gothic"/>
                          <a:ea typeface="Malgun Gothic"/>
                          <a:cs typeface="Malgun Gothic"/>
                        </a:rPr>
                        <a:t>움직이는 캐릭터, 배경 일부, 공격 설명, 개인 최고 점수</a:t>
                      </a:r>
                    </a:p>
                  </a:txBody>
                  <a:tcPr marL="91440" marR="91440" marT="45720" marB="45720" anchor="ctr">
                    <a:solidFill>
                      <a:srgbClr val="E9EFF6"/>
                    </a:solidFill>
                  </a:tcPr>
                </a:tc>
              </a:tr>
              <a:tr h="587375">
                <a:tc>
                  <a:txBody>
                    <a:bodyPr lIns="123825" tIns="66675" rIns="123825" bIns="66675">
                      <a:noAutofit/>
                    </a:bodyPr>
                    <a:lstStyle/>
                    <a:p>
                      <a:r>
                        <a:rPr sz="1800" b="0">
                          <a:solidFill>
                            <a:srgbClr val="26374D"/>
                          </a:solidFill>
                          <a:latin typeface="Malgun Gothic"/>
                          <a:ea typeface="Malgun Gothic"/>
                          <a:cs typeface="Malgun Gothic"/>
                        </a:rPr>
                        <a:t>하단</a:t>
                      </a:r>
                    </a:p>
                  </a:txBody>
                  <a:tcPr marL="91440" marR="91440" marT="45720" marB="45720" anchor="ctr">
                    <a:solidFill>
                      <a:srgbClr val="F2F5F9"/>
                    </a:solidFill>
                  </a:tcPr>
                </a:tc>
                <a:tc>
                  <a:txBody>
                    <a:bodyPr lIns="123825" tIns="66675" rIns="123825" bIns="66675">
                      <a:noAutofit/>
                    </a:bodyPr>
                    <a:lstStyle/>
                    <a:p>
                      <a:r>
                        <a:rPr sz="1800" b="0">
                          <a:solidFill>
                            <a:srgbClr val="26374D"/>
                          </a:solidFill>
                          <a:latin typeface="Malgun Gothic"/>
                          <a:ea typeface="Malgun Gothic"/>
                          <a:cs typeface="Malgun Gothic"/>
                        </a:rPr>
                        <a:t>WASD / 방향키 이동 안내, 자동 공격 안내, 소리 설정</a:t>
                      </a:r>
                    </a:p>
                  </a:txBody>
                  <a:tcPr marL="91440" marR="91440" marT="45720" marB="45720" anchor="ctr">
                    <a:solidFill>
                      <a:srgbClr val="F2F5F9"/>
                    </a:solidFill>
                  </a:tcPr>
                </a:tc>
              </a:tr>
              <a:tr h="587375">
                <a:tc>
                  <a:txBody>
                    <a:bodyPr lIns="123825" tIns="66675" rIns="123825" bIns="66675">
                      <a:noAutofit/>
                    </a:bodyPr>
                    <a:lstStyle/>
                    <a:p>
                      <a:r>
                        <a:rPr sz="1800" b="0">
                          <a:solidFill>
                            <a:srgbClr val="26374D"/>
                          </a:solidFill>
                          <a:latin typeface="Malgun Gothic"/>
                          <a:ea typeface="Malgun Gothic"/>
                          <a:cs typeface="Malgun Gothic"/>
                        </a:rPr>
                        <a:t>선택 반응</a:t>
                      </a:r>
                    </a:p>
                  </a:txBody>
                  <a:tcPr marL="91440" marR="91440" marT="45720" marB="45720" anchor="ctr">
                    <a:solidFill>
                      <a:srgbClr val="E9EFF6"/>
                    </a:solidFill>
                  </a:tcPr>
                </a:tc>
                <a:tc>
                  <a:txBody>
                    <a:bodyPr lIns="123825" tIns="66675" rIns="123825" bIns="66675">
                      <a:noAutofit/>
                    </a:bodyPr>
                    <a:lstStyle/>
                    <a:p>
                      <a:r>
                        <a:rPr sz="1800" b="0">
                          <a:solidFill>
                            <a:srgbClr val="26374D"/>
                          </a:solidFill>
                          <a:latin typeface="Malgun Gothic"/>
                          <a:ea typeface="Malgun Gothic"/>
                          <a:cs typeface="Malgun Gothic"/>
                        </a:rPr>
                        <a:t>호버·포커스 확대 약 3%, 선택 후 0.35초 페이드</a:t>
                      </a:r>
                    </a:p>
                  </a:txBody>
                  <a:tcPr marL="91440" marR="91440" marT="45720" marB="45720" anchor="ctr">
                    <a:solidFill>
                      <a:srgbClr val="E9EFF6"/>
                    </a:solidFill>
                  </a:tcPr>
                </a:tc>
              </a:tr>
            </a:tbl>
          </a:graphicData>
        </a:graphic>
      </p:graphicFrame>
      <p:sp>
        <p:nvSpPr>
          <p:cNvPr id="6" name="">
            <a:extLst xmlns:a="http://schemas.openxmlformats.org/drawingml/2006/main">
              <a:ext uri="{FF2B5EF4-FFF2-40B4-BE49-F238E27FC236}">
                <a16:creationId xmlns:a16="http://schemas.microsoft.com/office/drawing/2014/main" id="{24FC1E1F-9257-45B3-A722-E7E3E902A39C}"/>
              </a:ext>
            </a:extLst>
          </p:cNvPr>
          <p:cNvSpPr>
            <a:spLocks xmlns:a="http://schemas.openxmlformats.org/drawingml/2006/main" noGrp="1"/>
          </p:cNvSpPr>
          <p:nvPr/>
        </p:nvSpPr>
        <p:spPr>
          <a:xfrm xmlns:a="http://schemas.openxmlformats.org/drawingml/2006/main">
            <a:off x="609600" y="58578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7FA7"/>
                </a:solidFill>
                <a:latin typeface="Malgun Gothic"/>
                <a:ea typeface="Malgun Gothic"/>
                <a:cs typeface="Malgun Gothic"/>
              </a:defRPr>
            </a:pPr>
            <a:r>
              <a:rPr sz="1650" b="1">
                <a:solidFill>
                  <a:srgbClr val="617FA7"/>
                </a:solidFill>
                <a:latin typeface="Malgun Gothic"/>
                <a:ea typeface="Malgun Gothic"/>
                <a:cs typeface="Malgun Gothic"/>
              </a:rPr>
              <a:t>클릭과 Enter를 지원한다. 선택 후 입력을 잠가 씬과 음악이 중복 시작되지 않게 한다.</a:t>
            </a:r>
          </a:p>
        </p:txBody>
      </p:sp>
    </p:spTree>
    <p:extLst>
      <p:ext uri="{BB962C8B-B14F-4D97-AF65-F5344CB8AC3E}">
        <p14:creationId xmlns:p14="http://schemas.microsoft.com/office/powerpoint/2010/main" val="434793179"/>
      </p:ext>
    </p:extLst>
  </p:cSld>
</p:sld>
</file>

<file path=ppt/slides/slide5.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4CFBA6A-BA83-4830-B3A3-FC680567A556}"/>
              </a:ext>
            </a:extLst>
          </p:cNvPr>
          <p:cNvSpPr>
            <a:spLocks xmlns:a="http://schemas.openxmlformats.org/drawingml/2006/main" noGrp="1"/>
          </p:cNvSpPr>
          <p:nvPr/>
        </p:nvSpPr>
        <p:spPr>
          <a:xfrm xmlns:a="http://schemas.openxmlformats.org/drawingml/2006/main">
            <a:off x="571500" y="40957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26374D"/>
                </a:solidFill>
                <a:latin typeface="Malgun Gothic"/>
                <a:ea typeface="Malgun Gothic"/>
                <a:cs typeface="Malgun Gothic"/>
              </a:defRPr>
            </a:pPr>
            <a:r>
              <a:rPr sz="3150" b="1">
                <a:solidFill>
                  <a:srgbClr val="26374D"/>
                </a:solidFill>
                <a:latin typeface="Malgun Gothic"/>
                <a:ea typeface="Malgun Gothic"/>
                <a:cs typeface="Malgun Gothic"/>
              </a:rPr>
              <a:t>이동과 경기장</a:t>
            </a:r>
          </a:p>
        </p:txBody>
      </p:sp>
      <p:sp>
        <p:nvSpPr>
          <p:cNvPr id="2" name="">
            <a:extLst xmlns:a="http://schemas.openxmlformats.org/drawingml/2006/main">
              <a:ext uri="{FF2B5EF4-FFF2-40B4-BE49-F238E27FC236}">
                <a16:creationId xmlns:a16="http://schemas.microsoft.com/office/drawing/2014/main" id="{915DBA6D-23B5-4C15-9A37-0025148D47DA}"/>
              </a:ext>
            </a:extLst>
          </p:cNvPr>
          <p:cNvSpPr>
            <a:spLocks xmlns:a="http://schemas.openxmlformats.org/drawingml/2006/main" noGrp="1"/>
          </p:cNvSpPr>
          <p:nvPr/>
        </p:nvSpPr>
        <p:spPr>
          <a:xfrm xmlns:a="http://schemas.openxmlformats.org/drawingml/2006/main">
            <a:off x="590550" y="1104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초기 개발 대상은 PC 브라우저의 가로 화면이다</a:t>
            </a:r>
          </a:p>
        </p:txBody>
      </p:sp>
      <p:sp>
        <p:nvSpPr>
          <p:cNvPr id="3" name="">
            <a:extLst xmlns:a="http://schemas.openxmlformats.org/drawingml/2006/main">
              <a:ext uri="{FF2B5EF4-FFF2-40B4-BE49-F238E27FC236}">
                <a16:creationId xmlns:a16="http://schemas.microsoft.com/office/drawing/2014/main" id="{B1485CF7-D444-4D38-B219-7F3C0D553A24}"/>
              </a:ext>
            </a:extLst>
          </p:cNvPr>
          <p:cNvSpPr>
            <a:spLocks xmlns:a="http://schemas.openxmlformats.org/drawingml/2006/main" noGrp="1"/>
          </p:cNvSpPr>
          <p:nvPr/>
        </p:nvSpPr>
        <p:spPr>
          <a:xfrm xmlns:a="http://schemas.openxmlformats.org/drawingml/2006/main">
            <a:off x="590550" y="6496050"/>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68778C"/>
                </a:solidFill>
                <a:latin typeface="Malgun Gothic"/>
                <a:ea typeface="Malgun Gothic"/>
                <a:cs typeface="Malgun Gothic"/>
              </a:defRPr>
            </a:pPr>
            <a:r>
              <a:rPr sz="975" b="0">
                <a:solidFill>
                  <a:srgbClr val="68778C"/>
                </a:solidFill>
                <a:latin typeface="Malgun Gothic"/>
                <a:ea typeface="Malgun Gothic"/>
                <a:cs typeface="Malgun Gothic"/>
              </a:rPr>
              <a:t>동물 힐링 서바이벌 / 프로토타입 개발 기획 v0.2</a:t>
            </a:r>
          </a:p>
        </p:txBody>
      </p:sp>
      <p:sp>
        <p:nvSpPr>
          <p:cNvPr id="4" name="">
            <a:extLst xmlns:a="http://schemas.openxmlformats.org/drawingml/2006/main">
              <a:ext uri="{FF2B5EF4-FFF2-40B4-BE49-F238E27FC236}">
                <a16:creationId xmlns:a16="http://schemas.microsoft.com/office/drawing/2014/main" id="{FF9AA23A-6DC8-4EB5-80B3-8D768FB2239A}"/>
              </a:ext>
            </a:extLst>
          </p:cNvPr>
          <p:cNvSpPr>
            <a:spLocks xmlns:a="http://schemas.openxmlformats.org/drawingml/2006/main" noGrp="1"/>
          </p:cNvSpPr>
          <p:nvPr/>
        </p:nvSpPr>
        <p:spPr>
          <a:xfrm xmlns:a="http://schemas.openxmlformats.org/drawingml/2006/main">
            <a:off x="11096625" y="64770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8778C"/>
                </a:solidFill>
                <a:latin typeface="Malgun Gothic"/>
                <a:ea typeface="Malgun Gothic"/>
                <a:cs typeface="Malgun Gothic"/>
              </a:defRPr>
            </a:pPr>
            <a:r>
              <a:rPr sz="1125" b="0">
                <a:solidFill>
                  <a:srgbClr val="68778C"/>
                </a:solidFill>
                <a:latin typeface="Malgun Gothic"/>
                <a:ea typeface="Malgun Gothic"/>
                <a:cs typeface="Malgun Gothic"/>
              </a:rPr>
              <a:t>05</a:t>
            </a:r>
          </a:p>
        </p:txBody>
      </p:sp>
      <p:graphicFrame>
        <p:nvGraphicFramePr>
          <p:cNvPr id="11" name=""/>
          <p:cNvGraphicFramePr/>
          <p:nvPr/>
        </p:nvGraphicFramePr>
        <p:xfrm>
          <a:off xmlns:a="http://schemas.openxmlformats.org/drawingml/2006/main" x="590550" y="1762125"/>
          <a:ext xmlns:a="http://schemas.openxmlformats.org/drawingml/2006/main" cx="11010900" cy="3810000"/>
        </p:xfrm>
        <a:graphic xmlns:a="http://schemas.openxmlformats.org/drawingml/2006/main">
          <a:graphicData uri="http://schemas.openxmlformats.org/drawingml/2006/table">
            <a:tbl>
              <a:tblPr/>
              <a:tblGrid>
                <a:gridCol w="1809750"/>
                <a:gridCol w="3524250"/>
                <a:gridCol w="5676900"/>
              </a:tblGrid>
              <a:tr h="635000">
                <a:tc>
                  <a:txBody>
                    <a:bodyPr lIns="123825" tIns="66675" rIns="123825" bIns="66675">
                      <a:noAutofit/>
                    </a:bodyPr>
                    <a:lstStyle/>
                    <a:p>
                      <a:r>
                        <a:rPr sz="1800" b="1">
                          <a:solidFill>
                            <a:srgbClr val="FFFFFF"/>
                          </a:solidFill>
                          <a:latin typeface="Malgun Gothic"/>
                          <a:ea typeface="Malgun Gothic"/>
                          <a:cs typeface="Malgun Gothic"/>
                        </a:rPr>
                        <a:t>항목</a:t>
                      </a:r>
                    </a:p>
                  </a:txBody>
                  <a:tcPr marL="91440" marR="91440" marT="45720" marB="45720" anchor="ctr">
                    <a:solidFill>
                      <a:srgbClr val="26374D"/>
                    </a:solidFill>
                  </a:tcPr>
                </a:tc>
                <a:tc>
                  <a:txBody>
                    <a:bodyPr lIns="123825" tIns="66675" rIns="123825" bIns="66675">
                      <a:noAutofit/>
                    </a:bodyPr>
                    <a:lstStyle/>
                    <a:p>
                      <a:r>
                        <a:rPr sz="1800" b="1">
                          <a:solidFill>
                            <a:srgbClr val="FFFFFF"/>
                          </a:solidFill>
                          <a:latin typeface="Malgun Gothic"/>
                          <a:ea typeface="Malgun Gothic"/>
                          <a:cs typeface="Malgun Gothic"/>
                        </a:rPr>
                        <a:t>초기 설정</a:t>
                      </a:r>
                    </a:p>
                  </a:txBody>
                  <a:tcPr marL="91440" marR="91440" marT="45720" marB="45720" anchor="ctr">
                    <a:solidFill>
                      <a:srgbClr val="26374D"/>
                    </a:solidFill>
                  </a:tcPr>
                </a:tc>
                <a:tc>
                  <a:txBody>
                    <a:bodyPr lIns="123825" tIns="66675" rIns="123825" bIns="66675">
                      <a:noAutofit/>
                    </a:bodyPr>
                    <a:lstStyle/>
                    <a:p>
                      <a:r>
                        <a:rPr sz="1800" b="1">
                          <a:solidFill>
                            <a:srgbClr val="FFFFFF"/>
                          </a:solidFill>
                          <a:latin typeface="Malgun Gothic"/>
                          <a:ea typeface="Malgun Gothic"/>
                          <a:cs typeface="Malgun Gothic"/>
                        </a:rPr>
                        <a:t>구현 규칙</a:t>
                      </a:r>
                    </a:p>
                  </a:txBody>
                  <a:tcPr marL="91440" marR="91440" marT="45720" marB="45720" anchor="ctr">
                    <a:solidFill>
                      <a:srgbClr val="26374D"/>
                    </a:solidFill>
                  </a:tcPr>
                </a:tc>
              </a:tr>
              <a:tr h="635000">
                <a:tc>
                  <a:txBody>
                    <a:bodyPr lIns="123825" tIns="66675" rIns="123825" bIns="66675">
                      <a:noAutofit/>
                    </a:bodyPr>
                    <a:lstStyle/>
                    <a:p>
                      <a:r>
                        <a:rPr sz="1800" b="0">
                          <a:solidFill>
                            <a:srgbClr val="26374D"/>
                          </a:solidFill>
                          <a:latin typeface="Malgun Gothic"/>
                          <a:ea typeface="Malgun Gothic"/>
                          <a:cs typeface="Malgun Gothic"/>
                        </a:rPr>
                        <a:t>화면</a:t>
                      </a:r>
                    </a:p>
                  </a:txBody>
                  <a:tcPr marL="91440" marR="91440" marT="45720" marB="45720" anchor="ctr">
                    <a:solidFill>
                      <a:srgbClr val="E9EFF6"/>
                    </a:solidFill>
                  </a:tcPr>
                </a:tc>
                <a:tc>
                  <a:txBody>
                    <a:bodyPr lIns="123825" tIns="66675" rIns="123825" bIns="66675">
                      <a:noAutofit/>
                    </a:bodyPr>
                    <a:lstStyle/>
                    <a:p>
                      <a:r>
                        <a:rPr sz="1800" b="0">
                          <a:solidFill>
                            <a:srgbClr val="26374D"/>
                          </a:solidFill>
                          <a:latin typeface="Malgun Gothic"/>
                          <a:ea typeface="Malgun Gothic"/>
                          <a:cs typeface="Malgun Gothic"/>
                        </a:rPr>
                        <a:t>1280 × 720 논리 좌표</a:t>
                      </a:r>
                    </a:p>
                  </a:txBody>
                  <a:tcPr marL="91440" marR="91440" marT="45720" marB="45720" anchor="ctr">
                    <a:solidFill>
                      <a:srgbClr val="E9EFF6"/>
                    </a:solidFill>
                  </a:tcPr>
                </a:tc>
                <a:tc>
                  <a:txBody>
                    <a:bodyPr lIns="123825" tIns="66675" rIns="123825" bIns="66675">
                      <a:noAutofit/>
                    </a:bodyPr>
                    <a:lstStyle/>
                    <a:p>
                      <a:r>
                        <a:rPr sz="1800" b="0">
                          <a:solidFill>
                            <a:srgbClr val="26374D"/>
                          </a:solidFill>
                          <a:latin typeface="Malgun Gothic"/>
                          <a:ea typeface="Malgun Gothic"/>
                          <a:cs typeface="Malgun Gothic"/>
                        </a:rPr>
                        <a:t>고정 카메라, 비율 유지, 남는 영역은 여백</a:t>
                      </a:r>
                    </a:p>
                  </a:txBody>
                  <a:tcPr marL="91440" marR="91440" marT="45720" marB="45720" anchor="ctr">
                    <a:solidFill>
                      <a:srgbClr val="E9EFF6"/>
                    </a:solidFill>
                  </a:tcPr>
                </a:tc>
              </a:tr>
              <a:tr h="635000">
                <a:tc>
                  <a:txBody>
                    <a:bodyPr lIns="123825" tIns="66675" rIns="123825" bIns="66675">
                      <a:noAutofit/>
                    </a:bodyPr>
                    <a:lstStyle/>
                    <a:p>
                      <a:r>
                        <a:rPr sz="1800" b="0">
                          <a:solidFill>
                            <a:srgbClr val="26374D"/>
                          </a:solidFill>
                          <a:latin typeface="Malgun Gothic"/>
                          <a:ea typeface="Malgun Gothic"/>
                          <a:cs typeface="Malgun Gothic"/>
                        </a:rPr>
                        <a:t>이동</a:t>
                      </a:r>
                    </a:p>
                  </a:txBody>
                  <a:tcPr marL="91440" marR="91440" marT="45720" marB="45720" anchor="ctr">
                    <a:solidFill>
                      <a:srgbClr val="F2F5F9"/>
                    </a:solidFill>
                  </a:tcPr>
                </a:tc>
                <a:tc>
                  <a:txBody>
                    <a:bodyPr lIns="123825" tIns="66675" rIns="123825" bIns="66675">
                      <a:noAutofit/>
                    </a:bodyPr>
                    <a:lstStyle/>
                    <a:p>
                      <a:r>
                        <a:rPr sz="1800" b="0">
                          <a:solidFill>
                            <a:srgbClr val="26374D"/>
                          </a:solidFill>
                          <a:latin typeface="Malgun Gothic"/>
                          <a:ea typeface="Malgun Gothic"/>
                          <a:cs typeface="Malgun Gothic"/>
                        </a:rPr>
                        <a:t>WASD / 방향키, 220px/s</a:t>
                      </a:r>
                    </a:p>
                  </a:txBody>
                  <a:tcPr marL="91440" marR="91440" marT="45720" marB="45720" anchor="ctr">
                    <a:solidFill>
                      <a:srgbClr val="F2F5F9"/>
                    </a:solidFill>
                  </a:tcPr>
                </a:tc>
                <a:tc>
                  <a:txBody>
                    <a:bodyPr lIns="123825" tIns="66675" rIns="123825" bIns="66675">
                      <a:noAutofit/>
                    </a:bodyPr>
                    <a:lstStyle/>
                    <a:p>
                      <a:r>
                        <a:rPr sz="1800" b="0">
                          <a:solidFill>
                            <a:srgbClr val="26374D"/>
                          </a:solidFill>
                          <a:latin typeface="Malgun Gothic"/>
                          <a:ea typeface="Malgun Gothic"/>
                          <a:cs typeface="Malgun Gothic"/>
                        </a:rPr>
                        <a:t>대각선 정규화, 세 동물 동일 속도</a:t>
                      </a:r>
                    </a:p>
                  </a:txBody>
                  <a:tcPr marL="91440" marR="91440" marT="45720" marB="45720" anchor="ctr">
                    <a:solidFill>
                      <a:srgbClr val="F2F5F9"/>
                    </a:solidFill>
                  </a:tcPr>
                </a:tc>
              </a:tr>
              <a:tr h="635000">
                <a:tc>
                  <a:txBody>
                    <a:bodyPr lIns="123825" tIns="66675" rIns="123825" bIns="66675">
                      <a:noAutofit/>
                    </a:bodyPr>
                    <a:lstStyle/>
                    <a:p>
                      <a:r>
                        <a:rPr sz="1800" b="0">
                          <a:solidFill>
                            <a:srgbClr val="26374D"/>
                          </a:solidFill>
                          <a:latin typeface="Malgun Gothic"/>
                          <a:ea typeface="Malgun Gothic"/>
                          <a:cs typeface="Malgun Gothic"/>
                        </a:rPr>
                        <a:t>가속과 정지</a:t>
                      </a:r>
                    </a:p>
                  </a:txBody>
                  <a:tcPr marL="91440" marR="91440" marT="45720" marB="45720" anchor="ctr">
                    <a:solidFill>
                      <a:srgbClr val="E9EFF6"/>
                    </a:solidFill>
                  </a:tcPr>
                </a:tc>
                <a:tc>
                  <a:txBody>
                    <a:bodyPr lIns="123825" tIns="66675" rIns="123825" bIns="66675">
                      <a:noAutofit/>
                    </a:bodyPr>
                    <a:lstStyle/>
                    <a:p>
                      <a:r>
                        <a:rPr sz="1800" b="0">
                          <a:solidFill>
                            <a:srgbClr val="26374D"/>
                          </a:solidFill>
                          <a:latin typeface="Malgun Gothic"/>
                          <a:ea typeface="Malgun Gothic"/>
                          <a:cs typeface="Malgun Gothic"/>
                        </a:rPr>
                        <a:t>약 0.08초</a:t>
                      </a:r>
                    </a:p>
                  </a:txBody>
                  <a:tcPr marL="91440" marR="91440" marT="45720" marB="45720" anchor="ctr">
                    <a:solidFill>
                      <a:srgbClr val="E9EFF6"/>
                    </a:solidFill>
                  </a:tcPr>
                </a:tc>
                <a:tc>
                  <a:txBody>
                    <a:bodyPr lIns="123825" tIns="66675" rIns="123825" bIns="66675">
                      <a:noAutofit/>
                    </a:bodyPr>
                    <a:lstStyle/>
                    <a:p>
                      <a:r>
                        <a:rPr sz="1800" b="0">
                          <a:solidFill>
                            <a:srgbClr val="26374D"/>
                          </a:solidFill>
                          <a:latin typeface="Malgun Gothic"/>
                          <a:ea typeface="Malgun Gothic"/>
                          <a:cs typeface="Malgun Gothic"/>
                        </a:rPr>
                        <a:t>긴 미끄러짐 없이 입력에 빠르게 반응</a:t>
                      </a:r>
                    </a:p>
                  </a:txBody>
                  <a:tcPr marL="91440" marR="91440" marT="45720" marB="45720" anchor="ctr">
                    <a:solidFill>
                      <a:srgbClr val="E9EFF6"/>
                    </a:solidFill>
                  </a:tcPr>
                </a:tc>
              </a:tr>
              <a:tr h="635000">
                <a:tc>
                  <a:txBody>
                    <a:bodyPr lIns="123825" tIns="66675" rIns="123825" bIns="66675">
                      <a:noAutofit/>
                    </a:bodyPr>
                    <a:lstStyle/>
                    <a:p>
                      <a:r>
                        <a:rPr sz="1800" b="0">
                          <a:solidFill>
                            <a:srgbClr val="26374D"/>
                          </a:solidFill>
                          <a:latin typeface="Malgun Gothic"/>
                          <a:ea typeface="Malgun Gothic"/>
                          <a:cs typeface="Malgun Gothic"/>
                        </a:rPr>
                        <a:t>경계</a:t>
                      </a:r>
                    </a:p>
                  </a:txBody>
                  <a:tcPr marL="91440" marR="91440" marT="45720" marB="45720" anchor="ctr">
                    <a:solidFill>
                      <a:srgbClr val="F2F5F9"/>
                    </a:solidFill>
                  </a:tcPr>
                </a:tc>
                <a:tc>
                  <a:txBody>
                    <a:bodyPr lIns="123825" tIns="66675" rIns="123825" bIns="66675">
                      <a:noAutofit/>
                    </a:bodyPr>
                    <a:lstStyle/>
                    <a:p>
                      <a:r>
                        <a:rPr sz="1800" b="0">
                          <a:solidFill>
                            <a:srgbClr val="26374D"/>
                          </a:solidFill>
                          <a:latin typeface="Malgun Gothic"/>
                          <a:ea typeface="Malgun Gothic"/>
                          <a:cs typeface="Malgun Gothic"/>
                        </a:rPr>
                        <a:t>화면 가장자리에서 48px 안쪽</a:t>
                      </a:r>
                    </a:p>
                  </a:txBody>
                  <a:tcPr marL="91440" marR="91440" marT="45720" marB="45720" anchor="ctr">
                    <a:solidFill>
                      <a:srgbClr val="F2F5F9"/>
                    </a:solidFill>
                  </a:tcPr>
                </a:tc>
                <a:tc>
                  <a:txBody>
                    <a:bodyPr lIns="123825" tIns="66675" rIns="123825" bIns="66675">
                      <a:noAutofit/>
                    </a:bodyPr>
                    <a:lstStyle/>
                    <a:p>
                      <a:r>
                        <a:rPr sz="1800" b="0">
                          <a:solidFill>
                            <a:srgbClr val="26374D"/>
                          </a:solidFill>
                          <a:latin typeface="Malgun Gothic"/>
                          <a:ea typeface="Malgun Gothic"/>
                          <a:cs typeface="Malgun Gothic"/>
                        </a:rPr>
                        <a:t>눈더미·울타리 등 외곽 장식으로 표시</a:t>
                      </a:r>
                    </a:p>
                  </a:txBody>
                  <a:tcPr marL="91440" marR="91440" marT="45720" marB="45720" anchor="ctr">
                    <a:solidFill>
                      <a:srgbClr val="F2F5F9"/>
                    </a:solidFill>
                  </a:tcPr>
                </a:tc>
              </a:tr>
              <a:tr h="635000">
                <a:tc>
                  <a:txBody>
                    <a:bodyPr lIns="123825" tIns="66675" rIns="123825" bIns="66675">
                      <a:noAutofit/>
                    </a:bodyPr>
                    <a:lstStyle/>
                    <a:p>
                      <a:r>
                        <a:rPr sz="1800" b="0">
                          <a:solidFill>
                            <a:srgbClr val="26374D"/>
                          </a:solidFill>
                          <a:latin typeface="Malgun Gothic"/>
                          <a:ea typeface="Malgun Gothic"/>
                          <a:cs typeface="Malgun Gothic"/>
                        </a:rPr>
                        <a:t>방향</a:t>
                      </a:r>
                    </a:p>
                  </a:txBody>
                  <a:tcPr marL="91440" marR="91440" marT="45720" marB="45720" anchor="ctr">
                    <a:solidFill>
                      <a:srgbClr val="E9EFF6"/>
                    </a:solidFill>
                  </a:tcPr>
                </a:tc>
                <a:tc>
                  <a:txBody>
                    <a:bodyPr lIns="123825" tIns="66675" rIns="123825" bIns="66675">
                      <a:noAutofit/>
                    </a:bodyPr>
                    <a:lstStyle/>
                    <a:p>
                      <a:r>
                        <a:rPr sz="1800" b="0">
                          <a:solidFill>
                            <a:srgbClr val="26374D"/>
                          </a:solidFill>
                          <a:latin typeface="Malgun Gothic"/>
                          <a:ea typeface="Malgun Gothic"/>
                          <a:cs typeface="Malgun Gothic"/>
                        </a:rPr>
                        <a:t>좌우 반전</a:t>
                      </a:r>
                    </a:p>
                  </a:txBody>
                  <a:tcPr marL="91440" marR="91440" marT="45720" marB="45720" anchor="ctr">
                    <a:solidFill>
                      <a:srgbClr val="E9EFF6"/>
                    </a:solidFill>
                  </a:tcPr>
                </a:tc>
                <a:tc>
                  <a:txBody>
                    <a:bodyPr lIns="123825" tIns="66675" rIns="123825" bIns="66675">
                      <a:noAutofit/>
                    </a:bodyPr>
                    <a:lstStyle/>
                    <a:p>
                      <a:r>
                        <a:rPr sz="1800" b="0">
                          <a:solidFill>
                            <a:srgbClr val="26374D"/>
                          </a:solidFill>
                          <a:latin typeface="Malgun Gothic"/>
                          <a:ea typeface="Malgun Gothic"/>
                          <a:cs typeface="Malgun Gothic"/>
                        </a:rPr>
                        <a:t>수직 이동 중 마지막 좌우 방향 유지</a:t>
                      </a:r>
                    </a:p>
                  </a:txBody>
                  <a:tcPr marL="91440" marR="91440" marT="45720" marB="45720" anchor="ctr">
                    <a:solidFill>
                      <a:srgbClr val="E9EFF6"/>
                    </a:solidFill>
                  </a:tcPr>
                </a:tc>
              </a:tr>
            </a:tbl>
          </a:graphicData>
        </a:graphic>
      </p:graphicFrame>
      <p:sp>
        <p:nvSpPr>
          <p:cNvPr id="6" name="">
            <a:extLst xmlns:a="http://schemas.openxmlformats.org/drawingml/2006/main">
              <a:ext uri="{FF2B5EF4-FFF2-40B4-BE49-F238E27FC236}">
                <a16:creationId xmlns:a16="http://schemas.microsoft.com/office/drawing/2014/main" id="{26597BFF-DFAB-433E-AC59-564969B47E05}"/>
              </a:ext>
            </a:extLst>
          </p:cNvPr>
          <p:cNvSpPr>
            <a:spLocks xmlns:a="http://schemas.openxmlformats.org/drawingml/2006/main" noGrp="1"/>
          </p:cNvSpPr>
          <p:nvPr/>
        </p:nvSpPr>
        <p:spPr>
          <a:xfrm xmlns:a="http://schemas.openxmlformats.org/drawingml/2006/main">
            <a:off x="609600" y="58578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7FA7"/>
                </a:solidFill>
                <a:latin typeface="Malgun Gothic"/>
                <a:ea typeface="Malgun Gothic"/>
                <a:cs typeface="Malgun Gothic"/>
              </a:defRPr>
            </a:pPr>
            <a:r>
              <a:rPr sz="1650" b="1">
                <a:solidFill>
                  <a:srgbClr val="617FA7"/>
                </a:solidFill>
                <a:latin typeface="Malgun Gothic"/>
                <a:ea typeface="Malgun Gothic"/>
                <a:cs typeface="Malgun Gothic"/>
              </a:rPr>
              <a:t>대시·점프·수동 조준은 없다. 터치 조이스틱은 후속 검토 항목이다.</a:t>
            </a:r>
          </a:p>
        </p:txBody>
      </p:sp>
    </p:spTree>
    <p:extLst>
      <p:ext uri="{BB962C8B-B14F-4D97-AF65-F5344CB8AC3E}">
        <p14:creationId xmlns:p14="http://schemas.microsoft.com/office/powerpoint/2010/main" val="1866499859"/>
      </p:ext>
    </p:extLst>
  </p:cSld>
</p:sld>
</file>

<file path=ppt/slides/slide6.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DD73F26-8831-4176-B9F5-5BF0B30E2CA5}"/>
              </a:ext>
            </a:extLst>
          </p:cNvPr>
          <p:cNvSpPr>
            <a:spLocks xmlns:a="http://schemas.openxmlformats.org/drawingml/2006/main" noGrp="1"/>
          </p:cNvSpPr>
          <p:nvPr/>
        </p:nvSpPr>
        <p:spPr>
          <a:xfrm xmlns:a="http://schemas.openxmlformats.org/drawingml/2006/main">
            <a:off x="571500" y="40957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26374D"/>
                </a:solidFill>
                <a:latin typeface="Malgun Gothic"/>
                <a:ea typeface="Malgun Gothic"/>
                <a:cs typeface="Malgun Gothic"/>
              </a:defRPr>
            </a:pPr>
            <a:r>
              <a:rPr sz="3150" b="1">
                <a:solidFill>
                  <a:srgbClr val="26374D"/>
                </a:solidFill>
                <a:latin typeface="Malgun Gothic"/>
                <a:ea typeface="Malgun Gothic"/>
                <a:cs typeface="Malgun Gothic"/>
              </a:rPr>
              <a:t>HUD와 플레이 시작·종료</a:t>
            </a:r>
          </a:p>
        </p:txBody>
      </p:sp>
      <p:sp>
        <p:nvSpPr>
          <p:cNvPr id="2" name="">
            <a:extLst xmlns:a="http://schemas.openxmlformats.org/drawingml/2006/main">
              <a:ext uri="{FF2B5EF4-FFF2-40B4-BE49-F238E27FC236}">
                <a16:creationId xmlns:a16="http://schemas.microsoft.com/office/drawing/2014/main" id="{90D5A220-EFBE-437D-A9F1-4E8EC4BECBC7}"/>
              </a:ext>
            </a:extLst>
          </p:cNvPr>
          <p:cNvSpPr>
            <a:spLocks xmlns:a="http://schemas.openxmlformats.org/drawingml/2006/main" noGrp="1"/>
          </p:cNvSpPr>
          <p:nvPr/>
        </p:nvSpPr>
        <p:spPr>
          <a:xfrm xmlns:a="http://schemas.openxmlformats.org/drawingml/2006/main">
            <a:off x="590550" y="1104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플레이어가 체력, 점수, 생존 시간을 바로 읽을 수 있게 한다</a:t>
            </a:r>
          </a:p>
        </p:txBody>
      </p:sp>
      <p:sp>
        <p:nvSpPr>
          <p:cNvPr id="3" name="">
            <a:extLst xmlns:a="http://schemas.openxmlformats.org/drawingml/2006/main">
              <a:ext uri="{FF2B5EF4-FFF2-40B4-BE49-F238E27FC236}">
                <a16:creationId xmlns:a16="http://schemas.microsoft.com/office/drawing/2014/main" id="{F4EED097-6C07-4718-8244-EE6DBEED0FEF}"/>
              </a:ext>
            </a:extLst>
          </p:cNvPr>
          <p:cNvSpPr>
            <a:spLocks xmlns:a="http://schemas.openxmlformats.org/drawingml/2006/main" noGrp="1"/>
          </p:cNvSpPr>
          <p:nvPr/>
        </p:nvSpPr>
        <p:spPr>
          <a:xfrm xmlns:a="http://schemas.openxmlformats.org/drawingml/2006/main">
            <a:off x="590550" y="6496050"/>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68778C"/>
                </a:solidFill>
                <a:latin typeface="Malgun Gothic"/>
                <a:ea typeface="Malgun Gothic"/>
                <a:cs typeface="Malgun Gothic"/>
              </a:defRPr>
            </a:pPr>
            <a:r>
              <a:rPr sz="975" b="0">
                <a:solidFill>
                  <a:srgbClr val="68778C"/>
                </a:solidFill>
                <a:latin typeface="Malgun Gothic"/>
                <a:ea typeface="Malgun Gothic"/>
                <a:cs typeface="Malgun Gothic"/>
              </a:rPr>
              <a:t>동물 힐링 서바이벌 / 프로토타입 개발 기획 v0.2</a:t>
            </a:r>
          </a:p>
        </p:txBody>
      </p:sp>
      <p:sp>
        <p:nvSpPr>
          <p:cNvPr id="4" name="">
            <a:extLst xmlns:a="http://schemas.openxmlformats.org/drawingml/2006/main">
              <a:ext uri="{FF2B5EF4-FFF2-40B4-BE49-F238E27FC236}">
                <a16:creationId xmlns:a16="http://schemas.microsoft.com/office/drawing/2014/main" id="{C28BF495-64C0-45EA-8682-34706D2454AF}"/>
              </a:ext>
            </a:extLst>
          </p:cNvPr>
          <p:cNvSpPr>
            <a:spLocks xmlns:a="http://schemas.openxmlformats.org/drawingml/2006/main" noGrp="1"/>
          </p:cNvSpPr>
          <p:nvPr/>
        </p:nvSpPr>
        <p:spPr>
          <a:xfrm xmlns:a="http://schemas.openxmlformats.org/drawingml/2006/main">
            <a:off x="11096625" y="64770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8778C"/>
                </a:solidFill>
                <a:latin typeface="Malgun Gothic"/>
                <a:ea typeface="Malgun Gothic"/>
                <a:cs typeface="Malgun Gothic"/>
              </a:defRPr>
            </a:pPr>
            <a:r>
              <a:rPr sz="1125" b="0">
                <a:solidFill>
                  <a:srgbClr val="68778C"/>
                </a:solidFill>
                <a:latin typeface="Malgun Gothic"/>
                <a:ea typeface="Malgun Gothic"/>
                <a:cs typeface="Malgun Gothic"/>
              </a:rPr>
              <a:t>06</a:t>
            </a:r>
          </a:p>
        </p:txBody>
      </p:sp>
      <p:graphicFrame>
        <p:nvGraphicFramePr>
          <p:cNvPr id="10" name=""/>
          <p:cNvGraphicFramePr/>
          <p:nvPr/>
        </p:nvGraphicFramePr>
        <p:xfrm>
          <a:off xmlns:a="http://schemas.openxmlformats.org/drawingml/2006/main" x="590550" y="1762125"/>
          <a:ext xmlns:a="http://schemas.openxmlformats.org/drawingml/2006/main" cx="11010900" cy="4000500"/>
        </p:xfrm>
        <a:graphic xmlns:a="http://schemas.openxmlformats.org/drawingml/2006/main">
          <a:graphicData uri="http://schemas.openxmlformats.org/drawingml/2006/table">
            <a:tbl>
              <a:tblPr/>
              <a:tblGrid>
                <a:gridCol w="2047875"/>
                <a:gridCol w="8963025"/>
              </a:tblGrid>
              <a:tr h="571500">
                <a:tc>
                  <a:txBody>
                    <a:bodyPr lIns="123825" tIns="66675" rIns="123825" bIns="66675">
                      <a:noAutofit/>
                    </a:bodyPr>
                    <a:lstStyle/>
                    <a:p>
                      <a:r>
                        <a:rPr sz="1725" b="1">
                          <a:solidFill>
                            <a:srgbClr val="FFFFFF"/>
                          </a:solidFill>
                          <a:latin typeface="Malgun Gothic"/>
                          <a:ea typeface="Malgun Gothic"/>
                          <a:cs typeface="Malgun Gothic"/>
                        </a:rPr>
                        <a:t>상태</a:t>
                      </a:r>
                    </a:p>
                  </a:txBody>
                  <a:tcPr marL="91440" marR="91440" marT="45720" marB="45720" anchor="ctr">
                    <a:solidFill>
                      <a:srgbClr val="26374D"/>
                    </a:solidFill>
                  </a:tcPr>
                </a:tc>
                <a:tc>
                  <a:txBody>
                    <a:bodyPr lIns="123825" tIns="66675" rIns="123825" bIns="66675">
                      <a:noAutofit/>
                    </a:bodyPr>
                    <a:lstStyle/>
                    <a:p>
                      <a:r>
                        <a:rPr sz="1725" b="1">
                          <a:solidFill>
                            <a:srgbClr val="FFFFFF"/>
                          </a:solidFill>
                          <a:latin typeface="Malgun Gothic"/>
                          <a:ea typeface="Malgun Gothic"/>
                          <a:cs typeface="Malgun Gothic"/>
                        </a:rPr>
                        <a:t>표시와 동작</a:t>
                      </a:r>
                    </a:p>
                  </a:txBody>
                  <a:tcPr marL="91440" marR="91440" marT="45720" marB="45720" anchor="ctr">
                    <a:solidFill>
                      <a:srgbClr val="26374D"/>
                    </a:solidFill>
                  </a:tcPr>
                </a:tc>
              </a:tr>
              <a:tr h="571500">
                <a:tc>
                  <a:txBody>
                    <a:bodyPr lIns="123825" tIns="66675" rIns="123825" bIns="66675">
                      <a:noAutofit/>
                    </a:bodyPr>
                    <a:lstStyle/>
                    <a:p>
                      <a:r>
                        <a:rPr sz="1725" b="0">
                          <a:solidFill>
                            <a:srgbClr val="26374D"/>
                          </a:solidFill>
                          <a:latin typeface="Malgun Gothic"/>
                          <a:ea typeface="Malgun Gothic"/>
                          <a:cs typeface="Malgun Gothic"/>
                        </a:rPr>
                        <a:t>플레이 시작</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중앙에 등장, 1.5초간 적 생성 없음, 안내 2.5초</a:t>
                      </a:r>
                    </a:p>
                  </a:txBody>
                  <a:tcPr marL="91440" marR="91440" marT="45720" marB="45720" anchor="ctr">
                    <a:solidFill>
                      <a:srgbClr val="E9EFF6"/>
                    </a:solidFill>
                  </a:tcPr>
                </a:tc>
              </a:tr>
              <a:tr h="571500">
                <a:tc>
                  <a:txBody>
                    <a:bodyPr lIns="123825" tIns="66675" rIns="123825" bIns="66675">
                      <a:noAutofit/>
                    </a:bodyPr>
                    <a:lstStyle/>
                    <a:p>
                      <a:r>
                        <a:rPr sz="1725" b="0">
                          <a:solidFill>
                            <a:srgbClr val="26374D"/>
                          </a:solidFill>
                          <a:latin typeface="Malgun Gothic"/>
                          <a:ea typeface="Malgun Gothic"/>
                          <a:cs typeface="Malgun Gothic"/>
                        </a:rPr>
                        <a:t>좌상단</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체력 5칸, 잃은 체력은 빈 아이콘으로 유지</a:t>
                      </a:r>
                    </a:p>
                  </a:txBody>
                  <a:tcPr marL="91440" marR="91440" marT="45720" marB="45720" anchor="ctr">
                    <a:solidFill>
                      <a:srgbClr val="F2F5F9"/>
                    </a:solidFill>
                  </a:tcPr>
                </a:tc>
              </a:tr>
              <a:tr h="571500">
                <a:tc>
                  <a:txBody>
                    <a:bodyPr lIns="123825" tIns="66675" rIns="123825" bIns="66675">
                      <a:noAutofit/>
                    </a:bodyPr>
                    <a:lstStyle/>
                    <a:p>
                      <a:r>
                        <a:rPr sz="1725" b="0">
                          <a:solidFill>
                            <a:srgbClr val="26374D"/>
                          </a:solidFill>
                          <a:latin typeface="Malgun Gothic"/>
                          <a:ea typeface="Malgun Gothic"/>
                          <a:cs typeface="Malgun Gothic"/>
                        </a:rPr>
                        <a:t>상단 중앙</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점수, 증가 시 약 0.12초 동안 8% 확대</a:t>
                      </a:r>
                    </a:p>
                  </a:txBody>
                  <a:tcPr marL="91440" marR="91440" marT="45720" marB="45720" anchor="ctr">
                    <a:solidFill>
                      <a:srgbClr val="E9EFF6"/>
                    </a:solidFill>
                  </a:tcPr>
                </a:tc>
              </a:tr>
              <a:tr h="571500">
                <a:tc>
                  <a:txBody>
                    <a:bodyPr lIns="123825" tIns="66675" rIns="123825" bIns="66675">
                      <a:noAutofit/>
                    </a:bodyPr>
                    <a:lstStyle/>
                    <a:p>
                      <a:r>
                        <a:rPr sz="1725" b="0">
                          <a:solidFill>
                            <a:srgbClr val="26374D"/>
                          </a:solidFill>
                          <a:latin typeface="Malgun Gothic"/>
                          <a:ea typeface="Malgun Gothic"/>
                          <a:cs typeface="Malgun Gothic"/>
                        </a:rPr>
                        <a:t>우상단</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생존 시간, 일시정지 버튼</a:t>
                      </a:r>
                    </a:p>
                  </a:txBody>
                  <a:tcPr marL="91440" marR="91440" marT="45720" marB="45720" anchor="ctr">
                    <a:solidFill>
                      <a:srgbClr val="F2F5F9"/>
                    </a:solidFill>
                  </a:tcPr>
                </a:tc>
              </a:tr>
              <a:tr h="571500">
                <a:tc>
                  <a:txBody>
                    <a:bodyPr lIns="123825" tIns="66675" rIns="123825" bIns="66675">
                      <a:noAutofit/>
                    </a:bodyPr>
                    <a:lstStyle/>
                    <a:p>
                      <a:r>
                        <a:rPr sz="1725" b="0">
                          <a:solidFill>
                            <a:srgbClr val="26374D"/>
                          </a:solidFill>
                          <a:latin typeface="Malgun Gothic"/>
                          <a:ea typeface="Malgun Gothic"/>
                          <a:cs typeface="Malgun Gothic"/>
                        </a:rPr>
                        <a:t>체력 0</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점수·공격·생성 즉시 중지, 탈진 0.6초 후 결과</a:t>
                      </a:r>
                    </a:p>
                  </a:txBody>
                  <a:tcPr marL="91440" marR="91440" marT="45720" marB="45720" anchor="ctr">
                    <a:solidFill>
                      <a:srgbClr val="E9EFF6"/>
                    </a:solidFill>
                  </a:tcPr>
                </a:tc>
              </a:tr>
              <a:tr h="571500">
                <a:tc>
                  <a:txBody>
                    <a:bodyPr lIns="123825" tIns="66675" rIns="123825" bIns="66675">
                      <a:noAutofit/>
                    </a:bodyPr>
                    <a:lstStyle/>
                    <a:p>
                      <a:r>
                        <a:rPr sz="1725" b="0">
                          <a:solidFill>
                            <a:srgbClr val="26374D"/>
                          </a:solidFill>
                          <a:latin typeface="Malgun Gothic"/>
                          <a:ea typeface="Malgun Gothic"/>
                          <a:cs typeface="Malgun Gothic"/>
                        </a:rPr>
                        <a:t>결과</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점수, 생존 시간, 처치 수, 최고 기록, 재도전·선택 버튼</a:t>
                      </a:r>
                    </a:p>
                  </a:txBody>
                  <a:tcPr marL="91440" marR="91440" marT="45720" marB="45720" anchor="ctr">
                    <a:solidFill>
                      <a:srgbClr val="F2F5F9"/>
                    </a:solidFill>
                  </a:tcPr>
                </a:tc>
              </a:tr>
            </a:tbl>
          </a:graphicData>
        </a:graphic>
      </p:graphicFrame>
    </p:spTree>
    <p:extLst>
      <p:ext uri="{BB962C8B-B14F-4D97-AF65-F5344CB8AC3E}">
        <p14:creationId xmlns:p14="http://schemas.microsoft.com/office/powerpoint/2010/main" val="1611767596"/>
      </p:ext>
    </p:extLst>
  </p:cSld>
</p:sld>
</file>

<file path=ppt/slides/slide7.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F82DDB5-85C5-4972-939E-EAAFCD58CA13}"/>
              </a:ext>
            </a:extLst>
          </p:cNvPr>
          <p:cNvSpPr>
            <a:spLocks xmlns:a="http://schemas.openxmlformats.org/drawingml/2006/main" noGrp="1"/>
          </p:cNvSpPr>
          <p:nvPr/>
        </p:nvSpPr>
        <p:spPr>
          <a:xfrm xmlns:a="http://schemas.openxmlformats.org/drawingml/2006/main">
            <a:off x="571500" y="40957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26374D"/>
                </a:solidFill>
                <a:latin typeface="Malgun Gothic"/>
                <a:ea typeface="Malgun Gothic"/>
                <a:cs typeface="Malgun Gothic"/>
              </a:defRPr>
            </a:pPr>
            <a:r>
              <a:rPr sz="3150" b="1">
                <a:solidFill>
                  <a:srgbClr val="26374D"/>
                </a:solidFill>
                <a:latin typeface="Malgun Gothic"/>
                <a:ea typeface="Malgun Gothic"/>
                <a:cs typeface="Malgun Gothic"/>
              </a:rPr>
              <a:t>펭귄 씬: 오로라 눈밭</a:t>
            </a:r>
          </a:p>
        </p:txBody>
      </p:sp>
      <p:sp>
        <p:nvSpPr>
          <p:cNvPr id="2" name="">
            <a:extLst xmlns:a="http://schemas.openxmlformats.org/drawingml/2006/main">
              <a:ext uri="{FF2B5EF4-FFF2-40B4-BE49-F238E27FC236}">
                <a16:creationId xmlns:a16="http://schemas.microsoft.com/office/drawing/2014/main" id="{7D7FC3E4-A017-4B5A-9C88-AA15E14D63AA}"/>
              </a:ext>
            </a:extLst>
          </p:cNvPr>
          <p:cNvSpPr>
            <a:spLocks xmlns:a="http://schemas.openxmlformats.org/drawingml/2006/main" noGrp="1"/>
          </p:cNvSpPr>
          <p:nvPr/>
        </p:nvSpPr>
        <p:spPr>
          <a:xfrm xmlns:a="http://schemas.openxmlformats.org/drawingml/2006/main">
            <a:off x="590550" y="1104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시안 7의 파스텔 픽셀 느낌과 분홍 목도리를 유지한다</a:t>
            </a:r>
          </a:p>
        </p:txBody>
      </p:sp>
      <p:sp>
        <p:nvSpPr>
          <p:cNvPr id="3" name="">
            <a:extLst xmlns:a="http://schemas.openxmlformats.org/drawingml/2006/main">
              <a:ext uri="{FF2B5EF4-FFF2-40B4-BE49-F238E27FC236}">
                <a16:creationId xmlns:a16="http://schemas.microsoft.com/office/drawing/2014/main" id="{6AF1B524-116B-4550-8335-1F2DADD4BC17}"/>
              </a:ext>
            </a:extLst>
          </p:cNvPr>
          <p:cNvSpPr>
            <a:spLocks xmlns:a="http://schemas.openxmlformats.org/drawingml/2006/main" noGrp="1"/>
          </p:cNvSpPr>
          <p:nvPr/>
        </p:nvSpPr>
        <p:spPr>
          <a:xfrm xmlns:a="http://schemas.openxmlformats.org/drawingml/2006/main">
            <a:off x="590550" y="6496050"/>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68778C"/>
                </a:solidFill>
                <a:latin typeface="Malgun Gothic"/>
                <a:ea typeface="Malgun Gothic"/>
                <a:cs typeface="Malgun Gothic"/>
              </a:defRPr>
            </a:pPr>
            <a:r>
              <a:rPr sz="975" b="0">
                <a:solidFill>
                  <a:srgbClr val="68778C"/>
                </a:solidFill>
                <a:latin typeface="Malgun Gothic"/>
                <a:ea typeface="Malgun Gothic"/>
                <a:cs typeface="Malgun Gothic"/>
              </a:rPr>
              <a:t>동물 힐링 서바이벌 / 프로토타입 개발 기획 v0.2</a:t>
            </a:r>
          </a:p>
        </p:txBody>
      </p:sp>
      <p:sp>
        <p:nvSpPr>
          <p:cNvPr id="4" name="">
            <a:extLst xmlns:a="http://schemas.openxmlformats.org/drawingml/2006/main">
              <a:ext uri="{FF2B5EF4-FFF2-40B4-BE49-F238E27FC236}">
                <a16:creationId xmlns:a16="http://schemas.microsoft.com/office/drawing/2014/main" id="{94332757-CF4C-40C9-8DB1-DE114E381CAB}"/>
              </a:ext>
            </a:extLst>
          </p:cNvPr>
          <p:cNvSpPr>
            <a:spLocks xmlns:a="http://schemas.openxmlformats.org/drawingml/2006/main" noGrp="1"/>
          </p:cNvSpPr>
          <p:nvPr/>
        </p:nvSpPr>
        <p:spPr>
          <a:xfrm xmlns:a="http://schemas.openxmlformats.org/drawingml/2006/main">
            <a:off x="11096625" y="64770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8778C"/>
                </a:solidFill>
                <a:latin typeface="Malgun Gothic"/>
                <a:ea typeface="Malgun Gothic"/>
                <a:cs typeface="Malgun Gothic"/>
              </a:defRPr>
            </a:pPr>
            <a:r>
              <a:rPr sz="1125" b="0">
                <a:solidFill>
                  <a:srgbClr val="68778C"/>
                </a:solidFill>
                <a:latin typeface="Malgun Gothic"/>
                <a:ea typeface="Malgun Gothic"/>
                <a:cs typeface="Malgun Gothic"/>
              </a:rPr>
              <a:t>07</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aff6eec0c0d4670"/>
          <a:stretch xmlns:a="http://schemas.openxmlformats.org/drawingml/2006/main"/>
        </p:blipFill>
        <p:spPr>
          <a:xfrm xmlns:a="http://schemas.openxmlformats.org/drawingml/2006/main">
            <a:off x="959644" y="1809750"/>
            <a:ext cx="6500813" cy="43338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B1E66CB-BF90-43CA-8B38-DA6897C45E1D}"/>
              </a:ext>
            </a:extLst>
          </p:cNvPr>
          <p:cNvSpPr>
            <a:spLocks xmlns:a="http://schemas.openxmlformats.org/drawingml/2006/main" noGrp="1"/>
          </p:cNvSpPr>
          <p:nvPr/>
        </p:nvSpPr>
        <p:spPr>
          <a:xfrm xmlns:a="http://schemas.openxmlformats.org/drawingml/2006/main">
            <a:off x="8267700" y="1847850"/>
            <a:ext cx="3209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617FA7"/>
                </a:solidFill>
                <a:latin typeface="Malgun Gothic"/>
                <a:ea typeface="Malgun Gothic"/>
                <a:cs typeface="Malgun Gothic"/>
              </a:defRPr>
            </a:pPr>
            <a:r>
              <a:rPr sz="2325" b="1">
                <a:solidFill>
                  <a:srgbClr val="617FA7"/>
                </a:solidFill>
                <a:latin typeface="Malgun Gothic"/>
                <a:ea typeface="Malgun Gothic"/>
                <a:cs typeface="Malgun Gothic"/>
              </a:rPr>
              <a:t>회전 눈꽃</a:t>
            </a:r>
          </a:p>
        </p:txBody>
      </p:sp>
      <p:sp>
        <p:nvSpPr>
          <p:cNvPr id="7" name="">
            <a:extLst xmlns:a="http://schemas.openxmlformats.org/drawingml/2006/main">
              <a:ext uri="{FF2B5EF4-FFF2-40B4-BE49-F238E27FC236}">
                <a16:creationId xmlns:a16="http://schemas.microsoft.com/office/drawing/2014/main" id="{A8FF0F73-5F76-43AF-ADA3-C147CF755494}"/>
              </a:ext>
            </a:extLst>
          </p:cNvPr>
          <p:cNvSpPr>
            <a:spLocks xmlns:a="http://schemas.openxmlformats.org/drawingml/2006/main" noGrp="1"/>
          </p:cNvSpPr>
          <p:nvPr/>
        </p:nvSpPr>
        <p:spPr>
          <a:xfrm xmlns:a="http://schemas.openxmlformats.org/drawingml/2006/main">
            <a:off x="8267700" y="2438400"/>
            <a:ext cx="319087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6374D"/>
                </a:solidFill>
                <a:latin typeface="Malgun Gothic"/>
                <a:ea typeface="Malgun Gothic"/>
                <a:cs typeface="Malgun Gothic"/>
              </a:defRPr>
            </a:pPr>
            <a:r>
              <a:rPr sz="1875" b="0">
                <a:solidFill>
                  <a:srgbClr val="26374D"/>
                </a:solidFill>
                <a:latin typeface="Malgun Gothic"/>
                <a:ea typeface="Malgun Gothic"/>
                <a:cs typeface="Malgun Gothic"/>
              </a:rPr>
              <a:t>눈꽃 3개가 몸 주변을 회전한다.</a:t>
            </a:r>
          </a:p>
          <a:p xmlns:a="http://schemas.openxmlformats.org/drawingml/2006/main">
            <a:r>
              <a:t/>
            </a:r>
          </a:p>
          <a:p xmlns:a="http://schemas.openxmlformats.org/drawingml/2006/main">
            <a:pPr>
              <a:defRPr sz="1875" b="0">
                <a:solidFill>
                  <a:srgbClr val="26374D"/>
                </a:solidFill>
                <a:latin typeface="Malgun Gothic"/>
                <a:ea typeface="Malgun Gothic"/>
                <a:cs typeface="Malgun Gothic"/>
              </a:defRPr>
            </a:pPr>
            <a:r>
              <a:rPr sz="1875" b="0">
                <a:solidFill>
                  <a:srgbClr val="26374D"/>
                </a:solidFill>
                <a:latin typeface="Malgun Gothic"/>
                <a:ea typeface="Malgun Gothic"/>
                <a:cs typeface="Malgun Gothic"/>
              </a:rPr>
              <a:t>고리 안으로 들어온 적을 피해 거리를 유지한다.</a:t>
            </a:r>
          </a:p>
          <a:p xmlns:a="http://schemas.openxmlformats.org/drawingml/2006/main">
            <a:r>
              <a:t/>
            </a:r>
          </a:p>
          <a:p xmlns:a="http://schemas.openxmlformats.org/drawingml/2006/main">
            <a:pPr>
              <a:defRPr sz="1875" b="0">
                <a:solidFill>
                  <a:srgbClr val="26374D"/>
                </a:solidFill>
                <a:latin typeface="Malgun Gothic"/>
                <a:ea typeface="Malgun Gothic"/>
                <a:cs typeface="Malgun Gothic"/>
              </a:defRPr>
            </a:pPr>
            <a:r>
              <a:rPr sz="1875" b="0">
                <a:solidFill>
                  <a:srgbClr val="26374D"/>
                </a:solidFill>
                <a:latin typeface="Malgun Gothic"/>
                <a:ea typeface="Malgun Gothic"/>
                <a:cs typeface="Malgun Gothic"/>
              </a:rPr>
              <a:t>눈뭉치 정령과 우박 정령이 접근한다.</a:t>
            </a:r>
          </a:p>
        </p:txBody>
      </p:sp>
      <p:sp>
        <p:nvSpPr>
          <p:cNvPr id="8" name="">
            <a:extLst xmlns:a="http://schemas.openxmlformats.org/drawingml/2006/main">
              <a:ext uri="{FF2B5EF4-FFF2-40B4-BE49-F238E27FC236}">
                <a16:creationId xmlns:a16="http://schemas.microsoft.com/office/drawing/2014/main" id="{67FF6CA3-0EF5-4ADB-9C43-64BBC9D54992}"/>
              </a:ext>
            </a:extLst>
          </p:cNvPr>
          <p:cNvSpPr>
            <a:spLocks xmlns:a="http://schemas.openxmlformats.org/drawingml/2006/main" noGrp="1"/>
          </p:cNvSpPr>
          <p:nvPr/>
        </p:nvSpPr>
        <p:spPr>
          <a:xfrm xmlns:a="http://schemas.openxmlformats.org/drawingml/2006/main">
            <a:off x="8267700" y="5219700"/>
            <a:ext cx="3190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중앙 바닥은 단순하게</a:t>
            </a:r>
          </a:p>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적은 청보라 외곽선으로 구분</a:t>
            </a:r>
          </a:p>
        </p:txBody>
      </p:sp>
    </p:spTree>
    <p:extLst>
      <p:ext uri="{BB962C8B-B14F-4D97-AF65-F5344CB8AC3E}">
        <p14:creationId xmlns:p14="http://schemas.microsoft.com/office/powerpoint/2010/main" val="1127045272"/>
      </p:ext>
    </p:extLst>
  </p:cSld>
</p:sld>
</file>

<file path=ppt/slides/slide8.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4272732-257A-46FA-852B-103ADE8B30A3}"/>
              </a:ext>
            </a:extLst>
          </p:cNvPr>
          <p:cNvSpPr>
            <a:spLocks xmlns:a="http://schemas.openxmlformats.org/drawingml/2006/main" noGrp="1"/>
          </p:cNvSpPr>
          <p:nvPr/>
        </p:nvSpPr>
        <p:spPr>
          <a:xfrm xmlns:a="http://schemas.openxmlformats.org/drawingml/2006/main">
            <a:off x="571500" y="40957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26374D"/>
                </a:solidFill>
                <a:latin typeface="Malgun Gothic"/>
                <a:ea typeface="Malgun Gothic"/>
                <a:cs typeface="Malgun Gothic"/>
              </a:defRPr>
            </a:pPr>
            <a:r>
              <a:rPr sz="3150" b="1">
                <a:solidFill>
                  <a:srgbClr val="26374D"/>
                </a:solidFill>
                <a:latin typeface="Malgun Gothic"/>
                <a:ea typeface="Malgun Gothic"/>
                <a:cs typeface="Malgun Gothic"/>
              </a:rPr>
              <a:t>카피바라 씬: 온천 마을</a:t>
            </a:r>
          </a:p>
        </p:txBody>
      </p:sp>
      <p:sp>
        <p:nvSpPr>
          <p:cNvPr id="2" name="">
            <a:extLst xmlns:a="http://schemas.openxmlformats.org/drawingml/2006/main">
              <a:ext uri="{FF2B5EF4-FFF2-40B4-BE49-F238E27FC236}">
                <a16:creationId xmlns:a16="http://schemas.microsoft.com/office/drawing/2014/main" id="{5DB24BAC-CA6B-4030-9361-D710EB6F1943}"/>
              </a:ext>
            </a:extLst>
          </p:cNvPr>
          <p:cNvSpPr>
            <a:spLocks xmlns:a="http://schemas.openxmlformats.org/drawingml/2006/main" noGrp="1"/>
          </p:cNvSpPr>
          <p:nvPr/>
        </p:nvSpPr>
        <p:spPr>
          <a:xfrm xmlns:a="http://schemas.openxmlformats.org/drawingml/2006/main">
            <a:off x="590550" y="1104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시안 2의 살구색 마당, 수증기와 유자를 사용한다</a:t>
            </a:r>
          </a:p>
        </p:txBody>
      </p:sp>
      <p:sp>
        <p:nvSpPr>
          <p:cNvPr id="3" name="">
            <a:extLst xmlns:a="http://schemas.openxmlformats.org/drawingml/2006/main">
              <a:ext uri="{FF2B5EF4-FFF2-40B4-BE49-F238E27FC236}">
                <a16:creationId xmlns:a16="http://schemas.microsoft.com/office/drawing/2014/main" id="{196CC842-5F38-427B-A3BD-F4FADC903061}"/>
              </a:ext>
            </a:extLst>
          </p:cNvPr>
          <p:cNvSpPr>
            <a:spLocks xmlns:a="http://schemas.openxmlformats.org/drawingml/2006/main" noGrp="1"/>
          </p:cNvSpPr>
          <p:nvPr/>
        </p:nvSpPr>
        <p:spPr>
          <a:xfrm xmlns:a="http://schemas.openxmlformats.org/drawingml/2006/main">
            <a:off x="590550" y="6496050"/>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68778C"/>
                </a:solidFill>
                <a:latin typeface="Malgun Gothic"/>
                <a:ea typeface="Malgun Gothic"/>
                <a:cs typeface="Malgun Gothic"/>
              </a:defRPr>
            </a:pPr>
            <a:r>
              <a:rPr sz="975" b="0">
                <a:solidFill>
                  <a:srgbClr val="68778C"/>
                </a:solidFill>
                <a:latin typeface="Malgun Gothic"/>
                <a:ea typeface="Malgun Gothic"/>
                <a:cs typeface="Malgun Gothic"/>
              </a:rPr>
              <a:t>동물 힐링 서바이벌 / 프로토타입 개발 기획 v0.2</a:t>
            </a:r>
          </a:p>
        </p:txBody>
      </p:sp>
      <p:sp>
        <p:nvSpPr>
          <p:cNvPr id="4" name="">
            <a:extLst xmlns:a="http://schemas.openxmlformats.org/drawingml/2006/main">
              <a:ext uri="{FF2B5EF4-FFF2-40B4-BE49-F238E27FC236}">
                <a16:creationId xmlns:a16="http://schemas.microsoft.com/office/drawing/2014/main" id="{CC46B90A-15DB-476C-AEE2-A00F83C3932A}"/>
              </a:ext>
            </a:extLst>
          </p:cNvPr>
          <p:cNvSpPr>
            <a:spLocks xmlns:a="http://schemas.openxmlformats.org/drawingml/2006/main" noGrp="1"/>
          </p:cNvSpPr>
          <p:nvPr/>
        </p:nvSpPr>
        <p:spPr>
          <a:xfrm xmlns:a="http://schemas.openxmlformats.org/drawingml/2006/main">
            <a:off x="11096625" y="64770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8778C"/>
                </a:solidFill>
                <a:latin typeface="Malgun Gothic"/>
                <a:ea typeface="Malgun Gothic"/>
                <a:cs typeface="Malgun Gothic"/>
              </a:defRPr>
            </a:pPr>
            <a:r>
              <a:rPr sz="1125" b="0">
                <a:solidFill>
                  <a:srgbClr val="68778C"/>
                </a:solidFill>
                <a:latin typeface="Malgun Gothic"/>
                <a:ea typeface="Malgun Gothic"/>
                <a:cs typeface="Malgun Gothic"/>
              </a:rPr>
              <a:t>08</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9c0bc8925824cd3"/>
          <a:stretch xmlns:a="http://schemas.openxmlformats.org/drawingml/2006/main"/>
        </p:blipFill>
        <p:spPr>
          <a:xfrm xmlns:a="http://schemas.openxmlformats.org/drawingml/2006/main">
            <a:off x="959644" y="1809750"/>
            <a:ext cx="6500813" cy="43338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7712305-9DB3-4B55-BDB6-62199D6FB2B4}"/>
              </a:ext>
            </a:extLst>
          </p:cNvPr>
          <p:cNvSpPr>
            <a:spLocks xmlns:a="http://schemas.openxmlformats.org/drawingml/2006/main" noGrp="1"/>
          </p:cNvSpPr>
          <p:nvPr/>
        </p:nvSpPr>
        <p:spPr>
          <a:xfrm xmlns:a="http://schemas.openxmlformats.org/drawingml/2006/main">
            <a:off x="8267700" y="1847850"/>
            <a:ext cx="3209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A57543"/>
                </a:solidFill>
                <a:latin typeface="Malgun Gothic"/>
                <a:ea typeface="Malgun Gothic"/>
                <a:cs typeface="Malgun Gothic"/>
              </a:defRPr>
            </a:pPr>
            <a:r>
              <a:rPr sz="2325" b="1">
                <a:solidFill>
                  <a:srgbClr val="A57543"/>
                </a:solidFill>
                <a:latin typeface="Malgun Gothic"/>
                <a:ea typeface="Malgun Gothic"/>
                <a:cs typeface="Malgun Gothic"/>
              </a:rPr>
              <a:t>온천방울 파동</a:t>
            </a:r>
          </a:p>
        </p:txBody>
      </p:sp>
      <p:sp>
        <p:nvSpPr>
          <p:cNvPr id="7" name="">
            <a:extLst xmlns:a="http://schemas.openxmlformats.org/drawingml/2006/main">
              <a:ext uri="{FF2B5EF4-FFF2-40B4-BE49-F238E27FC236}">
                <a16:creationId xmlns:a16="http://schemas.microsoft.com/office/drawing/2014/main" id="{3ED1D7C2-37B3-4476-A7AC-356D04A31519}"/>
              </a:ext>
            </a:extLst>
          </p:cNvPr>
          <p:cNvSpPr>
            <a:spLocks xmlns:a="http://schemas.openxmlformats.org/drawingml/2006/main" noGrp="1"/>
          </p:cNvSpPr>
          <p:nvPr/>
        </p:nvSpPr>
        <p:spPr>
          <a:xfrm xmlns:a="http://schemas.openxmlformats.org/drawingml/2006/main">
            <a:off x="8267700" y="2438400"/>
            <a:ext cx="3190875"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6374D"/>
                </a:solidFill>
                <a:latin typeface="Malgun Gothic"/>
                <a:ea typeface="Malgun Gothic"/>
                <a:cs typeface="Malgun Gothic"/>
              </a:defRPr>
            </a:pPr>
            <a:r>
              <a:rPr sz="1875" b="0">
                <a:solidFill>
                  <a:srgbClr val="26374D"/>
                </a:solidFill>
                <a:latin typeface="Malgun Gothic"/>
                <a:ea typeface="Malgun Gothic"/>
                <a:cs typeface="Malgun Gothic"/>
              </a:rPr>
              <a:t>주기적으로 방울 파동이 퍼져 주변을 정리한다.</a:t>
            </a:r>
          </a:p>
          <a:p xmlns:a="http://schemas.openxmlformats.org/drawingml/2006/main">
            <a:r>
              <a:t/>
            </a:r>
          </a:p>
          <a:p xmlns:a="http://schemas.openxmlformats.org/drawingml/2006/main">
            <a:pPr>
              <a:defRPr sz="1875" b="0">
                <a:solidFill>
                  <a:srgbClr val="26374D"/>
                </a:solidFill>
                <a:latin typeface="Malgun Gothic"/>
                <a:ea typeface="Malgun Gothic"/>
                <a:cs typeface="Malgun Gothic"/>
              </a:defRPr>
            </a:pPr>
            <a:r>
              <a:rPr sz="1875" b="0">
                <a:solidFill>
                  <a:srgbClr val="26374D"/>
                </a:solidFill>
                <a:latin typeface="Malgun Gothic"/>
                <a:ea typeface="Malgun Gothic"/>
                <a:cs typeface="Malgun Gothic"/>
              </a:rPr>
              <a:t>공격 사이에는 이동하며 버틴다.</a:t>
            </a:r>
          </a:p>
          <a:p xmlns:a="http://schemas.openxmlformats.org/drawingml/2006/main">
            <a:r>
              <a:t/>
            </a:r>
          </a:p>
          <a:p xmlns:a="http://schemas.openxmlformats.org/drawingml/2006/main">
            <a:pPr>
              <a:defRPr sz="1875" b="0">
                <a:solidFill>
                  <a:srgbClr val="26374D"/>
                </a:solidFill>
                <a:latin typeface="Malgun Gothic"/>
                <a:ea typeface="Malgun Gothic"/>
                <a:cs typeface="Malgun Gothic"/>
              </a:defRPr>
            </a:pPr>
            <a:r>
              <a:rPr sz="1875" b="0">
                <a:solidFill>
                  <a:srgbClr val="26374D"/>
                </a:solidFill>
                <a:latin typeface="Malgun Gothic"/>
                <a:ea typeface="Malgun Gothic"/>
                <a:cs typeface="Malgun Gothic"/>
              </a:rPr>
              <a:t>잿빛 김 정령과 먹구름 정령이 접근한다.</a:t>
            </a:r>
          </a:p>
        </p:txBody>
      </p:sp>
      <p:sp>
        <p:nvSpPr>
          <p:cNvPr id="8" name="">
            <a:extLst xmlns:a="http://schemas.openxmlformats.org/drawingml/2006/main">
              <a:ext uri="{FF2B5EF4-FFF2-40B4-BE49-F238E27FC236}">
                <a16:creationId xmlns:a16="http://schemas.microsoft.com/office/drawing/2014/main" id="{43CB4229-734A-4F33-9653-FB60E6C62FBA}"/>
              </a:ext>
            </a:extLst>
          </p:cNvPr>
          <p:cNvSpPr>
            <a:spLocks xmlns:a="http://schemas.openxmlformats.org/drawingml/2006/main" noGrp="1"/>
          </p:cNvSpPr>
          <p:nvPr/>
        </p:nvSpPr>
        <p:spPr>
          <a:xfrm xmlns:a="http://schemas.openxmlformats.org/drawingml/2006/main">
            <a:off x="8267700" y="5334000"/>
            <a:ext cx="319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파동은 반투명</a:t>
            </a:r>
          </a:p>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회복 능력은 이번 버전에 없음</a:t>
            </a:r>
          </a:p>
        </p:txBody>
      </p:sp>
    </p:spTree>
    <p:extLst>
      <p:ext uri="{BB962C8B-B14F-4D97-AF65-F5344CB8AC3E}">
        <p14:creationId xmlns:p14="http://schemas.microsoft.com/office/powerpoint/2010/main" val="260652377"/>
      </p:ext>
    </p:extLst>
  </p:cSld>
</p:sld>
</file>

<file path=ppt/slides/slide9.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A572B7C-F2BC-46D7-A783-5EE64745FB0D}"/>
              </a:ext>
            </a:extLst>
          </p:cNvPr>
          <p:cNvSpPr>
            <a:spLocks xmlns:a="http://schemas.openxmlformats.org/drawingml/2006/main" noGrp="1"/>
          </p:cNvSpPr>
          <p:nvPr/>
        </p:nvSpPr>
        <p:spPr>
          <a:xfrm xmlns:a="http://schemas.openxmlformats.org/drawingml/2006/main">
            <a:off x="571500" y="40957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26374D"/>
                </a:solidFill>
                <a:latin typeface="Malgun Gothic"/>
                <a:ea typeface="Malgun Gothic"/>
                <a:cs typeface="Malgun Gothic"/>
              </a:defRPr>
            </a:pPr>
            <a:r>
              <a:rPr sz="3150" b="1">
                <a:solidFill>
                  <a:srgbClr val="26374D"/>
                </a:solidFill>
                <a:latin typeface="Malgun Gothic"/>
                <a:ea typeface="Malgun Gothic"/>
                <a:cs typeface="Malgun Gothic"/>
              </a:rPr>
              <a:t>고양이 씬: 달빛 우체국</a:t>
            </a:r>
          </a:p>
        </p:txBody>
      </p:sp>
      <p:sp>
        <p:nvSpPr>
          <p:cNvPr id="2" name="">
            <a:extLst xmlns:a="http://schemas.openxmlformats.org/drawingml/2006/main">
              <a:ext uri="{FF2B5EF4-FFF2-40B4-BE49-F238E27FC236}">
                <a16:creationId xmlns:a16="http://schemas.microsoft.com/office/drawing/2014/main" id="{9AA7691E-C127-41BB-A339-594A1CE45962}"/>
              </a:ext>
            </a:extLst>
          </p:cNvPr>
          <p:cNvSpPr>
            <a:spLocks xmlns:a="http://schemas.openxmlformats.org/drawingml/2006/main" noGrp="1"/>
          </p:cNvSpPr>
          <p:nvPr/>
        </p:nvSpPr>
        <p:spPr>
          <a:xfrm xmlns:a="http://schemas.openxmlformats.org/drawingml/2006/main">
            <a:off x="590550" y="1104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시안 3의 보라색 마당, 랜턴과 우편 가방을 사용한다</a:t>
            </a:r>
          </a:p>
        </p:txBody>
      </p:sp>
      <p:sp>
        <p:nvSpPr>
          <p:cNvPr id="3" name="">
            <a:extLst xmlns:a="http://schemas.openxmlformats.org/drawingml/2006/main">
              <a:ext uri="{FF2B5EF4-FFF2-40B4-BE49-F238E27FC236}">
                <a16:creationId xmlns:a16="http://schemas.microsoft.com/office/drawing/2014/main" id="{D6DD9A93-CBC3-4DA4-8A71-38766A921098}"/>
              </a:ext>
            </a:extLst>
          </p:cNvPr>
          <p:cNvSpPr>
            <a:spLocks xmlns:a="http://schemas.openxmlformats.org/drawingml/2006/main" noGrp="1"/>
          </p:cNvSpPr>
          <p:nvPr/>
        </p:nvSpPr>
        <p:spPr>
          <a:xfrm xmlns:a="http://schemas.openxmlformats.org/drawingml/2006/main">
            <a:off x="590550" y="6496050"/>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68778C"/>
                </a:solidFill>
                <a:latin typeface="Malgun Gothic"/>
                <a:ea typeface="Malgun Gothic"/>
                <a:cs typeface="Malgun Gothic"/>
              </a:defRPr>
            </a:pPr>
            <a:r>
              <a:rPr sz="975" b="0">
                <a:solidFill>
                  <a:srgbClr val="68778C"/>
                </a:solidFill>
                <a:latin typeface="Malgun Gothic"/>
                <a:ea typeface="Malgun Gothic"/>
                <a:cs typeface="Malgun Gothic"/>
              </a:rPr>
              <a:t>동물 힐링 서바이벌 / 프로토타입 개발 기획 v0.2</a:t>
            </a:r>
          </a:p>
        </p:txBody>
      </p:sp>
      <p:sp>
        <p:nvSpPr>
          <p:cNvPr id="4" name="">
            <a:extLst xmlns:a="http://schemas.openxmlformats.org/drawingml/2006/main">
              <a:ext uri="{FF2B5EF4-FFF2-40B4-BE49-F238E27FC236}">
                <a16:creationId xmlns:a16="http://schemas.microsoft.com/office/drawing/2014/main" id="{380B06FF-F77D-4A7F-9484-CB8D6DFE9539}"/>
              </a:ext>
            </a:extLst>
          </p:cNvPr>
          <p:cNvSpPr>
            <a:spLocks xmlns:a="http://schemas.openxmlformats.org/drawingml/2006/main" noGrp="1"/>
          </p:cNvSpPr>
          <p:nvPr/>
        </p:nvSpPr>
        <p:spPr>
          <a:xfrm xmlns:a="http://schemas.openxmlformats.org/drawingml/2006/main">
            <a:off x="11096625" y="64770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8778C"/>
                </a:solidFill>
                <a:latin typeface="Malgun Gothic"/>
                <a:ea typeface="Malgun Gothic"/>
                <a:cs typeface="Malgun Gothic"/>
              </a:defRPr>
            </a:pPr>
            <a:r>
              <a:rPr sz="1125" b="0">
                <a:solidFill>
                  <a:srgbClr val="68778C"/>
                </a:solidFill>
                <a:latin typeface="Malgun Gothic"/>
                <a:ea typeface="Malgun Gothic"/>
                <a:cs typeface="Malgun Gothic"/>
              </a:rPr>
              <a:t>09</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eaa62c158b245da"/>
          <a:stretch xmlns:a="http://schemas.openxmlformats.org/drawingml/2006/main"/>
        </p:blipFill>
        <p:spPr>
          <a:xfrm xmlns:a="http://schemas.openxmlformats.org/drawingml/2006/main">
            <a:off x="959644" y="1809750"/>
            <a:ext cx="6500813" cy="43338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16EDB81-262C-4E9E-B15F-FC10C63A379E}"/>
              </a:ext>
            </a:extLst>
          </p:cNvPr>
          <p:cNvSpPr>
            <a:spLocks xmlns:a="http://schemas.openxmlformats.org/drawingml/2006/main" noGrp="1"/>
          </p:cNvSpPr>
          <p:nvPr/>
        </p:nvSpPr>
        <p:spPr>
          <a:xfrm xmlns:a="http://schemas.openxmlformats.org/drawingml/2006/main">
            <a:off x="8267700" y="1847850"/>
            <a:ext cx="3209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8772A3"/>
                </a:solidFill>
                <a:latin typeface="Malgun Gothic"/>
                <a:ea typeface="Malgun Gothic"/>
                <a:cs typeface="Malgun Gothic"/>
              </a:defRPr>
            </a:pPr>
            <a:r>
              <a:rPr sz="2325" b="1">
                <a:solidFill>
                  <a:srgbClr val="8772A3"/>
                </a:solidFill>
                <a:latin typeface="Malgun Gothic"/>
                <a:ea typeface="Malgun Gothic"/>
                <a:cs typeface="Malgun Gothic"/>
              </a:rPr>
              <a:t>별빛 편지</a:t>
            </a:r>
          </a:p>
        </p:txBody>
      </p:sp>
      <p:sp>
        <p:nvSpPr>
          <p:cNvPr id="7" name="">
            <a:extLst xmlns:a="http://schemas.openxmlformats.org/drawingml/2006/main">
              <a:ext uri="{FF2B5EF4-FFF2-40B4-BE49-F238E27FC236}">
                <a16:creationId xmlns:a16="http://schemas.microsoft.com/office/drawing/2014/main" id="{DB774634-7F0B-4C44-904D-C09B1A16A25C}"/>
              </a:ext>
            </a:extLst>
          </p:cNvPr>
          <p:cNvSpPr>
            <a:spLocks xmlns:a="http://schemas.openxmlformats.org/drawingml/2006/main" noGrp="1"/>
          </p:cNvSpPr>
          <p:nvPr/>
        </p:nvSpPr>
        <p:spPr>
          <a:xfrm xmlns:a="http://schemas.openxmlformats.org/drawingml/2006/main">
            <a:off x="8267700" y="2438400"/>
            <a:ext cx="3190875" cy="2619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6374D"/>
                </a:solidFill>
                <a:latin typeface="Malgun Gothic"/>
                <a:ea typeface="Malgun Gothic"/>
                <a:cs typeface="Malgun Gothic"/>
              </a:defRPr>
            </a:pPr>
            <a:r>
              <a:rPr sz="1875" b="0">
                <a:solidFill>
                  <a:srgbClr val="26374D"/>
                </a:solidFill>
                <a:latin typeface="Malgun Gothic"/>
                <a:ea typeface="Malgun Gothic"/>
                <a:cs typeface="Malgun Gothic"/>
              </a:rPr>
              <a:t>가장 가까운 적에게 편지를 날린다.</a:t>
            </a:r>
          </a:p>
          <a:p xmlns:a="http://schemas.openxmlformats.org/drawingml/2006/main">
            <a:r>
              <a:t/>
            </a:r>
          </a:p>
          <a:p xmlns:a="http://schemas.openxmlformats.org/drawingml/2006/main">
            <a:pPr>
              <a:defRPr sz="1875" b="0">
                <a:solidFill>
                  <a:srgbClr val="26374D"/>
                </a:solidFill>
                <a:latin typeface="Malgun Gothic"/>
                <a:ea typeface="Malgun Gothic"/>
                <a:cs typeface="Malgun Gothic"/>
              </a:defRPr>
            </a:pPr>
            <a:r>
              <a:rPr sz="1875" b="0">
                <a:solidFill>
                  <a:srgbClr val="26374D"/>
                </a:solidFill>
                <a:latin typeface="Malgun Gothic"/>
                <a:ea typeface="Malgun Gothic"/>
                <a:cs typeface="Malgun Gothic"/>
              </a:rPr>
              <a:t>단일 적을 빠르게 처리하며 무리의 틈을 찾는다.</a:t>
            </a:r>
          </a:p>
          <a:p xmlns:a="http://schemas.openxmlformats.org/drawingml/2006/main">
            <a:r>
              <a:t/>
            </a:r>
          </a:p>
          <a:p xmlns:a="http://schemas.openxmlformats.org/drawingml/2006/main">
            <a:pPr>
              <a:defRPr sz="1875" b="0">
                <a:solidFill>
                  <a:srgbClr val="26374D"/>
                </a:solidFill>
                <a:latin typeface="Malgun Gothic"/>
                <a:ea typeface="Malgun Gothic"/>
                <a:cs typeface="Malgun Gothic"/>
              </a:defRPr>
            </a:pPr>
            <a:r>
              <a:rPr sz="1875" b="0">
                <a:solidFill>
                  <a:srgbClr val="26374D"/>
                </a:solidFill>
                <a:latin typeface="Malgun Gothic"/>
                <a:ea typeface="Malgun Gothic"/>
                <a:cs typeface="Malgun Gothic"/>
              </a:rPr>
              <a:t>그림자 솜뭉치와 밤구름이 접근한다.</a:t>
            </a:r>
          </a:p>
        </p:txBody>
      </p:sp>
      <p:sp>
        <p:nvSpPr>
          <p:cNvPr id="8" name="">
            <a:extLst xmlns:a="http://schemas.openxmlformats.org/drawingml/2006/main">
              <a:ext uri="{FF2B5EF4-FFF2-40B4-BE49-F238E27FC236}">
                <a16:creationId xmlns:a16="http://schemas.microsoft.com/office/drawing/2014/main" id="{A7BE664E-F056-4C99-BD85-01B1444E94CF}"/>
              </a:ext>
            </a:extLst>
          </p:cNvPr>
          <p:cNvSpPr>
            <a:spLocks xmlns:a="http://schemas.openxmlformats.org/drawingml/2006/main" noGrp="1"/>
          </p:cNvSpPr>
          <p:nvPr/>
        </p:nvSpPr>
        <p:spPr>
          <a:xfrm xmlns:a="http://schemas.openxmlformats.org/drawingml/2006/main">
            <a:off x="8267700" y="5334000"/>
            <a:ext cx="319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어두운 적의 외곽은 밝게</a:t>
            </a:r>
          </a:p>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랜턴은 가장자리에서 은은하게</a:t>
            </a:r>
          </a:p>
        </p:txBody>
      </p:sp>
    </p:spTree>
    <p:extLst>
      <p:ext uri="{BB962C8B-B14F-4D97-AF65-F5344CB8AC3E}">
        <p14:creationId xmlns:p14="http://schemas.microsoft.com/office/powerpoint/2010/main" val="1654205531"/>
      </p:ext>
    </p:extLst>
  </p:cSld>
</p:sld>
</file>

<file path=ppt/slides/slide10.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D61CB0A-FD3B-4D1F-BE33-0A2E146AF5A6}"/>
              </a:ext>
            </a:extLst>
          </p:cNvPr>
          <p:cNvSpPr>
            <a:spLocks xmlns:a="http://schemas.openxmlformats.org/drawingml/2006/main" noGrp="1"/>
          </p:cNvSpPr>
          <p:nvPr/>
        </p:nvSpPr>
        <p:spPr>
          <a:xfrm xmlns:a="http://schemas.openxmlformats.org/drawingml/2006/main">
            <a:off x="571500" y="40957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26374D"/>
                </a:solidFill>
                <a:latin typeface="Malgun Gothic"/>
                <a:ea typeface="Malgun Gothic"/>
                <a:cs typeface="Malgun Gothic"/>
              </a:defRPr>
            </a:pPr>
            <a:r>
              <a:rPr sz="3150" b="1">
                <a:solidFill>
                  <a:srgbClr val="26374D"/>
                </a:solidFill>
                <a:latin typeface="Malgun Gothic"/>
                <a:ea typeface="Malgun Gothic"/>
                <a:cs typeface="Malgun Gothic"/>
              </a:rPr>
              <a:t>자동 공격 수치</a:t>
            </a:r>
          </a:p>
        </p:txBody>
      </p:sp>
      <p:sp>
        <p:nvSpPr>
          <p:cNvPr id="2" name="">
            <a:extLst xmlns:a="http://schemas.openxmlformats.org/drawingml/2006/main">
              <a:ext uri="{FF2B5EF4-FFF2-40B4-BE49-F238E27FC236}">
                <a16:creationId xmlns:a16="http://schemas.microsoft.com/office/drawing/2014/main" id="{CAC9188D-D0FB-4FDB-B297-4A6BB2D551D4}"/>
              </a:ext>
            </a:extLst>
          </p:cNvPr>
          <p:cNvSpPr>
            <a:spLocks xmlns:a="http://schemas.openxmlformats.org/drawingml/2006/main" noGrp="1"/>
          </p:cNvSpPr>
          <p:nvPr/>
        </p:nvSpPr>
        <p:spPr>
          <a:xfrm xmlns:a="http://schemas.openxmlformats.org/drawingml/2006/main">
            <a:off x="590550" y="1104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거리와 속도는 1280 × 720 논리 좌표 기준이다</a:t>
            </a:r>
          </a:p>
        </p:txBody>
      </p:sp>
      <p:sp>
        <p:nvSpPr>
          <p:cNvPr id="3" name="">
            <a:extLst xmlns:a="http://schemas.openxmlformats.org/drawingml/2006/main">
              <a:ext uri="{FF2B5EF4-FFF2-40B4-BE49-F238E27FC236}">
                <a16:creationId xmlns:a16="http://schemas.microsoft.com/office/drawing/2014/main" id="{0C2743DA-7F8C-4B86-A3F3-66728BC3241A}"/>
              </a:ext>
            </a:extLst>
          </p:cNvPr>
          <p:cNvSpPr>
            <a:spLocks xmlns:a="http://schemas.openxmlformats.org/drawingml/2006/main" noGrp="1"/>
          </p:cNvSpPr>
          <p:nvPr/>
        </p:nvSpPr>
        <p:spPr>
          <a:xfrm xmlns:a="http://schemas.openxmlformats.org/drawingml/2006/main">
            <a:off x="590550" y="6496050"/>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68778C"/>
                </a:solidFill>
                <a:latin typeface="Malgun Gothic"/>
                <a:ea typeface="Malgun Gothic"/>
                <a:cs typeface="Malgun Gothic"/>
              </a:defRPr>
            </a:pPr>
            <a:r>
              <a:rPr sz="975" b="0">
                <a:solidFill>
                  <a:srgbClr val="68778C"/>
                </a:solidFill>
                <a:latin typeface="Malgun Gothic"/>
                <a:ea typeface="Malgun Gothic"/>
                <a:cs typeface="Malgun Gothic"/>
              </a:rPr>
              <a:t>동물 힐링 서바이벌 / 프로토타입 개발 기획 v0.2</a:t>
            </a:r>
          </a:p>
        </p:txBody>
      </p:sp>
      <p:sp>
        <p:nvSpPr>
          <p:cNvPr id="4" name="">
            <a:extLst xmlns:a="http://schemas.openxmlformats.org/drawingml/2006/main">
              <a:ext uri="{FF2B5EF4-FFF2-40B4-BE49-F238E27FC236}">
                <a16:creationId xmlns:a16="http://schemas.microsoft.com/office/drawing/2014/main" id="{DF070234-C32E-4753-9BA5-93A95A24E366}"/>
              </a:ext>
            </a:extLst>
          </p:cNvPr>
          <p:cNvSpPr>
            <a:spLocks xmlns:a="http://schemas.openxmlformats.org/drawingml/2006/main" noGrp="1"/>
          </p:cNvSpPr>
          <p:nvPr/>
        </p:nvSpPr>
        <p:spPr>
          <a:xfrm xmlns:a="http://schemas.openxmlformats.org/drawingml/2006/main">
            <a:off x="11096625" y="64770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8778C"/>
                </a:solidFill>
                <a:latin typeface="Malgun Gothic"/>
                <a:ea typeface="Malgun Gothic"/>
                <a:cs typeface="Malgun Gothic"/>
              </a:defRPr>
            </a:pPr>
            <a:r>
              <a:rPr sz="1125" b="0">
                <a:solidFill>
                  <a:srgbClr val="68778C"/>
                </a:solidFill>
                <a:latin typeface="Malgun Gothic"/>
                <a:ea typeface="Malgun Gothic"/>
                <a:cs typeface="Malgun Gothic"/>
              </a:rPr>
              <a:t>10</a:t>
            </a:r>
          </a:p>
        </p:txBody>
      </p:sp>
      <p:graphicFrame>
        <p:nvGraphicFramePr>
          <p:cNvPr id="10" name=""/>
          <p:cNvGraphicFramePr/>
          <p:nvPr/>
        </p:nvGraphicFramePr>
        <p:xfrm>
          <a:off xmlns:a="http://schemas.openxmlformats.org/drawingml/2006/main" x="590550" y="1762125"/>
          <a:ext xmlns:a="http://schemas.openxmlformats.org/drawingml/2006/main" cx="11010900" cy="4238625"/>
        </p:xfrm>
        <a:graphic xmlns:a="http://schemas.openxmlformats.org/drawingml/2006/main">
          <a:graphicData uri="http://schemas.openxmlformats.org/drawingml/2006/table">
            <a:tbl>
              <a:tblPr/>
              <a:tblGrid>
                <a:gridCol w="1657350"/>
                <a:gridCol w="3048000"/>
                <a:gridCol w="3048000"/>
                <a:gridCol w="3257550"/>
              </a:tblGrid>
              <a:tr h="529828">
                <a:tc>
                  <a:txBody>
                    <a:bodyPr lIns="123825" tIns="66675" rIns="123825" bIns="66675">
                      <a:noAutofit/>
                    </a:bodyPr>
                    <a:lstStyle/>
                    <a:p>
                      <a:r>
                        <a:rPr sz="1725" b="1">
                          <a:solidFill>
                            <a:srgbClr val="FFFFFF"/>
                          </a:solidFill>
                          <a:latin typeface="Malgun Gothic"/>
                          <a:ea typeface="Malgun Gothic"/>
                          <a:cs typeface="Malgun Gothic"/>
                        </a:rPr>
                        <a:t>항목</a:t>
                      </a:r>
                    </a:p>
                  </a:txBody>
                  <a:tcPr marL="91440" marR="91440" marT="45720" marB="45720" anchor="ctr">
                    <a:solidFill>
                      <a:srgbClr val="26374D"/>
                    </a:solidFill>
                  </a:tcPr>
                </a:tc>
                <a:tc>
                  <a:txBody>
                    <a:bodyPr lIns="123825" tIns="66675" rIns="123825" bIns="66675">
                      <a:noAutofit/>
                    </a:bodyPr>
                    <a:lstStyle/>
                    <a:p>
                      <a:r>
                        <a:rPr sz="1725" b="1">
                          <a:solidFill>
                            <a:srgbClr val="FFFFFF"/>
                          </a:solidFill>
                          <a:latin typeface="Malgun Gothic"/>
                          <a:ea typeface="Malgun Gothic"/>
                          <a:cs typeface="Malgun Gothic"/>
                        </a:rPr>
                        <a:t>펭귄</a:t>
                      </a:r>
                    </a:p>
                  </a:txBody>
                  <a:tcPr marL="91440" marR="91440" marT="45720" marB="45720" anchor="ctr">
                    <a:solidFill>
                      <a:srgbClr val="26374D"/>
                    </a:solidFill>
                  </a:tcPr>
                </a:tc>
                <a:tc>
                  <a:txBody>
                    <a:bodyPr lIns="123825" tIns="66675" rIns="123825" bIns="66675">
                      <a:noAutofit/>
                    </a:bodyPr>
                    <a:lstStyle/>
                    <a:p>
                      <a:r>
                        <a:rPr sz="1725" b="1">
                          <a:solidFill>
                            <a:srgbClr val="FFFFFF"/>
                          </a:solidFill>
                          <a:latin typeface="Malgun Gothic"/>
                          <a:ea typeface="Malgun Gothic"/>
                          <a:cs typeface="Malgun Gothic"/>
                        </a:rPr>
                        <a:t>카피바라</a:t>
                      </a:r>
                    </a:p>
                  </a:txBody>
                  <a:tcPr marL="91440" marR="91440" marT="45720" marB="45720" anchor="ctr">
                    <a:solidFill>
                      <a:srgbClr val="26374D"/>
                    </a:solidFill>
                  </a:tcPr>
                </a:tc>
                <a:tc>
                  <a:txBody>
                    <a:bodyPr lIns="123825" tIns="66675" rIns="123825" bIns="66675">
                      <a:noAutofit/>
                    </a:bodyPr>
                    <a:lstStyle/>
                    <a:p>
                      <a:r>
                        <a:rPr sz="1725" b="1">
                          <a:solidFill>
                            <a:srgbClr val="FFFFFF"/>
                          </a:solidFill>
                          <a:latin typeface="Malgun Gothic"/>
                          <a:ea typeface="Malgun Gothic"/>
                          <a:cs typeface="Malgun Gothic"/>
                        </a:rPr>
                        <a:t>고양이</a:t>
                      </a:r>
                    </a:p>
                  </a:txBody>
                  <a:tcPr marL="91440" marR="91440" marT="45720" marB="45720" anchor="ctr">
                    <a:solidFill>
                      <a:srgbClr val="26374D"/>
                    </a:solidFill>
                  </a:tcPr>
                </a:tc>
              </a:tr>
              <a:tr h="529828">
                <a:tc>
                  <a:txBody>
                    <a:bodyPr lIns="123825" tIns="66675" rIns="123825" bIns="66675">
                      <a:noAutofit/>
                    </a:bodyPr>
                    <a:lstStyle/>
                    <a:p>
                      <a:r>
                        <a:rPr sz="1725" b="0">
                          <a:solidFill>
                            <a:srgbClr val="26374D"/>
                          </a:solidFill>
                          <a:latin typeface="Malgun Gothic"/>
                          <a:ea typeface="Malgun Gothic"/>
                          <a:cs typeface="Malgun Gothic"/>
                        </a:rPr>
                        <a:t>방식</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눈꽃 3개 회전</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방울 파동 확산</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가까운 적에 직선 발사</a:t>
                      </a:r>
                    </a:p>
                  </a:txBody>
                  <a:tcPr marL="91440" marR="91440" marT="45720" marB="45720" anchor="ctr">
                    <a:solidFill>
                      <a:srgbClr val="E9EFF6"/>
                    </a:solidFill>
                  </a:tcPr>
                </a:tc>
              </a:tr>
              <a:tr h="529828">
                <a:tc>
                  <a:txBody>
                    <a:bodyPr lIns="123825" tIns="66675" rIns="123825" bIns="66675">
                      <a:noAutofit/>
                    </a:bodyPr>
                    <a:lstStyle/>
                    <a:p>
                      <a:r>
                        <a:rPr sz="1725" b="0">
                          <a:solidFill>
                            <a:srgbClr val="26374D"/>
                          </a:solidFill>
                          <a:latin typeface="Malgun Gothic"/>
                          <a:ea typeface="Malgun Gothic"/>
                          <a:cs typeface="Malgun Gothic"/>
                        </a:rPr>
                        <a:t>주기</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1회전 / 2.4초</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1.6초마다 발동</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0.65초마다 발사</a:t>
                      </a:r>
                    </a:p>
                  </a:txBody>
                  <a:tcPr marL="91440" marR="91440" marT="45720" marB="45720" anchor="ctr">
                    <a:solidFill>
                      <a:srgbClr val="F2F5F9"/>
                    </a:solidFill>
                  </a:tcPr>
                </a:tc>
              </a:tr>
              <a:tr h="529828">
                <a:tc>
                  <a:txBody>
                    <a:bodyPr lIns="123825" tIns="66675" rIns="123825" bIns="66675">
                      <a:noAutofit/>
                    </a:bodyPr>
                    <a:lstStyle/>
                    <a:p>
                      <a:r>
                        <a:rPr sz="1725" b="0">
                          <a:solidFill>
                            <a:srgbClr val="26374D"/>
                          </a:solidFill>
                          <a:latin typeface="Malgun Gothic"/>
                          <a:ea typeface="Malgun Gothic"/>
                          <a:cs typeface="Malgun Gothic"/>
                        </a:rPr>
                        <a:t>범위</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궤도 88px, 판정 16px</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최대 반경 145px</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탐색 반경 420px</a:t>
                      </a:r>
                    </a:p>
                  </a:txBody>
                  <a:tcPr marL="91440" marR="91440" marT="45720" marB="45720" anchor="ctr">
                    <a:solidFill>
                      <a:srgbClr val="E9EFF6"/>
                    </a:solidFill>
                  </a:tcPr>
                </a:tc>
              </a:tr>
              <a:tr h="529828">
                <a:tc>
                  <a:txBody>
                    <a:bodyPr lIns="123825" tIns="66675" rIns="123825" bIns="66675">
                      <a:noAutofit/>
                    </a:bodyPr>
                    <a:lstStyle/>
                    <a:p>
                      <a:r>
                        <a:rPr sz="1725" b="0">
                          <a:solidFill>
                            <a:srgbClr val="26374D"/>
                          </a:solidFill>
                          <a:latin typeface="Malgun Gothic"/>
                          <a:ea typeface="Malgun Gothic"/>
                          <a:cs typeface="Malgun Gothic"/>
                        </a:rPr>
                        <a:t>속도·예고</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120도 간격 배치</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예고 0.2초, 확산 0.35초</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420px/s, 수명 1.2초</a:t>
                      </a:r>
                    </a:p>
                  </a:txBody>
                  <a:tcPr marL="91440" marR="91440" marT="45720" marB="45720" anchor="ctr">
                    <a:solidFill>
                      <a:srgbClr val="F2F5F9"/>
                    </a:solidFill>
                  </a:tcPr>
                </a:tc>
              </a:tr>
              <a:tr h="529828">
                <a:tc>
                  <a:txBody>
                    <a:bodyPr lIns="123825" tIns="66675" rIns="123825" bIns="66675">
                      <a:noAutofit/>
                    </a:bodyPr>
                    <a:lstStyle/>
                    <a:p>
                      <a:r>
                        <a:rPr sz="1725" b="0">
                          <a:solidFill>
                            <a:srgbClr val="26374D"/>
                          </a:solidFill>
                          <a:latin typeface="Malgun Gothic"/>
                          <a:ea typeface="Malgun Gothic"/>
                          <a:cs typeface="Malgun Gothic"/>
                        </a:rPr>
                        <a:t>피해·넉백</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10 / 18px</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10 / 32px</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10 / 16px</a:t>
                      </a:r>
                    </a:p>
                  </a:txBody>
                  <a:tcPr marL="91440" marR="91440" marT="45720" marB="45720" anchor="ctr">
                    <a:solidFill>
                      <a:srgbClr val="E9EFF6"/>
                    </a:solidFill>
                  </a:tcPr>
                </a:tc>
              </a:tr>
              <a:tr h="529828">
                <a:tc>
                  <a:txBody>
                    <a:bodyPr lIns="123825" tIns="66675" rIns="123825" bIns="66675">
                      <a:noAutofit/>
                    </a:bodyPr>
                    <a:lstStyle/>
                    <a:p>
                      <a:r>
                        <a:rPr sz="1725" b="0">
                          <a:solidFill>
                            <a:srgbClr val="26374D"/>
                          </a:solidFill>
                          <a:latin typeface="Malgun Gothic"/>
                          <a:ea typeface="Malgun Gothic"/>
                          <a:cs typeface="Malgun Gothic"/>
                        </a:rPr>
                        <a:t>중복 피해</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동일 적 0.4초당 1회</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파동당 같은 적 1회</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첫 적 명중 후 소멸</a:t>
                      </a:r>
                    </a:p>
                  </a:txBody>
                  <a:tcPr marL="91440" marR="91440" marT="45720" marB="45720" anchor="ctr">
                    <a:solidFill>
                      <a:srgbClr val="F2F5F9"/>
                    </a:solidFill>
                  </a:tcPr>
                </a:tc>
              </a:tr>
              <a:tr h="529828">
                <a:tc>
                  <a:txBody>
                    <a:bodyPr lIns="123825" tIns="66675" rIns="123825" bIns="66675">
                      <a:noAutofit/>
                    </a:bodyPr>
                    <a:lstStyle/>
                    <a:p>
                      <a:r>
                        <a:rPr sz="1725" b="0">
                          <a:solidFill>
                            <a:srgbClr val="26374D"/>
                          </a:solidFill>
                          <a:latin typeface="Malgun Gothic"/>
                          <a:ea typeface="Malgun Gothic"/>
                          <a:cs typeface="Malgun Gothic"/>
                        </a:rPr>
                        <a:t>주의</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고리 전체에 피해 없음</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발동 위치에 중심 고정</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유도·관통·발사 적립 없음</a:t>
                      </a:r>
                    </a:p>
                  </a:txBody>
                  <a:tcPr marL="91440" marR="91440" marT="45720" marB="45720" anchor="ctr">
                    <a:solidFill>
                      <a:srgbClr val="E9EFF6"/>
                    </a:solidFill>
                  </a:tcPr>
                </a:tc>
              </a:tr>
            </a:tbl>
          </a:graphicData>
        </a:graphic>
      </p:graphicFrame>
    </p:spTree>
    <p:extLst>
      <p:ext uri="{BB962C8B-B14F-4D97-AF65-F5344CB8AC3E}">
        <p14:creationId xmlns:p14="http://schemas.microsoft.com/office/powerpoint/2010/main" val="27460569"/>
      </p:ext>
    </p:extLst>
  </p:cSld>
</p:sld>
</file>

<file path=ppt/slides/slide11.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A696E19-AC45-41B0-9186-18A30E077916}"/>
              </a:ext>
            </a:extLst>
          </p:cNvPr>
          <p:cNvSpPr>
            <a:spLocks xmlns:a="http://schemas.openxmlformats.org/drawingml/2006/main" noGrp="1"/>
          </p:cNvSpPr>
          <p:nvPr/>
        </p:nvSpPr>
        <p:spPr>
          <a:xfrm xmlns:a="http://schemas.openxmlformats.org/drawingml/2006/main">
            <a:off x="571500" y="40957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26374D"/>
                </a:solidFill>
                <a:latin typeface="Malgun Gothic"/>
                <a:ea typeface="Malgun Gothic"/>
                <a:cs typeface="Malgun Gothic"/>
              </a:defRPr>
            </a:pPr>
            <a:r>
              <a:rPr sz="3150" b="1">
                <a:solidFill>
                  <a:srgbClr val="26374D"/>
                </a:solidFill>
                <a:latin typeface="Malgun Gothic"/>
                <a:ea typeface="Malgun Gothic"/>
                <a:cs typeface="Malgun Gothic"/>
              </a:rPr>
              <a:t>몬스터와 접촉 피해</a:t>
            </a:r>
          </a:p>
        </p:txBody>
      </p:sp>
      <p:sp>
        <p:nvSpPr>
          <p:cNvPr id="2" name="">
            <a:extLst xmlns:a="http://schemas.openxmlformats.org/drawingml/2006/main">
              <a:ext uri="{FF2B5EF4-FFF2-40B4-BE49-F238E27FC236}">
                <a16:creationId xmlns:a16="http://schemas.microsoft.com/office/drawing/2014/main" id="{43498CB3-ECE3-47C8-B2AB-F2C46E6236A2}"/>
              </a:ext>
            </a:extLst>
          </p:cNvPr>
          <p:cNvSpPr>
            <a:spLocks xmlns:a="http://schemas.openxmlformats.org/drawingml/2006/main" noGrp="1"/>
          </p:cNvSpPr>
          <p:nvPr/>
        </p:nvSpPr>
        <p:spPr>
          <a:xfrm xmlns:a="http://schemas.openxmlformats.org/drawingml/2006/main">
            <a:off x="590550" y="1104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씬별 외형은 다르게, 행동과 기본 수치는 공통으로 사용한다</a:t>
            </a:r>
          </a:p>
        </p:txBody>
      </p:sp>
      <p:sp>
        <p:nvSpPr>
          <p:cNvPr id="3" name="">
            <a:extLst xmlns:a="http://schemas.openxmlformats.org/drawingml/2006/main">
              <a:ext uri="{FF2B5EF4-FFF2-40B4-BE49-F238E27FC236}">
                <a16:creationId xmlns:a16="http://schemas.microsoft.com/office/drawing/2014/main" id="{3C3768D5-9CDA-4A82-96C8-CF73D07DE76C}"/>
              </a:ext>
            </a:extLst>
          </p:cNvPr>
          <p:cNvSpPr>
            <a:spLocks xmlns:a="http://schemas.openxmlformats.org/drawingml/2006/main" noGrp="1"/>
          </p:cNvSpPr>
          <p:nvPr/>
        </p:nvSpPr>
        <p:spPr>
          <a:xfrm xmlns:a="http://schemas.openxmlformats.org/drawingml/2006/main">
            <a:off x="590550" y="6496050"/>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68778C"/>
                </a:solidFill>
                <a:latin typeface="Malgun Gothic"/>
                <a:ea typeface="Malgun Gothic"/>
                <a:cs typeface="Malgun Gothic"/>
              </a:defRPr>
            </a:pPr>
            <a:r>
              <a:rPr sz="975" b="0">
                <a:solidFill>
                  <a:srgbClr val="68778C"/>
                </a:solidFill>
                <a:latin typeface="Malgun Gothic"/>
                <a:ea typeface="Malgun Gothic"/>
                <a:cs typeface="Malgun Gothic"/>
              </a:rPr>
              <a:t>동물 힐링 서바이벌 / 프로토타입 개발 기획 v0.2</a:t>
            </a:r>
          </a:p>
        </p:txBody>
      </p:sp>
      <p:sp>
        <p:nvSpPr>
          <p:cNvPr id="4" name="">
            <a:extLst xmlns:a="http://schemas.openxmlformats.org/drawingml/2006/main">
              <a:ext uri="{FF2B5EF4-FFF2-40B4-BE49-F238E27FC236}">
                <a16:creationId xmlns:a16="http://schemas.microsoft.com/office/drawing/2014/main" id="{0F1A3D2A-5583-49B4-841A-FEE0CF37B558}"/>
              </a:ext>
            </a:extLst>
          </p:cNvPr>
          <p:cNvSpPr>
            <a:spLocks xmlns:a="http://schemas.openxmlformats.org/drawingml/2006/main" noGrp="1"/>
          </p:cNvSpPr>
          <p:nvPr/>
        </p:nvSpPr>
        <p:spPr>
          <a:xfrm xmlns:a="http://schemas.openxmlformats.org/drawingml/2006/main">
            <a:off x="11096625" y="64770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8778C"/>
                </a:solidFill>
                <a:latin typeface="Malgun Gothic"/>
                <a:ea typeface="Malgun Gothic"/>
                <a:cs typeface="Malgun Gothic"/>
              </a:defRPr>
            </a:pPr>
            <a:r>
              <a:rPr sz="1125" b="0">
                <a:solidFill>
                  <a:srgbClr val="68778C"/>
                </a:solidFill>
                <a:latin typeface="Malgun Gothic"/>
                <a:ea typeface="Malgun Gothic"/>
                <a:cs typeface="Malgun Gothic"/>
              </a:rPr>
              <a:t>11</a:t>
            </a:r>
          </a:p>
        </p:txBody>
      </p:sp>
      <p:graphicFrame>
        <p:nvGraphicFramePr>
          <p:cNvPr id="13" name=""/>
          <p:cNvGraphicFramePr/>
          <p:nvPr/>
        </p:nvGraphicFramePr>
        <p:xfrm>
          <a:off xmlns:a="http://schemas.openxmlformats.org/drawingml/2006/main" x="590550" y="1762125"/>
          <a:ext xmlns:a="http://schemas.openxmlformats.org/drawingml/2006/main" cx="11010900" cy="1952625"/>
        </p:xfrm>
        <a:graphic xmlns:a="http://schemas.openxmlformats.org/drawingml/2006/main">
          <a:graphicData uri="http://schemas.openxmlformats.org/drawingml/2006/table">
            <a:tbl>
              <a:tblPr/>
              <a:tblGrid>
                <a:gridCol w="2247900"/>
                <a:gridCol w="1714500"/>
                <a:gridCol w="2571750"/>
                <a:gridCol w="2238375"/>
                <a:gridCol w="2238375"/>
              </a:tblGrid>
              <a:tr h="650875">
                <a:tc>
                  <a:txBody>
                    <a:bodyPr lIns="123825" tIns="66675" rIns="123825" bIns="66675">
                      <a:noAutofit/>
                    </a:bodyPr>
                    <a:lstStyle/>
                    <a:p>
                      <a:r>
                        <a:rPr sz="1800" b="1">
                          <a:solidFill>
                            <a:srgbClr val="FFFFFF"/>
                          </a:solidFill>
                          <a:latin typeface="Malgun Gothic"/>
                          <a:ea typeface="Malgun Gothic"/>
                          <a:cs typeface="Malgun Gothic"/>
                        </a:rPr>
                        <a:t>종류</a:t>
                      </a:r>
                    </a:p>
                  </a:txBody>
                  <a:tcPr marL="91440" marR="91440" marT="45720" marB="45720" anchor="ctr">
                    <a:solidFill>
                      <a:srgbClr val="26374D"/>
                    </a:solidFill>
                  </a:tcPr>
                </a:tc>
                <a:tc>
                  <a:txBody>
                    <a:bodyPr lIns="123825" tIns="66675" rIns="123825" bIns="66675">
                      <a:noAutofit/>
                    </a:bodyPr>
                    <a:lstStyle/>
                    <a:p>
                      <a:r>
                        <a:rPr sz="1800" b="1">
                          <a:solidFill>
                            <a:srgbClr val="FFFFFF"/>
                          </a:solidFill>
                          <a:latin typeface="Malgun Gothic"/>
                          <a:ea typeface="Malgun Gothic"/>
                          <a:cs typeface="Malgun Gothic"/>
                        </a:rPr>
                        <a:t>체력</a:t>
                      </a:r>
                    </a:p>
                  </a:txBody>
                  <a:tcPr marL="91440" marR="91440" marT="45720" marB="45720" anchor="ctr">
                    <a:solidFill>
                      <a:srgbClr val="26374D"/>
                    </a:solidFill>
                  </a:tcPr>
                </a:tc>
                <a:tc>
                  <a:txBody>
                    <a:bodyPr lIns="123825" tIns="66675" rIns="123825" bIns="66675">
                      <a:noAutofit/>
                    </a:bodyPr>
                    <a:lstStyle/>
                    <a:p>
                      <a:r>
                        <a:rPr sz="1800" b="1">
                          <a:solidFill>
                            <a:srgbClr val="FFFFFF"/>
                          </a:solidFill>
                          <a:latin typeface="Malgun Gothic"/>
                          <a:ea typeface="Malgun Gothic"/>
                          <a:cs typeface="Malgun Gothic"/>
                        </a:rPr>
                        <a:t>이동 속도</a:t>
                      </a:r>
                    </a:p>
                  </a:txBody>
                  <a:tcPr marL="91440" marR="91440" marT="45720" marB="45720" anchor="ctr">
                    <a:solidFill>
                      <a:srgbClr val="26374D"/>
                    </a:solidFill>
                  </a:tcPr>
                </a:tc>
                <a:tc>
                  <a:txBody>
                    <a:bodyPr lIns="123825" tIns="66675" rIns="123825" bIns="66675">
                      <a:noAutofit/>
                    </a:bodyPr>
                    <a:lstStyle/>
                    <a:p>
                      <a:r>
                        <a:rPr sz="1800" b="1">
                          <a:solidFill>
                            <a:srgbClr val="FFFFFF"/>
                          </a:solidFill>
                          <a:latin typeface="Malgun Gothic"/>
                          <a:ea typeface="Malgun Gothic"/>
                          <a:cs typeface="Malgun Gothic"/>
                        </a:rPr>
                        <a:t>접촉 피해</a:t>
                      </a:r>
                    </a:p>
                  </a:txBody>
                  <a:tcPr marL="91440" marR="91440" marT="45720" marB="45720" anchor="ctr">
                    <a:solidFill>
                      <a:srgbClr val="26374D"/>
                    </a:solidFill>
                  </a:tcPr>
                </a:tc>
                <a:tc>
                  <a:txBody>
                    <a:bodyPr lIns="123825" tIns="66675" rIns="123825" bIns="66675">
                      <a:noAutofit/>
                    </a:bodyPr>
                    <a:lstStyle/>
                    <a:p>
                      <a:r>
                        <a:rPr sz="1800" b="1">
                          <a:solidFill>
                            <a:srgbClr val="FFFFFF"/>
                          </a:solidFill>
                          <a:latin typeface="Malgun Gothic"/>
                          <a:ea typeface="Malgun Gothic"/>
                          <a:cs typeface="Malgun Gothic"/>
                        </a:rPr>
                        <a:t>처치 점수</a:t>
                      </a:r>
                    </a:p>
                  </a:txBody>
                  <a:tcPr marL="91440" marR="91440" marT="45720" marB="45720" anchor="ctr">
                    <a:solidFill>
                      <a:srgbClr val="26374D"/>
                    </a:solidFill>
                  </a:tcPr>
                </a:tc>
              </a:tr>
              <a:tr h="650875">
                <a:tc>
                  <a:txBody>
                    <a:bodyPr lIns="123825" tIns="66675" rIns="123825" bIns="66675">
                      <a:noAutofit/>
                    </a:bodyPr>
                    <a:lstStyle/>
                    <a:p>
                      <a:r>
                        <a:rPr sz="1800" b="0">
                          <a:solidFill>
                            <a:srgbClr val="26374D"/>
                          </a:solidFill>
                          <a:latin typeface="Malgun Gothic"/>
                          <a:ea typeface="Malgun Gothic"/>
                          <a:cs typeface="Malgun Gothic"/>
                        </a:rPr>
                        <a:t>기본형</a:t>
                      </a:r>
                    </a:p>
                  </a:txBody>
                  <a:tcPr marL="91440" marR="91440" marT="45720" marB="45720" anchor="ctr">
                    <a:solidFill>
                      <a:srgbClr val="E9EFF6"/>
                    </a:solidFill>
                  </a:tcPr>
                </a:tc>
                <a:tc>
                  <a:txBody>
                    <a:bodyPr lIns="123825" tIns="66675" rIns="123825" bIns="66675">
                      <a:noAutofit/>
                    </a:bodyPr>
                    <a:lstStyle/>
                    <a:p>
                      <a:r>
                        <a:rPr sz="1800" b="0">
                          <a:solidFill>
                            <a:srgbClr val="26374D"/>
                          </a:solidFill>
                          <a:latin typeface="Malgun Gothic"/>
                          <a:ea typeface="Malgun Gothic"/>
                          <a:cs typeface="Malgun Gothic"/>
                        </a:rPr>
                        <a:t>10</a:t>
                      </a:r>
                    </a:p>
                  </a:txBody>
                  <a:tcPr marL="91440" marR="91440" marT="45720" marB="45720" anchor="ctr">
                    <a:solidFill>
                      <a:srgbClr val="E9EFF6"/>
                    </a:solidFill>
                  </a:tcPr>
                </a:tc>
                <a:tc>
                  <a:txBody>
                    <a:bodyPr lIns="123825" tIns="66675" rIns="123825" bIns="66675">
                      <a:noAutofit/>
                    </a:bodyPr>
                    <a:lstStyle/>
                    <a:p>
                      <a:r>
                        <a:rPr sz="1800" b="0">
                          <a:solidFill>
                            <a:srgbClr val="26374D"/>
                          </a:solidFill>
                          <a:latin typeface="Malgun Gothic"/>
                          <a:ea typeface="Malgun Gothic"/>
                          <a:cs typeface="Malgun Gothic"/>
                        </a:rPr>
                        <a:t>65px/s</a:t>
                      </a:r>
                    </a:p>
                  </a:txBody>
                  <a:tcPr marL="91440" marR="91440" marT="45720" marB="45720" anchor="ctr">
                    <a:solidFill>
                      <a:srgbClr val="E9EFF6"/>
                    </a:solidFill>
                  </a:tcPr>
                </a:tc>
                <a:tc>
                  <a:txBody>
                    <a:bodyPr lIns="123825" tIns="66675" rIns="123825" bIns="66675">
                      <a:noAutofit/>
                    </a:bodyPr>
                    <a:lstStyle/>
                    <a:p>
                      <a:r>
                        <a:rPr sz="1800" b="0">
                          <a:solidFill>
                            <a:srgbClr val="26374D"/>
                          </a:solidFill>
                          <a:latin typeface="Malgun Gothic"/>
                          <a:ea typeface="Malgun Gothic"/>
                          <a:cs typeface="Malgun Gothic"/>
                        </a:rPr>
                        <a:t>1칸</a:t>
                      </a:r>
                    </a:p>
                  </a:txBody>
                  <a:tcPr marL="91440" marR="91440" marT="45720" marB="45720" anchor="ctr">
                    <a:solidFill>
                      <a:srgbClr val="E9EFF6"/>
                    </a:solidFill>
                  </a:tcPr>
                </a:tc>
                <a:tc>
                  <a:txBody>
                    <a:bodyPr lIns="123825" tIns="66675" rIns="123825" bIns="66675">
                      <a:noAutofit/>
                    </a:bodyPr>
                    <a:lstStyle/>
                    <a:p>
                      <a:r>
                        <a:rPr sz="1800" b="0">
                          <a:solidFill>
                            <a:srgbClr val="26374D"/>
                          </a:solidFill>
                          <a:latin typeface="Malgun Gothic"/>
                          <a:ea typeface="Malgun Gothic"/>
                          <a:cs typeface="Malgun Gothic"/>
                        </a:rPr>
                        <a:t>10점</a:t>
                      </a:r>
                    </a:p>
                  </a:txBody>
                  <a:tcPr marL="91440" marR="91440" marT="45720" marB="45720" anchor="ctr">
                    <a:solidFill>
                      <a:srgbClr val="E9EFF6"/>
                    </a:solidFill>
                  </a:tcPr>
                </a:tc>
              </a:tr>
              <a:tr h="650875">
                <a:tc>
                  <a:txBody>
                    <a:bodyPr lIns="123825" tIns="66675" rIns="123825" bIns="66675">
                      <a:noAutofit/>
                    </a:bodyPr>
                    <a:lstStyle/>
                    <a:p>
                      <a:r>
                        <a:rPr sz="1800" b="0">
                          <a:solidFill>
                            <a:srgbClr val="26374D"/>
                          </a:solidFill>
                          <a:latin typeface="Malgun Gothic"/>
                          <a:ea typeface="Malgun Gothic"/>
                          <a:cs typeface="Malgun Gothic"/>
                        </a:rPr>
                        <a:t>튼튼형</a:t>
                      </a:r>
                    </a:p>
                  </a:txBody>
                  <a:tcPr marL="91440" marR="91440" marT="45720" marB="45720" anchor="ctr">
                    <a:solidFill>
                      <a:srgbClr val="F2F5F9"/>
                    </a:solidFill>
                  </a:tcPr>
                </a:tc>
                <a:tc>
                  <a:txBody>
                    <a:bodyPr lIns="123825" tIns="66675" rIns="123825" bIns="66675">
                      <a:noAutofit/>
                    </a:bodyPr>
                    <a:lstStyle/>
                    <a:p>
                      <a:r>
                        <a:rPr sz="1800" b="0">
                          <a:solidFill>
                            <a:srgbClr val="26374D"/>
                          </a:solidFill>
                          <a:latin typeface="Malgun Gothic"/>
                          <a:ea typeface="Malgun Gothic"/>
                          <a:cs typeface="Malgun Gothic"/>
                        </a:rPr>
                        <a:t>30</a:t>
                      </a:r>
                    </a:p>
                  </a:txBody>
                  <a:tcPr marL="91440" marR="91440" marT="45720" marB="45720" anchor="ctr">
                    <a:solidFill>
                      <a:srgbClr val="F2F5F9"/>
                    </a:solidFill>
                  </a:tcPr>
                </a:tc>
                <a:tc>
                  <a:txBody>
                    <a:bodyPr lIns="123825" tIns="66675" rIns="123825" bIns="66675">
                      <a:noAutofit/>
                    </a:bodyPr>
                    <a:lstStyle/>
                    <a:p>
                      <a:r>
                        <a:rPr sz="1800" b="0">
                          <a:solidFill>
                            <a:srgbClr val="26374D"/>
                          </a:solidFill>
                          <a:latin typeface="Malgun Gothic"/>
                          <a:ea typeface="Malgun Gothic"/>
                          <a:cs typeface="Malgun Gothic"/>
                        </a:rPr>
                        <a:t>48px/s</a:t>
                      </a:r>
                    </a:p>
                  </a:txBody>
                  <a:tcPr marL="91440" marR="91440" marT="45720" marB="45720" anchor="ctr">
                    <a:solidFill>
                      <a:srgbClr val="F2F5F9"/>
                    </a:solidFill>
                  </a:tcPr>
                </a:tc>
                <a:tc>
                  <a:txBody>
                    <a:bodyPr lIns="123825" tIns="66675" rIns="123825" bIns="66675">
                      <a:noAutofit/>
                    </a:bodyPr>
                    <a:lstStyle/>
                    <a:p>
                      <a:r>
                        <a:rPr sz="1800" b="0">
                          <a:solidFill>
                            <a:srgbClr val="26374D"/>
                          </a:solidFill>
                          <a:latin typeface="Malgun Gothic"/>
                          <a:ea typeface="Malgun Gothic"/>
                          <a:cs typeface="Malgun Gothic"/>
                        </a:rPr>
                        <a:t>1칸</a:t>
                      </a:r>
                    </a:p>
                  </a:txBody>
                  <a:tcPr marL="91440" marR="91440" marT="45720" marB="45720" anchor="ctr">
                    <a:solidFill>
                      <a:srgbClr val="F2F5F9"/>
                    </a:solidFill>
                  </a:tcPr>
                </a:tc>
                <a:tc>
                  <a:txBody>
                    <a:bodyPr lIns="123825" tIns="66675" rIns="123825" bIns="66675">
                      <a:noAutofit/>
                    </a:bodyPr>
                    <a:lstStyle/>
                    <a:p>
                      <a:r>
                        <a:rPr sz="1800" b="0">
                          <a:solidFill>
                            <a:srgbClr val="26374D"/>
                          </a:solidFill>
                          <a:latin typeface="Malgun Gothic"/>
                          <a:ea typeface="Malgun Gothic"/>
                          <a:cs typeface="Malgun Gothic"/>
                        </a:rPr>
                        <a:t>30점</a:t>
                      </a:r>
                    </a:p>
                  </a:txBody>
                  <a:tcPr marL="91440" marR="91440" marT="45720" marB="45720" anchor="ctr">
                    <a:solidFill>
                      <a:srgbClr val="F2F5F9"/>
                    </a:solidFill>
                  </a:tcPr>
                </a:tc>
              </a:tr>
            </a:tbl>
          </a:graphicData>
        </a:graphic>
      </p:graphicFrame>
      <p:sp>
        <p:nvSpPr>
          <p:cNvPr id="6" name="">
            <a:extLst xmlns:a="http://schemas.openxmlformats.org/drawingml/2006/main">
              <a:ext uri="{FF2B5EF4-FFF2-40B4-BE49-F238E27FC236}">
                <a16:creationId xmlns:a16="http://schemas.microsoft.com/office/drawing/2014/main" id="{849E138B-3557-4200-A941-0A7186D321E0}"/>
              </a:ext>
            </a:extLst>
          </p:cNvPr>
          <p:cNvSpPr>
            <a:spLocks xmlns:a="http://schemas.openxmlformats.org/drawingml/2006/main" noGrp="1"/>
          </p:cNvSpPr>
          <p:nvPr/>
        </p:nvSpPr>
        <p:spPr>
          <a:xfrm xmlns:a="http://schemas.openxmlformats.org/drawingml/2006/main">
            <a:off x="609600" y="40005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6374D"/>
                </a:solidFill>
                <a:latin typeface="Malgun Gothic"/>
                <a:ea typeface="Malgun Gothic"/>
                <a:cs typeface="Malgun Gothic"/>
              </a:defRPr>
            </a:pPr>
            <a:r>
              <a:rPr sz="2025" b="1">
                <a:solidFill>
                  <a:srgbClr val="26374D"/>
                </a:solidFill>
                <a:latin typeface="Malgun Gothic"/>
                <a:ea typeface="Malgun Gothic"/>
                <a:cs typeface="Malgun Gothic"/>
              </a:rPr>
              <a:t>플레이어 피격</a:t>
            </a:r>
          </a:p>
        </p:txBody>
      </p:sp>
      <p:sp>
        <p:nvSpPr>
          <p:cNvPr id="7" name="">
            <a:extLst xmlns:a="http://schemas.openxmlformats.org/drawingml/2006/main">
              <a:ext uri="{FF2B5EF4-FFF2-40B4-BE49-F238E27FC236}">
                <a16:creationId xmlns:a16="http://schemas.microsoft.com/office/drawing/2014/main" id="{FA6C677A-C13A-4E7A-9B04-0862EF0E9D56}"/>
              </a:ext>
            </a:extLst>
          </p:cNvPr>
          <p:cNvSpPr>
            <a:spLocks xmlns:a="http://schemas.openxmlformats.org/drawingml/2006/main" noGrp="1"/>
          </p:cNvSpPr>
          <p:nvPr/>
        </p:nvSpPr>
        <p:spPr>
          <a:xfrm xmlns:a="http://schemas.openxmlformats.org/drawingml/2006/main">
            <a:off x="609600" y="4419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8778C"/>
                </a:solidFill>
                <a:latin typeface="Malgun Gothic"/>
                <a:ea typeface="Malgun Gothic"/>
                <a:cs typeface="Malgun Gothic"/>
              </a:defRPr>
            </a:pPr>
            <a:r>
              <a:rPr sz="1875" b="0">
                <a:solidFill>
                  <a:srgbClr val="68778C"/>
                </a:solidFill>
                <a:latin typeface="Malgun Gothic"/>
                <a:ea typeface="Malgun Gothic"/>
                <a:cs typeface="Malgun Gothic"/>
              </a:rPr>
              <a:t>체력 5칸, 발 주변 반지름 13px, 피격 후 1초 무적</a:t>
            </a:r>
          </a:p>
        </p:txBody>
      </p:sp>
      <p:sp>
        <p:nvSpPr>
          <p:cNvPr id="8" name="">
            <a:extLst xmlns:a="http://schemas.openxmlformats.org/drawingml/2006/main">
              <a:ext uri="{FF2B5EF4-FFF2-40B4-BE49-F238E27FC236}">
                <a16:creationId xmlns:a16="http://schemas.microsoft.com/office/drawing/2014/main" id="{3945CBD6-2F6E-4828-B42D-E6023236A7A6}"/>
              </a:ext>
            </a:extLst>
          </p:cNvPr>
          <p:cNvSpPr>
            <a:spLocks xmlns:a="http://schemas.openxmlformats.org/drawingml/2006/main" noGrp="1"/>
          </p:cNvSpPr>
          <p:nvPr/>
        </p:nvSpPr>
        <p:spPr>
          <a:xfrm xmlns:a="http://schemas.openxmlformats.org/drawingml/2006/main">
            <a:off x="619125" y="5162550"/>
            <a:ext cx="10953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8778C"/>
                </a:solidFill>
                <a:latin typeface="Malgun Gothic"/>
                <a:ea typeface="Malgun Gothic"/>
                <a:cs typeface="Malgun Gothic"/>
              </a:defRPr>
            </a:pPr>
            <a:r>
              <a:rPr sz="1875" b="0">
                <a:solidFill>
                  <a:srgbClr val="68778C"/>
                </a:solidFill>
                <a:latin typeface="Malgun Gothic"/>
                <a:ea typeface="Malgun Gothic"/>
                <a:cs typeface="Malgun Gothic"/>
              </a:rPr>
              <a:t>동시 접촉은 1칸만 감소한다. 플레이어 18px, 접촉한 적 40px를 밀어낸다.</a:t>
            </a:r>
          </a:p>
          <a:p xmlns:a="http://schemas.openxmlformats.org/drawingml/2006/main">
            <a:pPr>
              <a:defRPr sz="1875" b="0">
                <a:solidFill>
                  <a:srgbClr val="68778C"/>
                </a:solidFill>
                <a:latin typeface="Malgun Gothic"/>
                <a:ea typeface="Malgun Gothic"/>
                <a:cs typeface="Malgun Gothic"/>
              </a:defRPr>
            </a:pPr>
            <a:r>
              <a:rPr sz="1875" b="0">
                <a:solidFill>
                  <a:srgbClr val="68778C"/>
                </a:solidFill>
                <a:latin typeface="Malgun Gothic"/>
                <a:ea typeface="Malgun Gothic"/>
                <a:cs typeface="Malgun Gothic"/>
              </a:rPr>
              <a:t>적끼리는 약하게 분리한다. 죽은 적은 충돌을 제거하고 점수를 1회 지급한다.</a:t>
            </a:r>
          </a:p>
        </p:txBody>
      </p:sp>
    </p:spTree>
    <p:extLst>
      <p:ext uri="{BB962C8B-B14F-4D97-AF65-F5344CB8AC3E}">
        <p14:creationId xmlns:p14="http://schemas.microsoft.com/office/powerpoint/2010/main" val="495899645"/>
      </p:ext>
    </p:extLst>
  </p:cSld>
</p:sld>
</file>

<file path=ppt/slides/slide12.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91DBB5A-0CD6-4925-B23C-61EC1FFBF6D0}"/>
              </a:ext>
            </a:extLst>
          </p:cNvPr>
          <p:cNvSpPr>
            <a:spLocks xmlns:a="http://schemas.openxmlformats.org/drawingml/2006/main" noGrp="1"/>
          </p:cNvSpPr>
          <p:nvPr/>
        </p:nvSpPr>
        <p:spPr>
          <a:xfrm xmlns:a="http://schemas.openxmlformats.org/drawingml/2006/main">
            <a:off x="571500" y="40957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26374D"/>
                </a:solidFill>
                <a:latin typeface="Malgun Gothic"/>
                <a:ea typeface="Malgun Gothic"/>
                <a:cs typeface="Malgun Gothic"/>
              </a:defRPr>
            </a:pPr>
            <a:r>
              <a:rPr sz="3150" b="1">
                <a:solidFill>
                  <a:srgbClr val="26374D"/>
                </a:solidFill>
                <a:latin typeface="Malgun Gothic"/>
                <a:ea typeface="Malgun Gothic"/>
                <a:cs typeface="Malgun Gothic"/>
              </a:rPr>
              <a:t>무한 몬스터 생성 곡선</a:t>
            </a:r>
          </a:p>
        </p:txBody>
      </p:sp>
      <p:sp>
        <p:nvSpPr>
          <p:cNvPr id="2" name="">
            <a:extLst xmlns:a="http://schemas.openxmlformats.org/drawingml/2006/main">
              <a:ext uri="{FF2B5EF4-FFF2-40B4-BE49-F238E27FC236}">
                <a16:creationId xmlns:a16="http://schemas.microsoft.com/office/drawing/2014/main" id="{51B8C781-E23B-4DDD-9129-568D43ABD5A8}"/>
              </a:ext>
            </a:extLst>
          </p:cNvPr>
          <p:cNvSpPr>
            <a:spLocks xmlns:a="http://schemas.openxmlformats.org/drawingml/2006/main" noGrp="1"/>
          </p:cNvSpPr>
          <p:nvPr/>
        </p:nvSpPr>
        <p:spPr>
          <a:xfrm xmlns:a="http://schemas.openxmlformats.org/drawingml/2006/main">
            <a:off x="590550" y="1104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5분까지 밀도와 속도를 올리고, 이후 최종 압박을 유지한다</a:t>
            </a:r>
          </a:p>
        </p:txBody>
      </p:sp>
      <p:sp>
        <p:nvSpPr>
          <p:cNvPr id="3" name="">
            <a:extLst xmlns:a="http://schemas.openxmlformats.org/drawingml/2006/main">
              <a:ext uri="{FF2B5EF4-FFF2-40B4-BE49-F238E27FC236}">
                <a16:creationId xmlns:a16="http://schemas.microsoft.com/office/drawing/2014/main" id="{C7B60F1E-84A7-47F0-B52A-317CA3604656}"/>
              </a:ext>
            </a:extLst>
          </p:cNvPr>
          <p:cNvSpPr>
            <a:spLocks xmlns:a="http://schemas.openxmlformats.org/drawingml/2006/main" noGrp="1"/>
          </p:cNvSpPr>
          <p:nvPr/>
        </p:nvSpPr>
        <p:spPr>
          <a:xfrm xmlns:a="http://schemas.openxmlformats.org/drawingml/2006/main">
            <a:off x="590550" y="6496050"/>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68778C"/>
                </a:solidFill>
                <a:latin typeface="Malgun Gothic"/>
                <a:ea typeface="Malgun Gothic"/>
                <a:cs typeface="Malgun Gothic"/>
              </a:defRPr>
            </a:pPr>
            <a:r>
              <a:rPr sz="975" b="0">
                <a:solidFill>
                  <a:srgbClr val="68778C"/>
                </a:solidFill>
                <a:latin typeface="Malgun Gothic"/>
                <a:ea typeface="Malgun Gothic"/>
                <a:cs typeface="Malgun Gothic"/>
              </a:rPr>
              <a:t>동물 힐링 서바이벌 / 프로토타입 개발 기획 v0.2</a:t>
            </a:r>
          </a:p>
        </p:txBody>
      </p:sp>
      <p:sp>
        <p:nvSpPr>
          <p:cNvPr id="4" name="">
            <a:extLst xmlns:a="http://schemas.openxmlformats.org/drawingml/2006/main">
              <a:ext uri="{FF2B5EF4-FFF2-40B4-BE49-F238E27FC236}">
                <a16:creationId xmlns:a16="http://schemas.microsoft.com/office/drawing/2014/main" id="{A38F0ADD-285C-4DB6-9E85-3AF8B8800B9C}"/>
              </a:ext>
            </a:extLst>
          </p:cNvPr>
          <p:cNvSpPr>
            <a:spLocks xmlns:a="http://schemas.openxmlformats.org/drawingml/2006/main" noGrp="1"/>
          </p:cNvSpPr>
          <p:nvPr/>
        </p:nvSpPr>
        <p:spPr>
          <a:xfrm xmlns:a="http://schemas.openxmlformats.org/drawingml/2006/main">
            <a:off x="11096625" y="64770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8778C"/>
                </a:solidFill>
                <a:latin typeface="Malgun Gothic"/>
                <a:ea typeface="Malgun Gothic"/>
                <a:cs typeface="Malgun Gothic"/>
              </a:defRPr>
            </a:pPr>
            <a:r>
              <a:rPr sz="1125" b="0">
                <a:solidFill>
                  <a:srgbClr val="68778C"/>
                </a:solidFill>
                <a:latin typeface="Malgun Gothic"/>
                <a:ea typeface="Malgun Gothic"/>
                <a:cs typeface="Malgun Gothic"/>
              </a:rPr>
              <a:t>12</a:t>
            </a:r>
          </a:p>
        </p:txBody>
      </p:sp>
      <p:graphicFrame>
        <p:nvGraphicFramePr>
          <p:cNvPr id="11" name=""/>
          <p:cNvGraphicFramePr/>
          <p:nvPr/>
        </p:nvGraphicFramePr>
        <p:xfrm>
          <a:off xmlns:a="http://schemas.openxmlformats.org/drawingml/2006/main" x="590550" y="1762125"/>
          <a:ext xmlns:a="http://schemas.openxmlformats.org/drawingml/2006/main" cx="11010900" cy="3905250"/>
        </p:xfrm>
        <a:graphic xmlns:a="http://schemas.openxmlformats.org/drawingml/2006/main">
          <a:graphicData uri="http://schemas.openxmlformats.org/drawingml/2006/table">
            <a:tbl>
              <a:tblPr/>
              <a:tblGrid>
                <a:gridCol w="3162300"/>
                <a:gridCol w="2743200"/>
                <a:gridCol w="2552700"/>
                <a:gridCol w="2552700"/>
              </a:tblGrid>
              <a:tr h="557893">
                <a:tc>
                  <a:txBody>
                    <a:bodyPr lIns="123825" tIns="66675" rIns="123825" bIns="66675">
                      <a:noAutofit/>
                    </a:bodyPr>
                    <a:lstStyle/>
                    <a:p>
                      <a:r>
                        <a:rPr sz="1800" b="1">
                          <a:solidFill>
                            <a:srgbClr val="FFFFFF"/>
                          </a:solidFill>
                          <a:latin typeface="Malgun Gothic"/>
                          <a:ea typeface="Malgun Gothic"/>
                          <a:cs typeface="Malgun Gothic"/>
                        </a:rPr>
                        <a:t>생존 시간</a:t>
                      </a:r>
                    </a:p>
                  </a:txBody>
                  <a:tcPr marL="91440" marR="91440" marT="45720" marB="45720" anchor="ctr">
                    <a:solidFill>
                      <a:srgbClr val="26374D"/>
                    </a:solidFill>
                  </a:tcPr>
                </a:tc>
                <a:tc>
                  <a:txBody>
                    <a:bodyPr lIns="123825" tIns="66675" rIns="123825" bIns="66675">
                      <a:noAutofit/>
                    </a:bodyPr>
                    <a:lstStyle/>
                    <a:p>
                      <a:r>
                        <a:rPr sz="1800" b="1">
                          <a:solidFill>
                            <a:srgbClr val="FFFFFF"/>
                          </a:solidFill>
                          <a:latin typeface="Malgun Gothic"/>
                          <a:ea typeface="Malgun Gothic"/>
                          <a:cs typeface="Malgun Gothic"/>
                        </a:rPr>
                        <a:t>초당 생성 수</a:t>
                      </a:r>
                    </a:p>
                  </a:txBody>
                  <a:tcPr marL="91440" marR="91440" marT="45720" marB="45720" anchor="ctr">
                    <a:solidFill>
                      <a:srgbClr val="26374D"/>
                    </a:solidFill>
                  </a:tcPr>
                </a:tc>
                <a:tc>
                  <a:txBody>
                    <a:bodyPr lIns="123825" tIns="66675" rIns="123825" bIns="66675">
                      <a:noAutofit/>
                    </a:bodyPr>
                    <a:lstStyle/>
                    <a:p>
                      <a:r>
                        <a:rPr sz="1800" b="1">
                          <a:solidFill>
                            <a:srgbClr val="FFFFFF"/>
                          </a:solidFill>
                          <a:latin typeface="Malgun Gothic"/>
                          <a:ea typeface="Malgun Gothic"/>
                          <a:cs typeface="Malgun Gothic"/>
                        </a:rPr>
                        <a:t>튼튼형 비율</a:t>
                      </a:r>
                    </a:p>
                  </a:txBody>
                  <a:tcPr marL="91440" marR="91440" marT="45720" marB="45720" anchor="ctr">
                    <a:solidFill>
                      <a:srgbClr val="26374D"/>
                    </a:solidFill>
                  </a:tcPr>
                </a:tc>
                <a:tc>
                  <a:txBody>
                    <a:bodyPr lIns="123825" tIns="66675" rIns="123825" bIns="66675">
                      <a:noAutofit/>
                    </a:bodyPr>
                    <a:lstStyle/>
                    <a:p>
                      <a:r>
                        <a:rPr sz="1800" b="1">
                          <a:solidFill>
                            <a:srgbClr val="FFFFFF"/>
                          </a:solidFill>
                          <a:latin typeface="Malgun Gothic"/>
                          <a:ea typeface="Malgun Gothic"/>
                          <a:cs typeface="Malgun Gothic"/>
                        </a:rPr>
                        <a:t>속도 배율</a:t>
                      </a:r>
                    </a:p>
                  </a:txBody>
                  <a:tcPr marL="91440" marR="91440" marT="45720" marB="45720" anchor="ctr">
                    <a:solidFill>
                      <a:srgbClr val="26374D"/>
                    </a:solidFill>
                  </a:tcPr>
                </a:tc>
              </a:tr>
              <a:tr h="557893">
                <a:tc>
                  <a:txBody>
                    <a:bodyPr lIns="123825" tIns="66675" rIns="123825" bIns="66675">
                      <a:noAutofit/>
                    </a:bodyPr>
                    <a:lstStyle/>
                    <a:p>
                      <a:r>
                        <a:rPr sz="1800" b="0">
                          <a:solidFill>
                            <a:srgbClr val="26374D"/>
                          </a:solidFill>
                          <a:latin typeface="Malgun Gothic"/>
                          <a:ea typeface="Malgun Gothic"/>
                          <a:cs typeface="Malgun Gothic"/>
                        </a:rPr>
                        <a:t>0~30초</a:t>
                      </a:r>
                    </a:p>
                  </a:txBody>
                  <a:tcPr marL="91440" marR="91440" marT="45720" marB="45720" anchor="ctr">
                    <a:solidFill>
                      <a:srgbClr val="E9EFF6"/>
                    </a:solidFill>
                  </a:tcPr>
                </a:tc>
                <a:tc>
                  <a:txBody>
                    <a:bodyPr lIns="123825" tIns="66675" rIns="123825" bIns="66675">
                      <a:noAutofit/>
                    </a:bodyPr>
                    <a:lstStyle/>
                    <a:p>
                      <a:r>
                        <a:rPr sz="1800" b="0">
                          <a:solidFill>
                            <a:srgbClr val="26374D"/>
                          </a:solidFill>
                          <a:latin typeface="Malgun Gothic"/>
                          <a:ea typeface="Malgun Gothic"/>
                          <a:cs typeface="Malgun Gothic"/>
                        </a:rPr>
                        <a:t>0.8</a:t>
                      </a:r>
                    </a:p>
                  </a:txBody>
                  <a:tcPr marL="91440" marR="91440" marT="45720" marB="45720" anchor="ctr">
                    <a:solidFill>
                      <a:srgbClr val="E9EFF6"/>
                    </a:solidFill>
                  </a:tcPr>
                </a:tc>
                <a:tc>
                  <a:txBody>
                    <a:bodyPr lIns="123825" tIns="66675" rIns="123825" bIns="66675">
                      <a:noAutofit/>
                    </a:bodyPr>
                    <a:lstStyle/>
                    <a:p>
                      <a:r>
                        <a:rPr sz="1800" b="0">
                          <a:solidFill>
                            <a:srgbClr val="26374D"/>
                          </a:solidFill>
                          <a:latin typeface="Malgun Gothic"/>
                          <a:ea typeface="Malgun Gothic"/>
                          <a:cs typeface="Malgun Gothic"/>
                        </a:rPr>
                        <a:t>0%</a:t>
                      </a:r>
                    </a:p>
                  </a:txBody>
                  <a:tcPr marL="91440" marR="91440" marT="45720" marB="45720" anchor="ctr">
                    <a:solidFill>
                      <a:srgbClr val="E9EFF6"/>
                    </a:solidFill>
                  </a:tcPr>
                </a:tc>
                <a:tc>
                  <a:txBody>
                    <a:bodyPr lIns="123825" tIns="66675" rIns="123825" bIns="66675">
                      <a:noAutofit/>
                    </a:bodyPr>
                    <a:lstStyle/>
                    <a:p>
                      <a:r>
                        <a:rPr sz="1800" b="0">
                          <a:solidFill>
                            <a:srgbClr val="26374D"/>
                          </a:solidFill>
                          <a:latin typeface="Malgun Gothic"/>
                          <a:ea typeface="Malgun Gothic"/>
                          <a:cs typeface="Malgun Gothic"/>
                        </a:rPr>
                        <a:t>1.00</a:t>
                      </a:r>
                    </a:p>
                  </a:txBody>
                  <a:tcPr marL="91440" marR="91440" marT="45720" marB="45720" anchor="ctr">
                    <a:solidFill>
                      <a:srgbClr val="E9EFF6"/>
                    </a:solidFill>
                  </a:tcPr>
                </a:tc>
              </a:tr>
              <a:tr h="557893">
                <a:tc>
                  <a:txBody>
                    <a:bodyPr lIns="123825" tIns="66675" rIns="123825" bIns="66675">
                      <a:noAutofit/>
                    </a:bodyPr>
                    <a:lstStyle/>
                    <a:p>
                      <a:r>
                        <a:rPr sz="1800" b="0">
                          <a:solidFill>
                            <a:srgbClr val="26374D"/>
                          </a:solidFill>
                          <a:latin typeface="Malgun Gothic"/>
                          <a:ea typeface="Malgun Gothic"/>
                          <a:cs typeface="Malgun Gothic"/>
                        </a:rPr>
                        <a:t>30~60초</a:t>
                      </a:r>
                    </a:p>
                  </a:txBody>
                  <a:tcPr marL="91440" marR="91440" marT="45720" marB="45720" anchor="ctr">
                    <a:solidFill>
                      <a:srgbClr val="F2F5F9"/>
                    </a:solidFill>
                  </a:tcPr>
                </a:tc>
                <a:tc>
                  <a:txBody>
                    <a:bodyPr lIns="123825" tIns="66675" rIns="123825" bIns="66675">
                      <a:noAutofit/>
                    </a:bodyPr>
                    <a:lstStyle/>
                    <a:p>
                      <a:r>
                        <a:rPr sz="1800" b="0">
                          <a:solidFill>
                            <a:srgbClr val="26374D"/>
                          </a:solidFill>
                          <a:latin typeface="Malgun Gothic"/>
                          <a:ea typeface="Malgun Gothic"/>
                          <a:cs typeface="Malgun Gothic"/>
                        </a:rPr>
                        <a:t>1.2</a:t>
                      </a:r>
                    </a:p>
                  </a:txBody>
                  <a:tcPr marL="91440" marR="91440" marT="45720" marB="45720" anchor="ctr">
                    <a:solidFill>
                      <a:srgbClr val="F2F5F9"/>
                    </a:solidFill>
                  </a:tcPr>
                </a:tc>
                <a:tc>
                  <a:txBody>
                    <a:bodyPr lIns="123825" tIns="66675" rIns="123825" bIns="66675">
                      <a:noAutofit/>
                    </a:bodyPr>
                    <a:lstStyle/>
                    <a:p>
                      <a:r>
                        <a:rPr sz="1800" b="0">
                          <a:solidFill>
                            <a:srgbClr val="26374D"/>
                          </a:solidFill>
                          <a:latin typeface="Malgun Gothic"/>
                          <a:ea typeface="Malgun Gothic"/>
                          <a:cs typeface="Malgun Gothic"/>
                        </a:rPr>
                        <a:t>0%</a:t>
                      </a:r>
                    </a:p>
                  </a:txBody>
                  <a:tcPr marL="91440" marR="91440" marT="45720" marB="45720" anchor="ctr">
                    <a:solidFill>
                      <a:srgbClr val="F2F5F9"/>
                    </a:solidFill>
                  </a:tcPr>
                </a:tc>
                <a:tc>
                  <a:txBody>
                    <a:bodyPr lIns="123825" tIns="66675" rIns="123825" bIns="66675">
                      <a:noAutofit/>
                    </a:bodyPr>
                    <a:lstStyle/>
                    <a:p>
                      <a:r>
                        <a:rPr sz="1800" b="0">
                          <a:solidFill>
                            <a:srgbClr val="26374D"/>
                          </a:solidFill>
                          <a:latin typeface="Malgun Gothic"/>
                          <a:ea typeface="Malgun Gothic"/>
                          <a:cs typeface="Malgun Gothic"/>
                        </a:rPr>
                        <a:t>1.05</a:t>
                      </a:r>
                    </a:p>
                  </a:txBody>
                  <a:tcPr marL="91440" marR="91440" marT="45720" marB="45720" anchor="ctr">
                    <a:solidFill>
                      <a:srgbClr val="F2F5F9"/>
                    </a:solidFill>
                  </a:tcPr>
                </a:tc>
              </a:tr>
              <a:tr h="557893">
                <a:tc>
                  <a:txBody>
                    <a:bodyPr lIns="123825" tIns="66675" rIns="123825" bIns="66675">
                      <a:noAutofit/>
                    </a:bodyPr>
                    <a:lstStyle/>
                    <a:p>
                      <a:r>
                        <a:rPr sz="1800" b="0">
                          <a:solidFill>
                            <a:srgbClr val="26374D"/>
                          </a:solidFill>
                          <a:latin typeface="Malgun Gothic"/>
                          <a:ea typeface="Malgun Gothic"/>
                          <a:cs typeface="Malgun Gothic"/>
                        </a:rPr>
                        <a:t>60~120초</a:t>
                      </a:r>
                    </a:p>
                  </a:txBody>
                  <a:tcPr marL="91440" marR="91440" marT="45720" marB="45720" anchor="ctr">
                    <a:solidFill>
                      <a:srgbClr val="E9EFF6"/>
                    </a:solidFill>
                  </a:tcPr>
                </a:tc>
                <a:tc>
                  <a:txBody>
                    <a:bodyPr lIns="123825" tIns="66675" rIns="123825" bIns="66675">
                      <a:noAutofit/>
                    </a:bodyPr>
                    <a:lstStyle/>
                    <a:p>
                      <a:r>
                        <a:rPr sz="1800" b="0">
                          <a:solidFill>
                            <a:srgbClr val="26374D"/>
                          </a:solidFill>
                          <a:latin typeface="Malgun Gothic"/>
                          <a:ea typeface="Malgun Gothic"/>
                          <a:cs typeface="Malgun Gothic"/>
                        </a:rPr>
                        <a:t>1.8</a:t>
                      </a:r>
                    </a:p>
                  </a:txBody>
                  <a:tcPr marL="91440" marR="91440" marT="45720" marB="45720" anchor="ctr">
                    <a:solidFill>
                      <a:srgbClr val="E9EFF6"/>
                    </a:solidFill>
                  </a:tcPr>
                </a:tc>
                <a:tc>
                  <a:txBody>
                    <a:bodyPr lIns="123825" tIns="66675" rIns="123825" bIns="66675">
                      <a:noAutofit/>
                    </a:bodyPr>
                    <a:lstStyle/>
                    <a:p>
                      <a:r>
                        <a:rPr sz="1800" b="0">
                          <a:solidFill>
                            <a:srgbClr val="26374D"/>
                          </a:solidFill>
                          <a:latin typeface="Malgun Gothic"/>
                          <a:ea typeface="Malgun Gothic"/>
                          <a:cs typeface="Malgun Gothic"/>
                        </a:rPr>
                        <a:t>10%</a:t>
                      </a:r>
                    </a:p>
                  </a:txBody>
                  <a:tcPr marL="91440" marR="91440" marT="45720" marB="45720" anchor="ctr">
                    <a:solidFill>
                      <a:srgbClr val="E9EFF6"/>
                    </a:solidFill>
                  </a:tcPr>
                </a:tc>
                <a:tc>
                  <a:txBody>
                    <a:bodyPr lIns="123825" tIns="66675" rIns="123825" bIns="66675">
                      <a:noAutofit/>
                    </a:bodyPr>
                    <a:lstStyle/>
                    <a:p>
                      <a:r>
                        <a:rPr sz="1800" b="0">
                          <a:solidFill>
                            <a:srgbClr val="26374D"/>
                          </a:solidFill>
                          <a:latin typeface="Malgun Gothic"/>
                          <a:ea typeface="Malgun Gothic"/>
                          <a:cs typeface="Malgun Gothic"/>
                        </a:rPr>
                        <a:t>1.10</a:t>
                      </a:r>
                    </a:p>
                  </a:txBody>
                  <a:tcPr marL="91440" marR="91440" marT="45720" marB="45720" anchor="ctr">
                    <a:solidFill>
                      <a:srgbClr val="E9EFF6"/>
                    </a:solidFill>
                  </a:tcPr>
                </a:tc>
              </a:tr>
              <a:tr h="557893">
                <a:tc>
                  <a:txBody>
                    <a:bodyPr lIns="123825" tIns="66675" rIns="123825" bIns="66675">
                      <a:noAutofit/>
                    </a:bodyPr>
                    <a:lstStyle/>
                    <a:p>
                      <a:r>
                        <a:rPr sz="1800" b="0">
                          <a:solidFill>
                            <a:srgbClr val="26374D"/>
                          </a:solidFill>
                          <a:latin typeface="Malgun Gothic"/>
                          <a:ea typeface="Malgun Gothic"/>
                          <a:cs typeface="Malgun Gothic"/>
                        </a:rPr>
                        <a:t>120~180초</a:t>
                      </a:r>
                    </a:p>
                  </a:txBody>
                  <a:tcPr marL="91440" marR="91440" marT="45720" marB="45720" anchor="ctr">
                    <a:solidFill>
                      <a:srgbClr val="F2F5F9"/>
                    </a:solidFill>
                  </a:tcPr>
                </a:tc>
                <a:tc>
                  <a:txBody>
                    <a:bodyPr lIns="123825" tIns="66675" rIns="123825" bIns="66675">
                      <a:noAutofit/>
                    </a:bodyPr>
                    <a:lstStyle/>
                    <a:p>
                      <a:r>
                        <a:rPr sz="1800" b="0">
                          <a:solidFill>
                            <a:srgbClr val="26374D"/>
                          </a:solidFill>
                          <a:latin typeface="Malgun Gothic"/>
                          <a:ea typeface="Malgun Gothic"/>
                          <a:cs typeface="Malgun Gothic"/>
                        </a:rPr>
                        <a:t>2.4</a:t>
                      </a:r>
                    </a:p>
                  </a:txBody>
                  <a:tcPr marL="91440" marR="91440" marT="45720" marB="45720" anchor="ctr">
                    <a:solidFill>
                      <a:srgbClr val="F2F5F9"/>
                    </a:solidFill>
                  </a:tcPr>
                </a:tc>
                <a:tc>
                  <a:txBody>
                    <a:bodyPr lIns="123825" tIns="66675" rIns="123825" bIns="66675">
                      <a:noAutofit/>
                    </a:bodyPr>
                    <a:lstStyle/>
                    <a:p>
                      <a:r>
                        <a:rPr sz="1800" b="0">
                          <a:solidFill>
                            <a:srgbClr val="26374D"/>
                          </a:solidFill>
                          <a:latin typeface="Malgun Gothic"/>
                          <a:ea typeface="Malgun Gothic"/>
                          <a:cs typeface="Malgun Gothic"/>
                        </a:rPr>
                        <a:t>15%</a:t>
                      </a:r>
                    </a:p>
                  </a:txBody>
                  <a:tcPr marL="91440" marR="91440" marT="45720" marB="45720" anchor="ctr">
                    <a:solidFill>
                      <a:srgbClr val="F2F5F9"/>
                    </a:solidFill>
                  </a:tcPr>
                </a:tc>
                <a:tc>
                  <a:txBody>
                    <a:bodyPr lIns="123825" tIns="66675" rIns="123825" bIns="66675">
                      <a:noAutofit/>
                    </a:bodyPr>
                    <a:lstStyle/>
                    <a:p>
                      <a:r>
                        <a:rPr sz="1800" b="0">
                          <a:solidFill>
                            <a:srgbClr val="26374D"/>
                          </a:solidFill>
                          <a:latin typeface="Malgun Gothic"/>
                          <a:ea typeface="Malgun Gothic"/>
                          <a:cs typeface="Malgun Gothic"/>
                        </a:rPr>
                        <a:t>1.15</a:t>
                      </a:r>
                    </a:p>
                  </a:txBody>
                  <a:tcPr marL="91440" marR="91440" marT="45720" marB="45720" anchor="ctr">
                    <a:solidFill>
                      <a:srgbClr val="F2F5F9"/>
                    </a:solidFill>
                  </a:tcPr>
                </a:tc>
              </a:tr>
              <a:tr h="557893">
                <a:tc>
                  <a:txBody>
                    <a:bodyPr lIns="123825" tIns="66675" rIns="123825" bIns="66675">
                      <a:noAutofit/>
                    </a:bodyPr>
                    <a:lstStyle/>
                    <a:p>
                      <a:r>
                        <a:rPr sz="1800" b="0">
                          <a:solidFill>
                            <a:srgbClr val="26374D"/>
                          </a:solidFill>
                          <a:latin typeface="Malgun Gothic"/>
                          <a:ea typeface="Malgun Gothic"/>
                          <a:cs typeface="Malgun Gothic"/>
                        </a:rPr>
                        <a:t>180~300초</a:t>
                      </a:r>
                    </a:p>
                  </a:txBody>
                  <a:tcPr marL="91440" marR="91440" marT="45720" marB="45720" anchor="ctr">
                    <a:solidFill>
                      <a:srgbClr val="E9EFF6"/>
                    </a:solidFill>
                  </a:tcPr>
                </a:tc>
                <a:tc>
                  <a:txBody>
                    <a:bodyPr lIns="123825" tIns="66675" rIns="123825" bIns="66675">
                      <a:noAutofit/>
                    </a:bodyPr>
                    <a:lstStyle/>
                    <a:p>
                      <a:r>
                        <a:rPr sz="1800" b="0">
                          <a:solidFill>
                            <a:srgbClr val="26374D"/>
                          </a:solidFill>
                          <a:latin typeface="Malgun Gothic"/>
                          <a:ea typeface="Malgun Gothic"/>
                          <a:cs typeface="Malgun Gothic"/>
                        </a:rPr>
                        <a:t>3.0</a:t>
                      </a:r>
                    </a:p>
                  </a:txBody>
                  <a:tcPr marL="91440" marR="91440" marT="45720" marB="45720" anchor="ctr">
                    <a:solidFill>
                      <a:srgbClr val="E9EFF6"/>
                    </a:solidFill>
                  </a:tcPr>
                </a:tc>
                <a:tc>
                  <a:txBody>
                    <a:bodyPr lIns="123825" tIns="66675" rIns="123825" bIns="66675">
                      <a:noAutofit/>
                    </a:bodyPr>
                    <a:lstStyle/>
                    <a:p>
                      <a:r>
                        <a:rPr sz="1800" b="0">
                          <a:solidFill>
                            <a:srgbClr val="26374D"/>
                          </a:solidFill>
                          <a:latin typeface="Malgun Gothic"/>
                          <a:ea typeface="Malgun Gothic"/>
                          <a:cs typeface="Malgun Gothic"/>
                        </a:rPr>
                        <a:t>20%</a:t>
                      </a:r>
                    </a:p>
                  </a:txBody>
                  <a:tcPr marL="91440" marR="91440" marT="45720" marB="45720" anchor="ctr">
                    <a:solidFill>
                      <a:srgbClr val="E9EFF6"/>
                    </a:solidFill>
                  </a:tcPr>
                </a:tc>
                <a:tc>
                  <a:txBody>
                    <a:bodyPr lIns="123825" tIns="66675" rIns="123825" bIns="66675">
                      <a:noAutofit/>
                    </a:bodyPr>
                    <a:lstStyle/>
                    <a:p>
                      <a:r>
                        <a:rPr sz="1800" b="0">
                          <a:solidFill>
                            <a:srgbClr val="26374D"/>
                          </a:solidFill>
                          <a:latin typeface="Malgun Gothic"/>
                          <a:ea typeface="Malgun Gothic"/>
                          <a:cs typeface="Malgun Gothic"/>
                        </a:rPr>
                        <a:t>1.20</a:t>
                      </a:r>
                    </a:p>
                  </a:txBody>
                  <a:tcPr marL="91440" marR="91440" marT="45720" marB="45720" anchor="ctr">
                    <a:solidFill>
                      <a:srgbClr val="E9EFF6"/>
                    </a:solidFill>
                  </a:tcPr>
                </a:tc>
              </a:tr>
              <a:tr h="557893">
                <a:tc>
                  <a:txBody>
                    <a:bodyPr lIns="123825" tIns="66675" rIns="123825" bIns="66675">
                      <a:noAutofit/>
                    </a:bodyPr>
                    <a:lstStyle/>
                    <a:p>
                      <a:r>
                        <a:rPr sz="1800" b="0">
                          <a:solidFill>
                            <a:srgbClr val="26374D"/>
                          </a:solidFill>
                          <a:latin typeface="Malgun Gothic"/>
                          <a:ea typeface="Malgun Gothic"/>
                          <a:cs typeface="Malgun Gothic"/>
                        </a:rPr>
                        <a:t>300초 이후</a:t>
                      </a:r>
                    </a:p>
                  </a:txBody>
                  <a:tcPr marL="91440" marR="91440" marT="45720" marB="45720" anchor="ctr">
                    <a:solidFill>
                      <a:srgbClr val="F2F5F9"/>
                    </a:solidFill>
                  </a:tcPr>
                </a:tc>
                <a:tc>
                  <a:txBody>
                    <a:bodyPr lIns="123825" tIns="66675" rIns="123825" bIns="66675">
                      <a:noAutofit/>
                    </a:bodyPr>
                    <a:lstStyle/>
                    <a:p>
                      <a:r>
                        <a:rPr sz="1800" b="0">
                          <a:solidFill>
                            <a:srgbClr val="26374D"/>
                          </a:solidFill>
                          <a:latin typeface="Malgun Gothic"/>
                          <a:ea typeface="Malgun Gothic"/>
                          <a:cs typeface="Malgun Gothic"/>
                        </a:rPr>
                        <a:t>3.6</a:t>
                      </a:r>
                    </a:p>
                  </a:txBody>
                  <a:tcPr marL="91440" marR="91440" marT="45720" marB="45720" anchor="ctr">
                    <a:solidFill>
                      <a:srgbClr val="F2F5F9"/>
                    </a:solidFill>
                  </a:tcPr>
                </a:tc>
                <a:tc>
                  <a:txBody>
                    <a:bodyPr lIns="123825" tIns="66675" rIns="123825" bIns="66675">
                      <a:noAutofit/>
                    </a:bodyPr>
                    <a:lstStyle/>
                    <a:p>
                      <a:r>
                        <a:rPr sz="1800" b="0">
                          <a:solidFill>
                            <a:srgbClr val="26374D"/>
                          </a:solidFill>
                          <a:latin typeface="Malgun Gothic"/>
                          <a:ea typeface="Malgun Gothic"/>
                          <a:cs typeface="Malgun Gothic"/>
                        </a:rPr>
                        <a:t>25%</a:t>
                      </a:r>
                    </a:p>
                  </a:txBody>
                  <a:tcPr marL="91440" marR="91440" marT="45720" marB="45720" anchor="ctr">
                    <a:solidFill>
                      <a:srgbClr val="F2F5F9"/>
                    </a:solidFill>
                  </a:tcPr>
                </a:tc>
                <a:tc>
                  <a:txBody>
                    <a:bodyPr lIns="123825" tIns="66675" rIns="123825" bIns="66675">
                      <a:noAutofit/>
                    </a:bodyPr>
                    <a:lstStyle/>
                    <a:p>
                      <a:r>
                        <a:rPr sz="1800" b="0">
                          <a:solidFill>
                            <a:srgbClr val="26374D"/>
                          </a:solidFill>
                          <a:latin typeface="Malgun Gothic"/>
                          <a:ea typeface="Malgun Gothic"/>
                          <a:cs typeface="Malgun Gothic"/>
                        </a:rPr>
                        <a:t>1.25</a:t>
                      </a:r>
                    </a:p>
                  </a:txBody>
                  <a:tcPr marL="91440" marR="91440" marT="45720" marB="45720" anchor="ctr">
                    <a:solidFill>
                      <a:srgbClr val="F2F5F9"/>
                    </a:solidFill>
                  </a:tcPr>
                </a:tc>
              </a:tr>
            </a:tbl>
          </a:graphicData>
        </a:graphic>
      </p:graphicFrame>
      <p:sp>
        <p:nvSpPr>
          <p:cNvPr id="6" name="">
            <a:extLst xmlns:a="http://schemas.openxmlformats.org/drawingml/2006/main">
              <a:ext uri="{FF2B5EF4-FFF2-40B4-BE49-F238E27FC236}">
                <a16:creationId xmlns:a16="http://schemas.microsoft.com/office/drawing/2014/main" id="{EED66D37-9391-4E72-B1CD-A782A7E6551E}"/>
              </a:ext>
            </a:extLst>
          </p:cNvPr>
          <p:cNvSpPr>
            <a:spLocks xmlns:a="http://schemas.openxmlformats.org/drawingml/2006/main" noGrp="1"/>
          </p:cNvSpPr>
          <p:nvPr/>
        </p:nvSpPr>
        <p:spPr>
          <a:xfrm xmlns:a="http://schemas.openxmlformats.org/drawingml/2006/main">
            <a:off x="609600" y="58578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7FA7"/>
                </a:solidFill>
                <a:latin typeface="Malgun Gothic"/>
                <a:ea typeface="Malgun Gothic"/>
                <a:cs typeface="Malgun Gothic"/>
              </a:defRPr>
            </a:pPr>
            <a:r>
              <a:rPr sz="1650" b="1">
                <a:solidFill>
                  <a:srgbClr val="617FA7"/>
                </a:solidFill>
                <a:latin typeface="Malgun Gothic"/>
                <a:ea typeface="Malgun Gothic"/>
                <a:cs typeface="Malgun Gothic"/>
              </a:rPr>
              <a:t>동시 적 최대 100마리. 적 체력·점수·접촉 피해는 시간에 따라 증가하지 않는다.</a:t>
            </a:r>
          </a:p>
        </p:txBody>
      </p:sp>
    </p:spTree>
    <p:extLst>
      <p:ext uri="{BB962C8B-B14F-4D97-AF65-F5344CB8AC3E}">
        <p14:creationId xmlns:p14="http://schemas.microsoft.com/office/powerpoint/2010/main" val="1572683906"/>
      </p:ext>
    </p:extLst>
  </p:cSld>
</p:sld>
</file>

<file path=ppt/slides/slide13.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D448EAC-785F-4B64-B32A-94BFB5568170}"/>
              </a:ext>
            </a:extLst>
          </p:cNvPr>
          <p:cNvSpPr>
            <a:spLocks xmlns:a="http://schemas.openxmlformats.org/drawingml/2006/main" noGrp="1"/>
          </p:cNvSpPr>
          <p:nvPr/>
        </p:nvSpPr>
        <p:spPr>
          <a:xfrm xmlns:a="http://schemas.openxmlformats.org/drawingml/2006/main">
            <a:off x="571500" y="40957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26374D"/>
                </a:solidFill>
                <a:latin typeface="Malgun Gothic"/>
                <a:ea typeface="Malgun Gothic"/>
                <a:cs typeface="Malgun Gothic"/>
              </a:defRPr>
            </a:pPr>
            <a:r>
              <a:rPr sz="3150" b="1">
                <a:solidFill>
                  <a:srgbClr val="26374D"/>
                </a:solidFill>
                <a:latin typeface="Malgun Gothic"/>
                <a:ea typeface="Malgun Gothic"/>
                <a:cs typeface="Malgun Gothic"/>
              </a:rPr>
              <a:t>생성 위치와 안전 규칙</a:t>
            </a:r>
          </a:p>
        </p:txBody>
      </p:sp>
      <p:sp>
        <p:nvSpPr>
          <p:cNvPr id="2" name="">
            <a:extLst xmlns:a="http://schemas.openxmlformats.org/drawingml/2006/main">
              <a:ext uri="{FF2B5EF4-FFF2-40B4-BE49-F238E27FC236}">
                <a16:creationId xmlns:a16="http://schemas.microsoft.com/office/drawing/2014/main" id="{E27FD9E8-2E5D-4073-B427-5E88106ED92D}"/>
              </a:ext>
            </a:extLst>
          </p:cNvPr>
          <p:cNvSpPr>
            <a:spLocks xmlns:a="http://schemas.openxmlformats.org/drawingml/2006/main" noGrp="1"/>
          </p:cNvSpPr>
          <p:nvPr/>
        </p:nvSpPr>
        <p:spPr>
          <a:xfrm xmlns:a="http://schemas.openxmlformats.org/drawingml/2006/main">
            <a:off x="590550" y="1104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갑작스러운 피격과 생성 폭주를 막는 조건을 함께 구현한다</a:t>
            </a:r>
          </a:p>
        </p:txBody>
      </p:sp>
      <p:sp>
        <p:nvSpPr>
          <p:cNvPr id="3" name="">
            <a:extLst xmlns:a="http://schemas.openxmlformats.org/drawingml/2006/main">
              <a:ext uri="{FF2B5EF4-FFF2-40B4-BE49-F238E27FC236}">
                <a16:creationId xmlns:a16="http://schemas.microsoft.com/office/drawing/2014/main" id="{2EA67C11-4382-4269-9578-A86B3FB5868E}"/>
              </a:ext>
            </a:extLst>
          </p:cNvPr>
          <p:cNvSpPr>
            <a:spLocks xmlns:a="http://schemas.openxmlformats.org/drawingml/2006/main" noGrp="1"/>
          </p:cNvSpPr>
          <p:nvPr/>
        </p:nvSpPr>
        <p:spPr>
          <a:xfrm xmlns:a="http://schemas.openxmlformats.org/drawingml/2006/main">
            <a:off x="590550" y="6496050"/>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68778C"/>
                </a:solidFill>
                <a:latin typeface="Malgun Gothic"/>
                <a:ea typeface="Malgun Gothic"/>
                <a:cs typeface="Malgun Gothic"/>
              </a:defRPr>
            </a:pPr>
            <a:r>
              <a:rPr sz="975" b="0">
                <a:solidFill>
                  <a:srgbClr val="68778C"/>
                </a:solidFill>
                <a:latin typeface="Malgun Gothic"/>
                <a:ea typeface="Malgun Gothic"/>
                <a:cs typeface="Malgun Gothic"/>
              </a:rPr>
              <a:t>동물 힐링 서바이벌 / 프로토타입 개발 기획 v0.2</a:t>
            </a:r>
          </a:p>
        </p:txBody>
      </p:sp>
      <p:sp>
        <p:nvSpPr>
          <p:cNvPr id="4" name="">
            <a:extLst xmlns:a="http://schemas.openxmlformats.org/drawingml/2006/main">
              <a:ext uri="{FF2B5EF4-FFF2-40B4-BE49-F238E27FC236}">
                <a16:creationId xmlns:a16="http://schemas.microsoft.com/office/drawing/2014/main" id="{98BE5FEE-B6FA-4A8A-9C4A-3E9A9A78D1C2}"/>
              </a:ext>
            </a:extLst>
          </p:cNvPr>
          <p:cNvSpPr>
            <a:spLocks xmlns:a="http://schemas.openxmlformats.org/drawingml/2006/main" noGrp="1"/>
          </p:cNvSpPr>
          <p:nvPr/>
        </p:nvSpPr>
        <p:spPr>
          <a:xfrm xmlns:a="http://schemas.openxmlformats.org/drawingml/2006/main">
            <a:off x="11096625" y="64770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8778C"/>
                </a:solidFill>
                <a:latin typeface="Malgun Gothic"/>
                <a:ea typeface="Malgun Gothic"/>
                <a:cs typeface="Malgun Gothic"/>
              </a:defRPr>
            </a:pPr>
            <a:r>
              <a:rPr sz="1125" b="0">
                <a:solidFill>
                  <a:srgbClr val="68778C"/>
                </a:solidFill>
                <a:latin typeface="Malgun Gothic"/>
                <a:ea typeface="Malgun Gothic"/>
                <a:cs typeface="Malgun Gothic"/>
              </a:rPr>
              <a:t>13</a:t>
            </a:r>
          </a:p>
        </p:txBody>
      </p:sp>
      <p:sp>
        <p:nvSpPr>
          <p:cNvPr id="5" name="">
            <a:extLst xmlns:a="http://schemas.openxmlformats.org/drawingml/2006/main">
              <a:ext uri="{FF2B5EF4-FFF2-40B4-BE49-F238E27FC236}">
                <a16:creationId xmlns:a16="http://schemas.microsoft.com/office/drawing/2014/main" id="{FEA57016-76C4-4FB1-8482-201D0E1D0F6F}"/>
              </a:ext>
            </a:extLst>
          </p:cNvPr>
          <p:cNvSpPr>
            <a:spLocks xmlns:a="http://schemas.openxmlformats.org/drawingml/2006/main" noGrp="1"/>
          </p:cNvSpPr>
          <p:nvPr/>
        </p:nvSpPr>
        <p:spPr>
          <a:xfrm xmlns:a="http://schemas.openxmlformats.org/drawingml/2006/main">
            <a:off x="609600" y="17145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6374D"/>
                </a:solidFill>
                <a:latin typeface="Malgun Gothic"/>
                <a:ea typeface="Malgun Gothic"/>
                <a:cs typeface="Malgun Gothic"/>
              </a:defRPr>
            </a:pPr>
            <a:r>
              <a:rPr sz="2025" b="1">
                <a:solidFill>
                  <a:srgbClr val="26374D"/>
                </a:solidFill>
                <a:latin typeface="Malgun Gothic"/>
                <a:ea typeface="Malgun Gothic"/>
                <a:cs typeface="Malgun Gothic"/>
              </a:rPr>
              <a:t>등장 위치</a:t>
            </a:r>
          </a:p>
        </p:txBody>
      </p:sp>
      <p:sp>
        <p:nvSpPr>
          <p:cNvPr id="6" name="">
            <a:extLst xmlns:a="http://schemas.openxmlformats.org/drawingml/2006/main">
              <a:ext uri="{FF2B5EF4-FFF2-40B4-BE49-F238E27FC236}">
                <a16:creationId xmlns:a16="http://schemas.microsoft.com/office/drawing/2014/main" id="{86EEBE99-16A9-4ACC-B327-CAE181582AD2}"/>
              </a:ext>
            </a:extLst>
          </p:cNvPr>
          <p:cNvSpPr>
            <a:spLocks xmlns:a="http://schemas.openxmlformats.org/drawingml/2006/main" noGrp="1"/>
          </p:cNvSpPr>
          <p:nvPr/>
        </p:nvSpPr>
        <p:spPr>
          <a:xfrm xmlns:a="http://schemas.openxmlformats.org/drawingml/2006/main">
            <a:off x="609600" y="2133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8778C"/>
                </a:solidFill>
                <a:latin typeface="Malgun Gothic"/>
                <a:ea typeface="Malgun Gothic"/>
                <a:cs typeface="Malgun Gothic"/>
              </a:defRPr>
            </a:pPr>
            <a:r>
              <a:rPr sz="1875" b="0">
                <a:solidFill>
                  <a:srgbClr val="68778C"/>
                </a:solidFill>
                <a:latin typeface="Malgun Gothic"/>
                <a:ea typeface="Malgun Gothic"/>
                <a:cs typeface="Malgun Gothic"/>
              </a:rPr>
              <a:t>화면 밖 24~64px 띠에서 생성하고 플레이어와 최소 180px 거리를 둔다.</a:t>
            </a:r>
          </a:p>
        </p:txBody>
      </p:sp>
      <p:sp>
        <p:nvSpPr>
          <p:cNvPr id="7" name="">
            <a:extLst xmlns:a="http://schemas.openxmlformats.org/drawingml/2006/main">
              <a:ext uri="{FF2B5EF4-FFF2-40B4-BE49-F238E27FC236}">
                <a16:creationId xmlns:a16="http://schemas.microsoft.com/office/drawing/2014/main" id="{E11B6A12-19E4-45A8-B4B2-E57A66AAFB6B}"/>
              </a:ext>
            </a:extLst>
          </p:cNvPr>
          <p:cNvSpPr>
            <a:spLocks xmlns:a="http://schemas.openxmlformats.org/drawingml/2006/main" noGrp="1"/>
          </p:cNvSpPr>
          <p:nvPr/>
        </p:nvSpPr>
        <p:spPr>
          <a:xfrm xmlns:a="http://schemas.openxmlformats.org/drawingml/2006/main">
            <a:off x="609600" y="28098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6374D"/>
                </a:solidFill>
                <a:latin typeface="Malgun Gothic"/>
                <a:ea typeface="Malgun Gothic"/>
                <a:cs typeface="Malgun Gothic"/>
              </a:defRPr>
            </a:pPr>
            <a:r>
              <a:rPr sz="2025" b="1">
                <a:solidFill>
                  <a:srgbClr val="26374D"/>
                </a:solidFill>
                <a:latin typeface="Malgun Gothic"/>
                <a:ea typeface="Malgun Gothic"/>
                <a:cs typeface="Malgun Gothic"/>
              </a:rPr>
              <a:t>등장 예고</a:t>
            </a:r>
          </a:p>
        </p:txBody>
      </p:sp>
      <p:sp>
        <p:nvSpPr>
          <p:cNvPr id="8" name="">
            <a:extLst xmlns:a="http://schemas.openxmlformats.org/drawingml/2006/main">
              <a:ext uri="{FF2B5EF4-FFF2-40B4-BE49-F238E27FC236}">
                <a16:creationId xmlns:a16="http://schemas.microsoft.com/office/drawing/2014/main" id="{49744812-0A32-4B1D-8AD3-BBB9D811730B}"/>
              </a:ext>
            </a:extLst>
          </p:cNvPr>
          <p:cNvSpPr>
            <a:spLocks xmlns:a="http://schemas.openxmlformats.org/drawingml/2006/main" noGrp="1"/>
          </p:cNvSpPr>
          <p:nvPr/>
        </p:nvSpPr>
        <p:spPr>
          <a:xfrm xmlns:a="http://schemas.openxmlformats.org/drawingml/2006/main">
            <a:off x="609600" y="322897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8778C"/>
                </a:solidFill>
                <a:latin typeface="Malgun Gothic"/>
                <a:ea typeface="Malgun Gothic"/>
                <a:cs typeface="Malgun Gothic"/>
              </a:defRPr>
            </a:pPr>
            <a:r>
              <a:rPr sz="1875" b="0">
                <a:solidFill>
                  <a:srgbClr val="68778C"/>
                </a:solidFill>
                <a:latin typeface="Malgun Gothic"/>
                <a:ea typeface="Malgun Gothic"/>
                <a:cs typeface="Malgun Gothic"/>
              </a:rPr>
              <a:t>눈가루·수증기·그림자를 0.25초 보여준 뒤 이동과 충돌을 활성화한다.</a:t>
            </a:r>
          </a:p>
        </p:txBody>
      </p:sp>
      <p:sp>
        <p:nvSpPr>
          <p:cNvPr id="9" name="">
            <a:extLst xmlns:a="http://schemas.openxmlformats.org/drawingml/2006/main">
              <a:ext uri="{FF2B5EF4-FFF2-40B4-BE49-F238E27FC236}">
                <a16:creationId xmlns:a16="http://schemas.microsoft.com/office/drawing/2014/main" id="{577727FD-8BC5-45BD-85FB-833609EA92D4}"/>
              </a:ext>
            </a:extLst>
          </p:cNvPr>
          <p:cNvSpPr>
            <a:spLocks xmlns:a="http://schemas.openxmlformats.org/drawingml/2006/main" noGrp="1"/>
          </p:cNvSpPr>
          <p:nvPr/>
        </p:nvSpPr>
        <p:spPr>
          <a:xfrm xmlns:a="http://schemas.openxmlformats.org/drawingml/2006/main">
            <a:off x="609600" y="39052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6374D"/>
                </a:solidFill>
                <a:latin typeface="Malgun Gothic"/>
                <a:ea typeface="Malgun Gothic"/>
                <a:cs typeface="Malgun Gothic"/>
              </a:defRPr>
            </a:pPr>
            <a:r>
              <a:rPr sz="2025" b="1">
                <a:solidFill>
                  <a:srgbClr val="26374D"/>
                </a:solidFill>
                <a:latin typeface="Malgun Gothic"/>
                <a:ea typeface="Malgun Gothic"/>
                <a:cs typeface="Malgun Gothic"/>
              </a:rPr>
              <a:t>방향 분산</a:t>
            </a:r>
          </a:p>
        </p:txBody>
      </p:sp>
      <p:sp>
        <p:nvSpPr>
          <p:cNvPr id="10" name="">
            <a:extLst xmlns:a="http://schemas.openxmlformats.org/drawingml/2006/main">
              <a:ext uri="{FF2B5EF4-FFF2-40B4-BE49-F238E27FC236}">
                <a16:creationId xmlns:a16="http://schemas.microsoft.com/office/drawing/2014/main" id="{28B068B7-BE00-420C-A7E4-453F51E6C39A}"/>
              </a:ext>
            </a:extLst>
          </p:cNvPr>
          <p:cNvSpPr>
            <a:spLocks xmlns:a="http://schemas.openxmlformats.org/drawingml/2006/main" noGrp="1"/>
          </p:cNvSpPr>
          <p:nvPr/>
        </p:nvSpPr>
        <p:spPr>
          <a:xfrm xmlns:a="http://schemas.openxmlformats.org/drawingml/2006/main">
            <a:off x="609600" y="43243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8778C"/>
                </a:solidFill>
                <a:latin typeface="Malgun Gothic"/>
                <a:ea typeface="Malgun Gothic"/>
                <a:cs typeface="Malgun Gothic"/>
              </a:defRPr>
            </a:pPr>
            <a:r>
              <a:rPr sz="1875" b="0">
                <a:solidFill>
                  <a:srgbClr val="68778C"/>
                </a:solidFill>
                <a:latin typeface="Malgun Gothic"/>
                <a:ea typeface="Malgun Gothic"/>
                <a:cs typeface="Malgun Gothic"/>
              </a:rPr>
              <a:t>상·하·좌·우를 섞고 조건을 만족하지 못하면 다른 위치를 찾거나 건너뛴다.</a:t>
            </a:r>
          </a:p>
        </p:txBody>
      </p:sp>
      <p:sp>
        <p:nvSpPr>
          <p:cNvPr id="11" name="">
            <a:extLst xmlns:a="http://schemas.openxmlformats.org/drawingml/2006/main">
              <a:ext uri="{FF2B5EF4-FFF2-40B4-BE49-F238E27FC236}">
                <a16:creationId xmlns:a16="http://schemas.microsoft.com/office/drawing/2014/main" id="{338C397D-1DEC-4C08-AFA8-C021B612B770}"/>
              </a:ext>
            </a:extLst>
          </p:cNvPr>
          <p:cNvSpPr>
            <a:spLocks xmlns:a="http://schemas.openxmlformats.org/drawingml/2006/main" noGrp="1"/>
          </p:cNvSpPr>
          <p:nvPr/>
        </p:nvSpPr>
        <p:spPr>
          <a:xfrm xmlns:a="http://schemas.openxmlformats.org/drawingml/2006/main">
            <a:off x="609600" y="50006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6374D"/>
                </a:solidFill>
                <a:latin typeface="Malgun Gothic"/>
                <a:ea typeface="Malgun Gothic"/>
                <a:cs typeface="Malgun Gothic"/>
              </a:defRPr>
            </a:pPr>
            <a:r>
              <a:rPr sz="2025" b="1">
                <a:solidFill>
                  <a:srgbClr val="26374D"/>
                </a:solidFill>
                <a:latin typeface="Malgun Gothic"/>
                <a:ea typeface="Malgun Gothic"/>
                <a:cs typeface="Malgun Gothic"/>
              </a:rPr>
              <a:t>상한 처리</a:t>
            </a:r>
          </a:p>
        </p:txBody>
      </p:sp>
      <p:sp>
        <p:nvSpPr>
          <p:cNvPr id="12" name="">
            <a:extLst xmlns:a="http://schemas.openxmlformats.org/drawingml/2006/main">
              <a:ext uri="{FF2B5EF4-FFF2-40B4-BE49-F238E27FC236}">
                <a16:creationId xmlns:a16="http://schemas.microsoft.com/office/drawing/2014/main" id="{FCEBE209-EE2A-46F1-8E88-E332AA9C394F}"/>
              </a:ext>
            </a:extLst>
          </p:cNvPr>
          <p:cNvSpPr>
            <a:spLocks xmlns:a="http://schemas.openxmlformats.org/drawingml/2006/main" noGrp="1"/>
          </p:cNvSpPr>
          <p:nvPr/>
        </p:nvSpPr>
        <p:spPr>
          <a:xfrm xmlns:a="http://schemas.openxmlformats.org/drawingml/2006/main">
            <a:off x="609600" y="54197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8778C"/>
                </a:solidFill>
                <a:latin typeface="Malgun Gothic"/>
                <a:ea typeface="Malgun Gothic"/>
                <a:cs typeface="Malgun Gothic"/>
              </a:defRPr>
            </a:pPr>
            <a:r>
              <a:rPr sz="1875" b="0">
                <a:solidFill>
                  <a:srgbClr val="68778C"/>
                </a:solidFill>
                <a:latin typeface="Malgun Gothic"/>
                <a:ea typeface="Malgun Gothic"/>
                <a:cs typeface="Malgun Gothic"/>
              </a:rPr>
              <a:t>100마리에 도달하면 생성 요청을 버린다. 빈자리 발생 후 현재 주기로 재개한다.</a:t>
            </a:r>
          </a:p>
        </p:txBody>
      </p:sp>
    </p:spTree>
    <p:extLst>
      <p:ext uri="{BB962C8B-B14F-4D97-AF65-F5344CB8AC3E}">
        <p14:creationId xmlns:p14="http://schemas.microsoft.com/office/powerpoint/2010/main" val="1181684748"/>
      </p:ext>
    </p:extLst>
  </p:cSld>
</p:sld>
</file>

<file path=ppt/slides/slide14.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51BE10E-24F9-4A11-A4D6-A1098ADA8073}"/>
              </a:ext>
            </a:extLst>
          </p:cNvPr>
          <p:cNvSpPr>
            <a:spLocks xmlns:a="http://schemas.openxmlformats.org/drawingml/2006/main" noGrp="1"/>
          </p:cNvSpPr>
          <p:nvPr/>
        </p:nvSpPr>
        <p:spPr>
          <a:xfrm xmlns:a="http://schemas.openxmlformats.org/drawingml/2006/main">
            <a:off x="571500" y="40957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26374D"/>
                </a:solidFill>
                <a:latin typeface="Malgun Gothic"/>
                <a:ea typeface="Malgun Gothic"/>
                <a:cs typeface="Malgun Gothic"/>
              </a:defRPr>
            </a:pPr>
            <a:r>
              <a:rPr sz="3150" b="1">
                <a:solidFill>
                  <a:srgbClr val="26374D"/>
                </a:solidFill>
                <a:latin typeface="Malgun Gothic"/>
                <a:ea typeface="Malgun Gothic"/>
                <a:cs typeface="Malgun Gothic"/>
              </a:rPr>
              <a:t>점수와 기록 저장</a:t>
            </a:r>
          </a:p>
        </p:txBody>
      </p:sp>
      <p:sp>
        <p:nvSpPr>
          <p:cNvPr id="2" name="">
            <a:extLst xmlns:a="http://schemas.openxmlformats.org/drawingml/2006/main">
              <a:ext uri="{FF2B5EF4-FFF2-40B4-BE49-F238E27FC236}">
                <a16:creationId xmlns:a16="http://schemas.microsoft.com/office/drawing/2014/main" id="{58F2864A-9701-4B4C-A427-93AA3FD4CE5A}"/>
              </a:ext>
            </a:extLst>
          </p:cNvPr>
          <p:cNvSpPr>
            <a:spLocks xmlns:a="http://schemas.openxmlformats.org/drawingml/2006/main" noGrp="1"/>
          </p:cNvSpPr>
          <p:nvPr/>
        </p:nvSpPr>
        <p:spPr>
          <a:xfrm xmlns:a="http://schemas.openxmlformats.org/drawingml/2006/main">
            <a:off x="590550" y="1104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처치 점수만 누적하고 최고 기록은 동물별로 분리한다</a:t>
            </a:r>
          </a:p>
        </p:txBody>
      </p:sp>
      <p:sp>
        <p:nvSpPr>
          <p:cNvPr id="3" name="">
            <a:extLst xmlns:a="http://schemas.openxmlformats.org/drawingml/2006/main">
              <a:ext uri="{FF2B5EF4-FFF2-40B4-BE49-F238E27FC236}">
                <a16:creationId xmlns:a16="http://schemas.microsoft.com/office/drawing/2014/main" id="{7CD7F62A-F1BE-4985-BEF9-04C602C1D391}"/>
              </a:ext>
            </a:extLst>
          </p:cNvPr>
          <p:cNvSpPr>
            <a:spLocks xmlns:a="http://schemas.openxmlformats.org/drawingml/2006/main" noGrp="1"/>
          </p:cNvSpPr>
          <p:nvPr/>
        </p:nvSpPr>
        <p:spPr>
          <a:xfrm xmlns:a="http://schemas.openxmlformats.org/drawingml/2006/main">
            <a:off x="590550" y="6496050"/>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68778C"/>
                </a:solidFill>
                <a:latin typeface="Malgun Gothic"/>
                <a:ea typeface="Malgun Gothic"/>
                <a:cs typeface="Malgun Gothic"/>
              </a:defRPr>
            </a:pPr>
            <a:r>
              <a:rPr sz="975" b="0">
                <a:solidFill>
                  <a:srgbClr val="68778C"/>
                </a:solidFill>
                <a:latin typeface="Malgun Gothic"/>
                <a:ea typeface="Malgun Gothic"/>
                <a:cs typeface="Malgun Gothic"/>
              </a:rPr>
              <a:t>동물 힐링 서바이벌 / 프로토타입 개발 기획 v0.2</a:t>
            </a:r>
          </a:p>
        </p:txBody>
      </p:sp>
      <p:sp>
        <p:nvSpPr>
          <p:cNvPr id="4" name="">
            <a:extLst xmlns:a="http://schemas.openxmlformats.org/drawingml/2006/main">
              <a:ext uri="{FF2B5EF4-FFF2-40B4-BE49-F238E27FC236}">
                <a16:creationId xmlns:a16="http://schemas.microsoft.com/office/drawing/2014/main" id="{9D46A0B3-A3A3-49F6-A4AE-A765E16B16EC}"/>
              </a:ext>
            </a:extLst>
          </p:cNvPr>
          <p:cNvSpPr>
            <a:spLocks xmlns:a="http://schemas.openxmlformats.org/drawingml/2006/main" noGrp="1"/>
          </p:cNvSpPr>
          <p:nvPr/>
        </p:nvSpPr>
        <p:spPr>
          <a:xfrm xmlns:a="http://schemas.openxmlformats.org/drawingml/2006/main">
            <a:off x="11096625" y="64770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8778C"/>
                </a:solidFill>
                <a:latin typeface="Malgun Gothic"/>
                <a:ea typeface="Malgun Gothic"/>
                <a:cs typeface="Malgun Gothic"/>
              </a:defRPr>
            </a:pPr>
            <a:r>
              <a:rPr sz="1125" b="0">
                <a:solidFill>
                  <a:srgbClr val="68778C"/>
                </a:solidFill>
                <a:latin typeface="Malgun Gothic"/>
                <a:ea typeface="Malgun Gothic"/>
                <a:cs typeface="Malgun Gothic"/>
              </a:rPr>
              <a:t>14</a:t>
            </a:r>
          </a:p>
        </p:txBody>
      </p:sp>
      <p:graphicFrame>
        <p:nvGraphicFramePr>
          <p:cNvPr id="10" name=""/>
          <p:cNvGraphicFramePr/>
          <p:nvPr/>
        </p:nvGraphicFramePr>
        <p:xfrm>
          <a:off xmlns:a="http://schemas.openxmlformats.org/drawingml/2006/main" x="590550" y="1762125"/>
          <a:ext xmlns:a="http://schemas.openxmlformats.org/drawingml/2006/main" cx="11010900" cy="4000500"/>
        </p:xfrm>
        <a:graphic xmlns:a="http://schemas.openxmlformats.org/drawingml/2006/main">
          <a:graphicData uri="http://schemas.openxmlformats.org/drawingml/2006/table">
            <a:tbl>
              <a:tblPr/>
              <a:tblGrid>
                <a:gridCol w="2266950"/>
                <a:gridCol w="8743950"/>
              </a:tblGrid>
              <a:tr h="571500">
                <a:tc>
                  <a:txBody>
                    <a:bodyPr lIns="123825" tIns="66675" rIns="123825" bIns="66675">
                      <a:noAutofit/>
                    </a:bodyPr>
                    <a:lstStyle/>
                    <a:p>
                      <a:r>
                        <a:rPr sz="1725" b="1">
                          <a:solidFill>
                            <a:srgbClr val="FFFFFF"/>
                          </a:solidFill>
                          <a:latin typeface="Malgun Gothic"/>
                          <a:ea typeface="Malgun Gothic"/>
                          <a:cs typeface="Malgun Gothic"/>
                        </a:rPr>
                        <a:t>항목</a:t>
                      </a:r>
                    </a:p>
                  </a:txBody>
                  <a:tcPr marL="91440" marR="91440" marT="45720" marB="45720" anchor="ctr">
                    <a:solidFill>
                      <a:srgbClr val="26374D"/>
                    </a:solidFill>
                  </a:tcPr>
                </a:tc>
                <a:tc>
                  <a:txBody>
                    <a:bodyPr lIns="123825" tIns="66675" rIns="123825" bIns="66675">
                      <a:noAutofit/>
                    </a:bodyPr>
                    <a:lstStyle/>
                    <a:p>
                      <a:r>
                        <a:rPr sz="1725" b="1">
                          <a:solidFill>
                            <a:srgbClr val="FFFFFF"/>
                          </a:solidFill>
                          <a:latin typeface="Malgun Gothic"/>
                          <a:ea typeface="Malgun Gothic"/>
                          <a:cs typeface="Malgun Gothic"/>
                        </a:rPr>
                        <a:t>규칙</a:t>
                      </a:r>
                    </a:p>
                  </a:txBody>
                  <a:tcPr marL="91440" marR="91440" marT="45720" marB="45720" anchor="ctr">
                    <a:solidFill>
                      <a:srgbClr val="26374D"/>
                    </a:solidFill>
                  </a:tcPr>
                </a:tc>
              </a:tr>
              <a:tr h="571500">
                <a:tc>
                  <a:txBody>
                    <a:bodyPr lIns="123825" tIns="66675" rIns="123825" bIns="66675">
                      <a:noAutofit/>
                    </a:bodyPr>
                    <a:lstStyle/>
                    <a:p>
                      <a:r>
                        <a:rPr sz="1725" b="0">
                          <a:solidFill>
                            <a:srgbClr val="26374D"/>
                          </a:solidFill>
                          <a:latin typeface="Malgun Gothic"/>
                          <a:ea typeface="Malgun Gothic"/>
                          <a:cs typeface="Malgun Gothic"/>
                        </a:rPr>
                        <a:t>점수 지급</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기본형 +10, 튼튼형 +30, 처치 확정 시 즉시 1회</a:t>
                      </a:r>
                    </a:p>
                  </a:txBody>
                  <a:tcPr marL="91440" marR="91440" marT="45720" marB="45720" anchor="ctr">
                    <a:solidFill>
                      <a:srgbClr val="E9EFF6"/>
                    </a:solidFill>
                  </a:tcPr>
                </a:tc>
              </a:tr>
              <a:tr h="571500">
                <a:tc>
                  <a:txBody>
                    <a:bodyPr lIns="123825" tIns="66675" rIns="123825" bIns="66675">
                      <a:noAutofit/>
                    </a:bodyPr>
                    <a:lstStyle/>
                    <a:p>
                      <a:r>
                        <a:rPr sz="1725" b="0">
                          <a:solidFill>
                            <a:srgbClr val="26374D"/>
                          </a:solidFill>
                          <a:latin typeface="Malgun Gothic"/>
                          <a:ea typeface="Malgun Gothic"/>
                          <a:cs typeface="Malgun Gothic"/>
                        </a:rPr>
                        <a:t>별도 기록</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생존 시간과 처치 수를 표시, 생존 시간 자체는 점수 없음</a:t>
                      </a:r>
                    </a:p>
                  </a:txBody>
                  <a:tcPr marL="91440" marR="91440" marT="45720" marB="45720" anchor="ctr">
                    <a:solidFill>
                      <a:srgbClr val="F2F5F9"/>
                    </a:solidFill>
                  </a:tcPr>
                </a:tc>
              </a:tr>
              <a:tr h="571500">
                <a:tc>
                  <a:txBody>
                    <a:bodyPr lIns="123825" tIns="66675" rIns="123825" bIns="66675">
                      <a:noAutofit/>
                    </a:bodyPr>
                    <a:lstStyle/>
                    <a:p>
                      <a:r>
                        <a:rPr sz="1725" b="0">
                          <a:solidFill>
                            <a:srgbClr val="26374D"/>
                          </a:solidFill>
                          <a:latin typeface="Malgun Gothic"/>
                          <a:ea typeface="Malgun Gothic"/>
                          <a:cs typeface="Malgun Gothic"/>
                        </a:rPr>
                        <a:t>점수 연출</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처치 위치에 0.45초 표시, 동시 12개까지만 시각화</a:t>
                      </a:r>
                    </a:p>
                  </a:txBody>
                  <a:tcPr marL="91440" marR="91440" marT="45720" marB="45720" anchor="ctr">
                    <a:solidFill>
                      <a:srgbClr val="E9EFF6"/>
                    </a:solidFill>
                  </a:tcPr>
                </a:tc>
              </a:tr>
              <a:tr h="571500">
                <a:tc>
                  <a:txBody>
                    <a:bodyPr lIns="123825" tIns="66675" rIns="123825" bIns="66675">
                      <a:noAutofit/>
                    </a:bodyPr>
                    <a:lstStyle/>
                    <a:p>
                      <a:r>
                        <a:rPr sz="1725" b="0">
                          <a:solidFill>
                            <a:srgbClr val="26374D"/>
                          </a:solidFill>
                          <a:latin typeface="Malgun Gothic"/>
                          <a:ea typeface="Malgun Gothic"/>
                          <a:cs typeface="Malgun Gothic"/>
                        </a:rPr>
                        <a:t>최고 기록</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동물별 로컬 저장, 플레이 중 경신 값과 결과 값을 저장</a:t>
                      </a:r>
                    </a:p>
                  </a:txBody>
                  <a:tcPr marL="91440" marR="91440" marT="45720" marB="45720" anchor="ctr">
                    <a:solidFill>
                      <a:srgbClr val="F2F5F9"/>
                    </a:solidFill>
                  </a:tcPr>
                </a:tc>
              </a:tr>
              <a:tr h="571500">
                <a:tc>
                  <a:txBody>
                    <a:bodyPr lIns="123825" tIns="66675" rIns="123825" bIns="66675">
                      <a:noAutofit/>
                    </a:bodyPr>
                    <a:lstStyle/>
                    <a:p>
                      <a:r>
                        <a:rPr sz="1725" b="0">
                          <a:solidFill>
                            <a:srgbClr val="26374D"/>
                          </a:solidFill>
                          <a:latin typeface="Malgun Gothic"/>
                          <a:ea typeface="Malgun Gothic"/>
                          <a:cs typeface="Malgun Gothic"/>
                        </a:rPr>
                        <a:t>재시작</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체력·시간·점수·적·공격 초기화, 기록·소리 설정 유지</a:t>
                      </a:r>
                    </a:p>
                  </a:txBody>
                  <a:tcPr marL="91440" marR="91440" marT="45720" marB="45720" anchor="ctr">
                    <a:solidFill>
                      <a:srgbClr val="E9EFF6"/>
                    </a:solidFill>
                  </a:tcPr>
                </a:tc>
              </a:tr>
              <a:tr h="571500">
                <a:tc>
                  <a:txBody>
                    <a:bodyPr lIns="123825" tIns="66675" rIns="123825" bIns="66675">
                      <a:noAutofit/>
                    </a:bodyPr>
                    <a:lstStyle/>
                    <a:p>
                      <a:r>
                        <a:rPr sz="1725" b="0">
                          <a:solidFill>
                            <a:srgbClr val="26374D"/>
                          </a:solidFill>
                          <a:latin typeface="Malgun Gothic"/>
                          <a:ea typeface="Malgun Gothic"/>
                          <a:cs typeface="Malgun Gothic"/>
                        </a:rPr>
                        <a:t>신기록</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실제로 기존 최고 점수를 넘겼을 때만 축하 연출</a:t>
                      </a:r>
                    </a:p>
                  </a:txBody>
                  <a:tcPr marL="91440" marR="91440" marT="45720" marB="45720" anchor="ctr">
                    <a:solidFill>
                      <a:srgbClr val="F2F5F9"/>
                    </a:solidFill>
                  </a:tcPr>
                </a:tc>
              </a:tr>
            </a:tbl>
          </a:graphicData>
        </a:graphic>
      </p:graphicFrame>
    </p:spTree>
    <p:extLst>
      <p:ext uri="{BB962C8B-B14F-4D97-AF65-F5344CB8AC3E}">
        <p14:creationId xmlns:p14="http://schemas.microsoft.com/office/powerpoint/2010/main" val="1612537846"/>
      </p:ext>
    </p:extLst>
  </p:cSld>
</p:sld>
</file>

<file path=ppt/slides/slide15.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473E276-9FF0-4A33-84F1-53292023F1A0}"/>
              </a:ext>
            </a:extLst>
          </p:cNvPr>
          <p:cNvSpPr>
            <a:spLocks xmlns:a="http://schemas.openxmlformats.org/drawingml/2006/main" noGrp="1"/>
          </p:cNvSpPr>
          <p:nvPr/>
        </p:nvSpPr>
        <p:spPr>
          <a:xfrm xmlns:a="http://schemas.openxmlformats.org/drawingml/2006/main">
            <a:off x="571500" y="40957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26374D"/>
                </a:solidFill>
                <a:latin typeface="Malgun Gothic"/>
                <a:ea typeface="Malgun Gothic"/>
                <a:cs typeface="Malgun Gothic"/>
              </a:defRPr>
            </a:pPr>
            <a:r>
              <a:rPr sz="3150" b="1">
                <a:solidFill>
                  <a:srgbClr val="26374D"/>
                </a:solidFill>
                <a:latin typeface="Malgun Gothic"/>
                <a:ea typeface="Malgun Gothic"/>
                <a:cs typeface="Malgun Gothic"/>
              </a:rPr>
              <a:t>펭귄 대기와 이동</a:t>
            </a:r>
          </a:p>
        </p:txBody>
      </p:sp>
      <p:sp>
        <p:nvSpPr>
          <p:cNvPr id="2" name="">
            <a:extLst xmlns:a="http://schemas.openxmlformats.org/drawingml/2006/main">
              <a:ext uri="{FF2B5EF4-FFF2-40B4-BE49-F238E27FC236}">
                <a16:creationId xmlns:a16="http://schemas.microsoft.com/office/drawing/2014/main" id="{ADBD0896-0005-4BA7-B08B-CC5311C14104}"/>
              </a:ext>
            </a:extLst>
          </p:cNvPr>
          <p:cNvSpPr>
            <a:spLocks xmlns:a="http://schemas.openxmlformats.org/drawingml/2006/main" noGrp="1"/>
          </p:cNvSpPr>
          <p:nvPr/>
        </p:nvSpPr>
        <p:spPr>
          <a:xfrm xmlns:a="http://schemas.openxmlformats.org/drawingml/2006/main">
            <a:off x="590550" y="1104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현재 GIF 시안은 동작별 8프레임이며, 게임 속도에 맞춰 재생률을 조정한다</a:t>
            </a:r>
          </a:p>
        </p:txBody>
      </p:sp>
      <p:sp>
        <p:nvSpPr>
          <p:cNvPr id="3" name="">
            <a:extLst xmlns:a="http://schemas.openxmlformats.org/drawingml/2006/main">
              <a:ext uri="{FF2B5EF4-FFF2-40B4-BE49-F238E27FC236}">
                <a16:creationId xmlns:a16="http://schemas.microsoft.com/office/drawing/2014/main" id="{EF0BDFC1-B814-46DB-AE53-CCC503887D12}"/>
              </a:ext>
            </a:extLst>
          </p:cNvPr>
          <p:cNvSpPr>
            <a:spLocks xmlns:a="http://schemas.openxmlformats.org/drawingml/2006/main" noGrp="1"/>
          </p:cNvSpPr>
          <p:nvPr/>
        </p:nvSpPr>
        <p:spPr>
          <a:xfrm xmlns:a="http://schemas.openxmlformats.org/drawingml/2006/main">
            <a:off x="590550" y="6496050"/>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68778C"/>
                </a:solidFill>
                <a:latin typeface="Malgun Gothic"/>
                <a:ea typeface="Malgun Gothic"/>
                <a:cs typeface="Malgun Gothic"/>
              </a:defRPr>
            </a:pPr>
            <a:r>
              <a:rPr sz="975" b="0">
                <a:solidFill>
                  <a:srgbClr val="68778C"/>
                </a:solidFill>
                <a:latin typeface="Malgun Gothic"/>
                <a:ea typeface="Malgun Gothic"/>
                <a:cs typeface="Malgun Gothic"/>
              </a:rPr>
              <a:t>동물 힐링 서바이벌 / 프로토타입 개발 기획 v0.2</a:t>
            </a:r>
          </a:p>
        </p:txBody>
      </p:sp>
      <p:sp>
        <p:nvSpPr>
          <p:cNvPr id="4" name="">
            <a:extLst xmlns:a="http://schemas.openxmlformats.org/drawingml/2006/main">
              <a:ext uri="{FF2B5EF4-FFF2-40B4-BE49-F238E27FC236}">
                <a16:creationId xmlns:a16="http://schemas.microsoft.com/office/drawing/2014/main" id="{4B1EBC36-8D1F-4FF2-8C70-12E1D35C6E5F}"/>
              </a:ext>
            </a:extLst>
          </p:cNvPr>
          <p:cNvSpPr>
            <a:spLocks xmlns:a="http://schemas.openxmlformats.org/drawingml/2006/main" noGrp="1"/>
          </p:cNvSpPr>
          <p:nvPr/>
        </p:nvSpPr>
        <p:spPr>
          <a:xfrm xmlns:a="http://schemas.openxmlformats.org/drawingml/2006/main">
            <a:off x="11096625" y="64770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8778C"/>
                </a:solidFill>
                <a:latin typeface="Malgun Gothic"/>
                <a:ea typeface="Malgun Gothic"/>
                <a:cs typeface="Malgun Gothic"/>
              </a:defRPr>
            </a:pPr>
            <a:r>
              <a:rPr sz="1125" b="0">
                <a:solidFill>
                  <a:srgbClr val="68778C"/>
                </a:solidFill>
                <a:latin typeface="Malgun Gothic"/>
                <a:ea typeface="Malgun Gothic"/>
                <a:cs typeface="Malgun Gothic"/>
              </a:rPr>
              <a:t>15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4f0fa3c4a4c427c"/>
          <a:stretch xmlns:a="http://schemas.openxmlformats.org/drawingml/2006/main"/>
        </p:blipFill>
        <p:spPr>
          <a:xfrm xmlns:a="http://schemas.openxmlformats.org/drawingml/2006/main">
            <a:off x="762000" y="1714500"/>
            <a:ext cx="3714750" cy="3714750"/>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8b26735aa6a4966"/>
          <a:stretch xmlns:a="http://schemas.openxmlformats.org/drawingml/2006/main"/>
        </p:blipFill>
        <p:spPr>
          <a:xfrm xmlns:a="http://schemas.openxmlformats.org/drawingml/2006/main">
            <a:off x="6667500" y="1714500"/>
            <a:ext cx="3714750" cy="3714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850C521-4F9F-49F0-8D5A-F0F4CFA9515A}"/>
              </a:ext>
            </a:extLst>
          </p:cNvPr>
          <p:cNvSpPr>
            <a:spLocks xmlns:a="http://schemas.openxmlformats.org/drawingml/2006/main" noGrp="1"/>
          </p:cNvSpPr>
          <p:nvPr/>
        </p:nvSpPr>
        <p:spPr>
          <a:xfrm xmlns:a="http://schemas.openxmlformats.org/drawingml/2006/main">
            <a:off x="838200" y="536257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6374D"/>
                </a:solidFill>
                <a:latin typeface="Malgun Gothic"/>
                <a:ea typeface="Malgun Gothic"/>
                <a:cs typeface="Malgun Gothic"/>
              </a:defRPr>
            </a:pPr>
            <a:r>
              <a:rPr sz="2100" b="1">
                <a:solidFill>
                  <a:srgbClr val="26374D"/>
                </a:solidFill>
                <a:latin typeface="Malgun Gothic"/>
                <a:ea typeface="Malgun Gothic"/>
                <a:cs typeface="Malgun Gothic"/>
              </a:rPr>
              <a:t>Idle / 대기</a:t>
            </a:r>
          </a:p>
        </p:txBody>
      </p:sp>
      <p:sp>
        <p:nvSpPr>
          <p:cNvPr id="8" name="">
            <a:extLst xmlns:a="http://schemas.openxmlformats.org/drawingml/2006/main">
              <a:ext uri="{FF2B5EF4-FFF2-40B4-BE49-F238E27FC236}">
                <a16:creationId xmlns:a16="http://schemas.microsoft.com/office/drawing/2014/main" id="{B7CBBFEF-A393-4CA3-B7A3-11F6EC679C29}"/>
              </a:ext>
            </a:extLst>
          </p:cNvPr>
          <p:cNvSpPr>
            <a:spLocks xmlns:a="http://schemas.openxmlformats.org/drawingml/2006/main" noGrp="1"/>
          </p:cNvSpPr>
          <p:nvPr/>
        </p:nvSpPr>
        <p:spPr>
          <a:xfrm xmlns:a="http://schemas.openxmlformats.org/drawingml/2006/main">
            <a:off x="838200" y="580072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호흡과 눈 깜박임, 1.66초 반복</a:t>
            </a:r>
          </a:p>
        </p:txBody>
      </p:sp>
      <p:sp>
        <p:nvSpPr>
          <p:cNvPr id="9" name="">
            <a:extLst xmlns:a="http://schemas.openxmlformats.org/drawingml/2006/main">
              <a:ext uri="{FF2B5EF4-FFF2-40B4-BE49-F238E27FC236}">
                <a16:creationId xmlns:a16="http://schemas.microsoft.com/office/drawing/2014/main" id="{DE33322C-452B-4EFA-A534-028D60776C8C}"/>
              </a:ext>
            </a:extLst>
          </p:cNvPr>
          <p:cNvSpPr>
            <a:spLocks xmlns:a="http://schemas.openxmlformats.org/drawingml/2006/main" noGrp="1"/>
          </p:cNvSpPr>
          <p:nvPr/>
        </p:nvSpPr>
        <p:spPr>
          <a:xfrm xmlns:a="http://schemas.openxmlformats.org/drawingml/2006/main">
            <a:off x="6743700" y="536257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6374D"/>
                </a:solidFill>
                <a:latin typeface="Malgun Gothic"/>
                <a:ea typeface="Malgun Gothic"/>
                <a:cs typeface="Malgun Gothic"/>
              </a:defRPr>
            </a:pPr>
            <a:r>
              <a:rPr sz="2100" b="1">
                <a:solidFill>
                  <a:srgbClr val="26374D"/>
                </a:solidFill>
                <a:latin typeface="Malgun Gothic"/>
                <a:ea typeface="Malgun Gothic"/>
                <a:cs typeface="Malgun Gothic"/>
              </a:rPr>
              <a:t>Move / 이동</a:t>
            </a:r>
          </a:p>
        </p:txBody>
      </p:sp>
      <p:sp>
        <p:nvSpPr>
          <p:cNvPr id="10" name="">
            <a:extLst xmlns:a="http://schemas.openxmlformats.org/drawingml/2006/main">
              <a:ext uri="{FF2B5EF4-FFF2-40B4-BE49-F238E27FC236}">
                <a16:creationId xmlns:a16="http://schemas.microsoft.com/office/drawing/2014/main" id="{124E0750-25F0-4453-8F31-B4D1E7DC92ED}"/>
              </a:ext>
            </a:extLst>
          </p:cNvPr>
          <p:cNvSpPr>
            <a:spLocks xmlns:a="http://schemas.openxmlformats.org/drawingml/2006/main" noGrp="1"/>
          </p:cNvSpPr>
          <p:nvPr/>
        </p:nvSpPr>
        <p:spPr>
          <a:xfrm xmlns:a="http://schemas.openxmlformats.org/drawingml/2006/main">
            <a:off x="6743700" y="5800725"/>
            <a:ext cx="4667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발 교대와 목도리 흔들림, 0.76초 반복</a:t>
            </a:r>
          </a:p>
        </p:txBody>
      </p:sp>
    </p:spTree>
    <p:extLst>
      <p:ext uri="{BB962C8B-B14F-4D97-AF65-F5344CB8AC3E}">
        <p14:creationId xmlns:p14="http://schemas.microsoft.com/office/powerpoint/2010/main" val="200909915"/>
      </p:ext>
    </p:extLst>
  </p:cSld>
</p:sld>
</file>

<file path=ppt/slides/slide16.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28488EC-A60E-4E93-A347-135537A79C13}"/>
              </a:ext>
            </a:extLst>
          </p:cNvPr>
          <p:cNvSpPr>
            <a:spLocks xmlns:a="http://schemas.openxmlformats.org/drawingml/2006/main" noGrp="1"/>
          </p:cNvSpPr>
          <p:nvPr/>
        </p:nvSpPr>
        <p:spPr>
          <a:xfrm xmlns:a="http://schemas.openxmlformats.org/drawingml/2006/main">
            <a:off x="571500" y="40957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26374D"/>
                </a:solidFill>
                <a:latin typeface="Malgun Gothic"/>
                <a:ea typeface="Malgun Gothic"/>
                <a:cs typeface="Malgun Gothic"/>
              </a:defRPr>
            </a:pPr>
            <a:r>
              <a:rPr sz="3150" b="1">
                <a:solidFill>
                  <a:srgbClr val="26374D"/>
                </a:solidFill>
                <a:latin typeface="Malgun Gothic"/>
                <a:ea typeface="Malgun Gothic"/>
                <a:cs typeface="Malgun Gothic"/>
              </a:rPr>
              <a:t>펭귄 공격 애니메이션</a:t>
            </a:r>
          </a:p>
        </p:txBody>
      </p:sp>
      <p:sp>
        <p:nvSpPr>
          <p:cNvPr id="2" name="">
            <a:extLst xmlns:a="http://schemas.openxmlformats.org/drawingml/2006/main">
              <a:ext uri="{FF2B5EF4-FFF2-40B4-BE49-F238E27FC236}">
                <a16:creationId xmlns:a16="http://schemas.microsoft.com/office/drawing/2014/main" id="{379A36C5-8595-49A6-A9D7-D0677192EA72}"/>
              </a:ext>
            </a:extLst>
          </p:cNvPr>
          <p:cNvSpPr>
            <a:spLocks xmlns:a="http://schemas.openxmlformats.org/drawingml/2006/main" noGrp="1"/>
          </p:cNvSpPr>
          <p:nvPr/>
        </p:nvSpPr>
        <p:spPr>
          <a:xfrm xmlns:a="http://schemas.openxmlformats.org/drawingml/2006/main">
            <a:off x="590550" y="1104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회전 눈꽃은 캐릭터 이동과 독립적으로 계속 동작한다</a:t>
            </a:r>
          </a:p>
        </p:txBody>
      </p:sp>
      <p:sp>
        <p:nvSpPr>
          <p:cNvPr id="3" name="">
            <a:extLst xmlns:a="http://schemas.openxmlformats.org/drawingml/2006/main">
              <a:ext uri="{FF2B5EF4-FFF2-40B4-BE49-F238E27FC236}">
                <a16:creationId xmlns:a16="http://schemas.microsoft.com/office/drawing/2014/main" id="{D9AFF28E-B825-4247-BCA8-9A96B42AC9AD}"/>
              </a:ext>
            </a:extLst>
          </p:cNvPr>
          <p:cNvSpPr>
            <a:spLocks xmlns:a="http://schemas.openxmlformats.org/drawingml/2006/main" noGrp="1"/>
          </p:cNvSpPr>
          <p:nvPr/>
        </p:nvSpPr>
        <p:spPr>
          <a:xfrm xmlns:a="http://schemas.openxmlformats.org/drawingml/2006/main">
            <a:off x="590550" y="6496050"/>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68778C"/>
                </a:solidFill>
                <a:latin typeface="Malgun Gothic"/>
                <a:ea typeface="Malgun Gothic"/>
                <a:cs typeface="Malgun Gothic"/>
              </a:defRPr>
            </a:pPr>
            <a:r>
              <a:rPr sz="975" b="0">
                <a:solidFill>
                  <a:srgbClr val="68778C"/>
                </a:solidFill>
                <a:latin typeface="Malgun Gothic"/>
                <a:ea typeface="Malgun Gothic"/>
                <a:cs typeface="Malgun Gothic"/>
              </a:rPr>
              <a:t>동물 힐링 서바이벌 / 프로토타입 개발 기획 v0.2</a:t>
            </a:r>
          </a:p>
        </p:txBody>
      </p:sp>
      <p:sp>
        <p:nvSpPr>
          <p:cNvPr id="4" name="">
            <a:extLst xmlns:a="http://schemas.openxmlformats.org/drawingml/2006/main">
              <a:ext uri="{FF2B5EF4-FFF2-40B4-BE49-F238E27FC236}">
                <a16:creationId xmlns:a16="http://schemas.microsoft.com/office/drawing/2014/main" id="{546DFC33-AA17-4440-AEE3-0158F15DC6F5}"/>
              </a:ext>
            </a:extLst>
          </p:cNvPr>
          <p:cNvSpPr>
            <a:spLocks xmlns:a="http://schemas.openxmlformats.org/drawingml/2006/main" noGrp="1"/>
          </p:cNvSpPr>
          <p:nvPr/>
        </p:nvSpPr>
        <p:spPr>
          <a:xfrm xmlns:a="http://schemas.openxmlformats.org/drawingml/2006/main">
            <a:off x="11096625" y="64770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8778C"/>
                </a:solidFill>
                <a:latin typeface="Malgun Gothic"/>
                <a:ea typeface="Malgun Gothic"/>
                <a:cs typeface="Malgun Gothic"/>
              </a:defRPr>
            </a:pPr>
            <a:r>
              <a:rPr sz="1125" b="0">
                <a:solidFill>
                  <a:srgbClr val="68778C"/>
                </a:solidFill>
                <a:latin typeface="Malgun Gothic"/>
                <a:ea typeface="Malgun Gothic"/>
                <a:cs typeface="Malgun Gothic"/>
              </a:rPr>
              <a:t>16</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4f31d4a7870a49df"/>
          <a:stretch xmlns:a="http://schemas.openxmlformats.org/drawingml/2006/main"/>
        </p:blipFill>
        <p:spPr>
          <a:xfrm xmlns:a="http://schemas.openxmlformats.org/drawingml/2006/main">
            <a:off x="628650" y="1657350"/>
            <a:ext cx="4333875" cy="43338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E77C0A5-5CA6-433F-9DF6-01E472290D3F}"/>
              </a:ext>
            </a:extLst>
          </p:cNvPr>
          <p:cNvSpPr>
            <a:spLocks xmlns:a="http://schemas.openxmlformats.org/drawingml/2006/main" noGrp="1"/>
          </p:cNvSpPr>
          <p:nvPr/>
        </p:nvSpPr>
        <p:spPr>
          <a:xfrm xmlns:a="http://schemas.openxmlformats.org/drawingml/2006/main">
            <a:off x="5772150" y="1971675"/>
            <a:ext cx="5619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26374D"/>
                </a:solidFill>
                <a:latin typeface="Malgun Gothic"/>
                <a:ea typeface="Malgun Gothic"/>
                <a:cs typeface="Malgun Gothic"/>
              </a:defRPr>
            </a:pPr>
            <a:r>
              <a:rPr sz="2400" b="1">
                <a:solidFill>
                  <a:srgbClr val="26374D"/>
                </a:solidFill>
                <a:latin typeface="Malgun Gothic"/>
                <a:ea typeface="Malgun Gothic"/>
                <a:cs typeface="Malgun Gothic"/>
              </a:rPr>
              <a:t>Attack / 회전 눈꽃</a:t>
            </a:r>
          </a:p>
        </p:txBody>
      </p:sp>
      <p:sp>
        <p:nvSpPr>
          <p:cNvPr id="7" name="">
            <a:extLst xmlns:a="http://schemas.openxmlformats.org/drawingml/2006/main">
              <a:ext uri="{FF2B5EF4-FFF2-40B4-BE49-F238E27FC236}">
                <a16:creationId xmlns:a16="http://schemas.microsoft.com/office/drawing/2014/main" id="{AC4785F6-FA96-4877-8DB0-CDD6B267262C}"/>
              </a:ext>
            </a:extLst>
          </p:cNvPr>
          <p:cNvSpPr>
            <a:spLocks xmlns:a="http://schemas.openxmlformats.org/drawingml/2006/main" noGrp="1"/>
          </p:cNvSpPr>
          <p:nvPr/>
        </p:nvSpPr>
        <p:spPr>
          <a:xfrm xmlns:a="http://schemas.openxmlformats.org/drawingml/2006/main">
            <a:off x="5781675" y="2676525"/>
            <a:ext cx="5715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26374D"/>
                </a:solidFill>
                <a:latin typeface="Malgun Gothic"/>
                <a:ea typeface="Malgun Gothic"/>
                <a:cs typeface="Malgun Gothic"/>
              </a:defRPr>
            </a:pPr>
            <a:r>
              <a:rPr sz="1950" b="0">
                <a:solidFill>
                  <a:srgbClr val="26374D"/>
                </a:solidFill>
                <a:latin typeface="Malgun Gothic"/>
                <a:ea typeface="Malgun Gothic"/>
                <a:cs typeface="Malgun Gothic"/>
              </a:rPr>
              <a:t>날개를 들고 눈꽃이 몸 주변을 돈다.</a:t>
            </a:r>
          </a:p>
          <a:p xmlns:a="http://schemas.openxmlformats.org/drawingml/2006/main">
            <a:r>
              <a:t/>
            </a:r>
          </a:p>
          <a:p xmlns:a="http://schemas.openxmlformats.org/drawingml/2006/main">
            <a:pPr>
              <a:defRPr sz="1950" b="0">
                <a:solidFill>
                  <a:srgbClr val="26374D"/>
                </a:solidFill>
                <a:latin typeface="Malgun Gothic"/>
                <a:ea typeface="Malgun Gothic"/>
                <a:cs typeface="Malgun Gothic"/>
              </a:defRPr>
            </a:pPr>
            <a:r>
              <a:rPr sz="1950" b="0">
                <a:solidFill>
                  <a:srgbClr val="26374D"/>
                </a:solidFill>
                <a:latin typeface="Malgun Gothic"/>
                <a:ea typeface="Malgun Gothic"/>
                <a:cs typeface="Malgun Gothic"/>
              </a:rPr>
              <a:t>게임에서는 캐릭터와 눈꽃을 분리하고,</a:t>
            </a:r>
          </a:p>
          <a:p xmlns:a="http://schemas.openxmlformats.org/drawingml/2006/main">
            <a:pPr>
              <a:defRPr sz="1950" b="0">
                <a:solidFill>
                  <a:srgbClr val="26374D"/>
                </a:solidFill>
                <a:latin typeface="Malgun Gothic"/>
                <a:ea typeface="Malgun Gothic"/>
                <a:cs typeface="Malgun Gothic"/>
              </a:defRPr>
            </a:pPr>
            <a:r>
              <a:rPr sz="1950" b="0">
                <a:solidFill>
                  <a:srgbClr val="26374D"/>
                </a:solidFill>
                <a:latin typeface="Malgun Gothic"/>
                <a:ea typeface="Malgun Gothic"/>
                <a:cs typeface="Malgun Gothic"/>
              </a:rPr>
              <a:t>눈꽃의 실제 위치로 충돌을 계산한다.</a:t>
            </a:r>
          </a:p>
          <a:p xmlns:a="http://schemas.openxmlformats.org/drawingml/2006/main">
            <a:r>
              <a:t/>
            </a:r>
          </a:p>
          <a:p xmlns:a="http://schemas.openxmlformats.org/drawingml/2006/main">
            <a:pPr>
              <a:defRPr sz="1950" b="0">
                <a:solidFill>
                  <a:srgbClr val="26374D"/>
                </a:solidFill>
                <a:latin typeface="Malgun Gothic"/>
                <a:ea typeface="Malgun Gothic"/>
                <a:cs typeface="Malgun Gothic"/>
              </a:defRPr>
            </a:pPr>
            <a:r>
              <a:rPr sz="1950" b="0">
                <a:solidFill>
                  <a:srgbClr val="26374D"/>
                </a:solidFill>
                <a:latin typeface="Malgun Gothic"/>
                <a:ea typeface="Malgun Gothic"/>
                <a:cs typeface="Malgun Gothic"/>
              </a:rPr>
              <a:t>적중 반응 때문에 이동을 멈추지 않는다.</a:t>
            </a:r>
          </a:p>
        </p:txBody>
      </p:sp>
      <p:sp>
        <p:nvSpPr>
          <p:cNvPr id="8" name="">
            <a:extLst xmlns:a="http://schemas.openxmlformats.org/drawingml/2006/main">
              <a:ext uri="{FF2B5EF4-FFF2-40B4-BE49-F238E27FC236}">
                <a16:creationId xmlns:a16="http://schemas.microsoft.com/office/drawing/2014/main" id="{4ABEBDBB-3811-4B8B-9A9E-6DB2CDA97334}"/>
              </a:ext>
            </a:extLst>
          </p:cNvPr>
          <p:cNvSpPr>
            <a:spLocks xmlns:a="http://schemas.openxmlformats.org/drawingml/2006/main" noGrp="1"/>
          </p:cNvSpPr>
          <p:nvPr/>
        </p:nvSpPr>
        <p:spPr>
          <a:xfrm xmlns:a="http://schemas.openxmlformats.org/drawingml/2006/main">
            <a:off x="5781675" y="5286375"/>
            <a:ext cx="5524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617FA7"/>
                </a:solidFill>
                <a:latin typeface="Malgun Gothic"/>
                <a:ea typeface="Malgun Gothic"/>
                <a:cs typeface="Malgun Gothic"/>
              </a:defRPr>
            </a:pPr>
            <a:r>
              <a:rPr sz="1800" b="1">
                <a:solidFill>
                  <a:srgbClr val="617FA7"/>
                </a:solidFill>
                <a:latin typeface="Malgun Gothic"/>
                <a:ea typeface="Malgun Gothic"/>
                <a:cs typeface="Malgun Gothic"/>
              </a:rPr>
              <a:t>시안 GIF 1.44초 반복</a:t>
            </a:r>
          </a:p>
          <a:p xmlns:a="http://schemas.openxmlformats.org/drawingml/2006/main">
            <a:pPr>
              <a:defRPr sz="1800" b="1">
                <a:solidFill>
                  <a:srgbClr val="617FA7"/>
                </a:solidFill>
                <a:latin typeface="Malgun Gothic"/>
                <a:ea typeface="Malgun Gothic"/>
                <a:cs typeface="Malgun Gothic"/>
              </a:defRPr>
            </a:pPr>
            <a:r>
              <a:rPr sz="1800" b="1">
                <a:solidFill>
                  <a:srgbClr val="617FA7"/>
                </a:solidFill>
                <a:latin typeface="Malgun Gothic"/>
                <a:ea typeface="Malgun Gothic"/>
                <a:cs typeface="Malgun Gothic"/>
              </a:rPr>
              <a:t>게임 궤도 주기 2.4초는 별도 설정</a:t>
            </a:r>
          </a:p>
        </p:txBody>
      </p:sp>
    </p:spTree>
    <p:extLst>
      <p:ext uri="{BB962C8B-B14F-4D97-AF65-F5344CB8AC3E}">
        <p14:creationId xmlns:p14="http://schemas.microsoft.com/office/powerpoint/2010/main" val="702843926"/>
      </p:ext>
    </p:extLst>
  </p:cSld>
</p:sld>
</file>

<file path=ppt/slides/slide17.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8DD412E-F461-40B3-ACC6-D63818C98B7B}"/>
              </a:ext>
            </a:extLst>
          </p:cNvPr>
          <p:cNvSpPr>
            <a:spLocks xmlns:a="http://schemas.openxmlformats.org/drawingml/2006/main" noGrp="1"/>
          </p:cNvSpPr>
          <p:nvPr/>
        </p:nvSpPr>
        <p:spPr>
          <a:xfrm xmlns:a="http://schemas.openxmlformats.org/drawingml/2006/main">
            <a:off x="571500" y="40957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26374D"/>
                </a:solidFill>
                <a:latin typeface="Malgun Gothic"/>
                <a:ea typeface="Malgun Gothic"/>
                <a:cs typeface="Malgun Gothic"/>
              </a:defRPr>
            </a:pPr>
            <a:r>
              <a:rPr sz="3150" b="1">
                <a:solidFill>
                  <a:srgbClr val="26374D"/>
                </a:solidFill>
                <a:latin typeface="Malgun Gothic"/>
                <a:ea typeface="Malgun Gothic"/>
                <a:cs typeface="Malgun Gothic"/>
              </a:rPr>
              <a:t>펭귄 피격과 탈진</a:t>
            </a:r>
          </a:p>
        </p:txBody>
      </p:sp>
      <p:sp>
        <p:nvSpPr>
          <p:cNvPr id="2" name="">
            <a:extLst xmlns:a="http://schemas.openxmlformats.org/drawingml/2006/main">
              <a:ext uri="{FF2B5EF4-FFF2-40B4-BE49-F238E27FC236}">
                <a16:creationId xmlns:a16="http://schemas.microsoft.com/office/drawing/2014/main" id="{FD7B3697-09CB-41D4-A133-E1BE7E1C4863}"/>
              </a:ext>
            </a:extLst>
          </p:cNvPr>
          <p:cNvSpPr>
            <a:spLocks xmlns:a="http://schemas.openxmlformats.org/drawingml/2006/main" noGrp="1"/>
          </p:cNvSpPr>
          <p:nvPr/>
        </p:nvSpPr>
        <p:spPr>
          <a:xfrm xmlns:a="http://schemas.openxmlformats.org/drawingml/2006/main">
            <a:off x="590550" y="1104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피격은 짧게 회복하고, 탈진은 마지막 자세를 유지한다</a:t>
            </a:r>
          </a:p>
        </p:txBody>
      </p:sp>
      <p:sp>
        <p:nvSpPr>
          <p:cNvPr id="3" name="">
            <a:extLst xmlns:a="http://schemas.openxmlformats.org/drawingml/2006/main">
              <a:ext uri="{FF2B5EF4-FFF2-40B4-BE49-F238E27FC236}">
                <a16:creationId xmlns:a16="http://schemas.microsoft.com/office/drawing/2014/main" id="{D1FD846E-2199-461D-A7B3-B876041D03DD}"/>
              </a:ext>
            </a:extLst>
          </p:cNvPr>
          <p:cNvSpPr>
            <a:spLocks xmlns:a="http://schemas.openxmlformats.org/drawingml/2006/main" noGrp="1"/>
          </p:cNvSpPr>
          <p:nvPr/>
        </p:nvSpPr>
        <p:spPr>
          <a:xfrm xmlns:a="http://schemas.openxmlformats.org/drawingml/2006/main">
            <a:off x="590550" y="6496050"/>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68778C"/>
                </a:solidFill>
                <a:latin typeface="Malgun Gothic"/>
                <a:ea typeface="Malgun Gothic"/>
                <a:cs typeface="Malgun Gothic"/>
              </a:defRPr>
            </a:pPr>
            <a:r>
              <a:rPr sz="975" b="0">
                <a:solidFill>
                  <a:srgbClr val="68778C"/>
                </a:solidFill>
                <a:latin typeface="Malgun Gothic"/>
                <a:ea typeface="Malgun Gothic"/>
                <a:cs typeface="Malgun Gothic"/>
              </a:rPr>
              <a:t>동물 힐링 서바이벌 / 프로토타입 개발 기획 v0.2</a:t>
            </a:r>
          </a:p>
        </p:txBody>
      </p:sp>
      <p:sp>
        <p:nvSpPr>
          <p:cNvPr id="4" name="">
            <a:extLst xmlns:a="http://schemas.openxmlformats.org/drawingml/2006/main">
              <a:ext uri="{FF2B5EF4-FFF2-40B4-BE49-F238E27FC236}">
                <a16:creationId xmlns:a16="http://schemas.microsoft.com/office/drawing/2014/main" id="{6260E284-3D3C-4CB6-BC91-E35B88237BB6}"/>
              </a:ext>
            </a:extLst>
          </p:cNvPr>
          <p:cNvSpPr>
            <a:spLocks xmlns:a="http://schemas.openxmlformats.org/drawingml/2006/main" noGrp="1"/>
          </p:cNvSpPr>
          <p:nvPr/>
        </p:nvSpPr>
        <p:spPr>
          <a:xfrm xmlns:a="http://schemas.openxmlformats.org/drawingml/2006/main">
            <a:off x="11096625" y="64770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8778C"/>
                </a:solidFill>
                <a:latin typeface="Malgun Gothic"/>
                <a:ea typeface="Malgun Gothic"/>
                <a:cs typeface="Malgun Gothic"/>
              </a:defRPr>
            </a:pPr>
            <a:r>
              <a:rPr sz="1125" b="0">
                <a:solidFill>
                  <a:srgbClr val="68778C"/>
                </a:solidFill>
                <a:latin typeface="Malgun Gothic"/>
                <a:ea typeface="Malgun Gothic"/>
                <a:cs typeface="Malgun Gothic"/>
              </a:rPr>
              <a:t>17</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ccf2f3cd0e4437c"/>
          <a:stretch xmlns:a="http://schemas.openxmlformats.org/drawingml/2006/main"/>
        </p:blipFill>
        <p:spPr>
          <a:xfrm xmlns:a="http://schemas.openxmlformats.org/drawingml/2006/main">
            <a:off x="714375" y="1666875"/>
            <a:ext cx="3714750" cy="3714750"/>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73435ed1c85430f"/>
          <a:stretch xmlns:a="http://schemas.openxmlformats.org/drawingml/2006/main"/>
        </p:blipFill>
        <p:spPr>
          <a:xfrm xmlns:a="http://schemas.openxmlformats.org/drawingml/2006/main">
            <a:off x="6619875" y="1666875"/>
            <a:ext cx="3714750" cy="3714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7CD408B-AB4D-4F9C-94FB-E99AD6A38249}"/>
              </a:ext>
            </a:extLst>
          </p:cNvPr>
          <p:cNvSpPr>
            <a:spLocks xmlns:a="http://schemas.openxmlformats.org/drawingml/2006/main" noGrp="1"/>
          </p:cNvSpPr>
          <p:nvPr/>
        </p:nvSpPr>
        <p:spPr>
          <a:xfrm xmlns:a="http://schemas.openxmlformats.org/drawingml/2006/main">
            <a:off x="838200" y="5334000"/>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6374D"/>
                </a:solidFill>
                <a:latin typeface="Malgun Gothic"/>
                <a:ea typeface="Malgun Gothic"/>
                <a:cs typeface="Malgun Gothic"/>
              </a:defRPr>
            </a:pPr>
            <a:r>
              <a:rPr sz="2100" b="1">
                <a:solidFill>
                  <a:srgbClr val="26374D"/>
                </a:solidFill>
                <a:latin typeface="Malgun Gothic"/>
                <a:ea typeface="Malgun Gothic"/>
                <a:cs typeface="Malgun Gothic"/>
              </a:rPr>
              <a:t>Hit / 피격</a:t>
            </a:r>
          </a:p>
        </p:txBody>
      </p:sp>
      <p:sp>
        <p:nvSpPr>
          <p:cNvPr id="8" name="">
            <a:extLst xmlns:a="http://schemas.openxmlformats.org/drawingml/2006/main">
              <a:ext uri="{FF2B5EF4-FFF2-40B4-BE49-F238E27FC236}">
                <a16:creationId xmlns:a16="http://schemas.microsoft.com/office/drawing/2014/main" id="{FC86778D-BC6F-4A0A-8912-629298F0C62F}"/>
              </a:ext>
            </a:extLst>
          </p:cNvPr>
          <p:cNvSpPr>
            <a:spLocks xmlns:a="http://schemas.openxmlformats.org/drawingml/2006/main" noGrp="1"/>
          </p:cNvSpPr>
          <p:nvPr/>
        </p:nvSpPr>
        <p:spPr>
          <a:xfrm xmlns:a="http://schemas.openxmlformats.org/drawingml/2006/main">
            <a:off x="838200" y="5724525"/>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움찔한 뒤 균형 회복</a:t>
            </a:r>
          </a:p>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게임에서는 반응 0.15초, 무적 1초</a:t>
            </a:r>
          </a:p>
        </p:txBody>
      </p:sp>
      <p:sp>
        <p:nvSpPr>
          <p:cNvPr id="9" name="">
            <a:extLst xmlns:a="http://schemas.openxmlformats.org/drawingml/2006/main">
              <a:ext uri="{FF2B5EF4-FFF2-40B4-BE49-F238E27FC236}">
                <a16:creationId xmlns:a16="http://schemas.microsoft.com/office/drawing/2014/main" id="{6EECEFFB-5358-4FA8-BC5C-BE7B7ABB7DC5}"/>
              </a:ext>
            </a:extLst>
          </p:cNvPr>
          <p:cNvSpPr>
            <a:spLocks xmlns:a="http://schemas.openxmlformats.org/drawingml/2006/main" noGrp="1"/>
          </p:cNvSpPr>
          <p:nvPr/>
        </p:nvSpPr>
        <p:spPr>
          <a:xfrm xmlns:a="http://schemas.openxmlformats.org/drawingml/2006/main">
            <a:off x="6743700" y="5334000"/>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26374D"/>
                </a:solidFill>
                <a:latin typeface="Malgun Gothic"/>
                <a:ea typeface="Malgun Gothic"/>
                <a:cs typeface="Malgun Gothic"/>
              </a:defRPr>
            </a:pPr>
            <a:r>
              <a:rPr sz="2100" b="1">
                <a:solidFill>
                  <a:srgbClr val="26374D"/>
                </a:solidFill>
                <a:latin typeface="Malgun Gothic"/>
                <a:ea typeface="Malgun Gothic"/>
                <a:cs typeface="Malgun Gothic"/>
              </a:rPr>
              <a:t>Defeat / 탈진</a:t>
            </a:r>
          </a:p>
        </p:txBody>
      </p:sp>
      <p:sp>
        <p:nvSpPr>
          <p:cNvPr id="10" name="">
            <a:extLst xmlns:a="http://schemas.openxmlformats.org/drawingml/2006/main">
              <a:ext uri="{FF2B5EF4-FFF2-40B4-BE49-F238E27FC236}">
                <a16:creationId xmlns:a16="http://schemas.microsoft.com/office/drawing/2014/main" id="{1FD1391A-A68F-4FB1-A7BA-A19650BEDB18}"/>
              </a:ext>
            </a:extLst>
          </p:cNvPr>
          <p:cNvSpPr>
            <a:spLocks xmlns:a="http://schemas.openxmlformats.org/drawingml/2006/main" noGrp="1"/>
          </p:cNvSpPr>
          <p:nvPr/>
        </p:nvSpPr>
        <p:spPr>
          <a:xfrm xmlns:a="http://schemas.openxmlformats.org/drawingml/2006/main">
            <a:off x="6743700" y="5724525"/>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게임에서는 약 0.6초 후 결과 표시</a:t>
            </a:r>
          </a:p>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GIF 반복과 긴 정지는 미리보기용</a:t>
            </a:r>
          </a:p>
        </p:txBody>
      </p:sp>
    </p:spTree>
    <p:extLst>
      <p:ext uri="{BB962C8B-B14F-4D97-AF65-F5344CB8AC3E}">
        <p14:creationId xmlns:p14="http://schemas.microsoft.com/office/powerpoint/2010/main" val="90093697"/>
      </p:ext>
    </p:extLst>
  </p:cSld>
</p:sld>
</file>

<file path=ppt/slides/slide18.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438B042-DC09-4402-97E0-56C12808D92C}"/>
              </a:ext>
            </a:extLst>
          </p:cNvPr>
          <p:cNvSpPr>
            <a:spLocks xmlns:a="http://schemas.openxmlformats.org/drawingml/2006/main" noGrp="1"/>
          </p:cNvSpPr>
          <p:nvPr/>
        </p:nvSpPr>
        <p:spPr>
          <a:xfrm xmlns:a="http://schemas.openxmlformats.org/drawingml/2006/main">
            <a:off x="571500" y="40957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26374D"/>
                </a:solidFill>
                <a:latin typeface="Malgun Gothic"/>
                <a:ea typeface="Malgun Gothic"/>
                <a:cs typeface="Malgun Gothic"/>
              </a:defRPr>
            </a:pPr>
            <a:r>
              <a:rPr sz="3150" b="1">
                <a:solidFill>
                  <a:srgbClr val="26374D"/>
                </a:solidFill>
                <a:latin typeface="Malgun Gothic"/>
                <a:ea typeface="Malgun Gothic"/>
                <a:cs typeface="Malgun Gothic"/>
              </a:rPr>
              <a:t>애니메이션 상태 규칙</a:t>
            </a:r>
          </a:p>
        </p:txBody>
      </p:sp>
      <p:sp>
        <p:nvSpPr>
          <p:cNvPr id="2" name="">
            <a:extLst xmlns:a="http://schemas.openxmlformats.org/drawingml/2006/main">
              <a:ext uri="{FF2B5EF4-FFF2-40B4-BE49-F238E27FC236}">
                <a16:creationId xmlns:a16="http://schemas.microsoft.com/office/drawing/2014/main" id="{3ADF99E5-43B6-459C-8FCF-BE1596262C91}"/>
              </a:ext>
            </a:extLst>
          </p:cNvPr>
          <p:cNvSpPr>
            <a:spLocks xmlns:a="http://schemas.openxmlformats.org/drawingml/2006/main" noGrp="1"/>
          </p:cNvSpPr>
          <p:nvPr/>
        </p:nvSpPr>
        <p:spPr>
          <a:xfrm xmlns:a="http://schemas.openxmlformats.org/drawingml/2006/main">
            <a:off x="590550" y="1104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표현과 게임 상태가 어긋나지 않도록 전환 조건을 고정한다</a:t>
            </a:r>
          </a:p>
        </p:txBody>
      </p:sp>
      <p:sp>
        <p:nvSpPr>
          <p:cNvPr id="3" name="">
            <a:extLst xmlns:a="http://schemas.openxmlformats.org/drawingml/2006/main">
              <a:ext uri="{FF2B5EF4-FFF2-40B4-BE49-F238E27FC236}">
                <a16:creationId xmlns:a16="http://schemas.microsoft.com/office/drawing/2014/main" id="{08C19A07-7318-4DA1-875D-58F3E05F16F1}"/>
              </a:ext>
            </a:extLst>
          </p:cNvPr>
          <p:cNvSpPr>
            <a:spLocks xmlns:a="http://schemas.openxmlformats.org/drawingml/2006/main" noGrp="1"/>
          </p:cNvSpPr>
          <p:nvPr/>
        </p:nvSpPr>
        <p:spPr>
          <a:xfrm xmlns:a="http://schemas.openxmlformats.org/drawingml/2006/main">
            <a:off x="590550" y="6496050"/>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68778C"/>
                </a:solidFill>
                <a:latin typeface="Malgun Gothic"/>
                <a:ea typeface="Malgun Gothic"/>
                <a:cs typeface="Malgun Gothic"/>
              </a:defRPr>
            </a:pPr>
            <a:r>
              <a:rPr sz="975" b="0">
                <a:solidFill>
                  <a:srgbClr val="68778C"/>
                </a:solidFill>
                <a:latin typeface="Malgun Gothic"/>
                <a:ea typeface="Malgun Gothic"/>
                <a:cs typeface="Malgun Gothic"/>
              </a:rPr>
              <a:t>동물 힐링 서바이벌 / 프로토타입 개발 기획 v0.2</a:t>
            </a:r>
          </a:p>
        </p:txBody>
      </p:sp>
      <p:sp>
        <p:nvSpPr>
          <p:cNvPr id="4" name="">
            <a:extLst xmlns:a="http://schemas.openxmlformats.org/drawingml/2006/main">
              <a:ext uri="{FF2B5EF4-FFF2-40B4-BE49-F238E27FC236}">
                <a16:creationId xmlns:a16="http://schemas.microsoft.com/office/drawing/2014/main" id="{1F3283C4-3A11-4CAE-8F9C-534F321BAE2E}"/>
              </a:ext>
            </a:extLst>
          </p:cNvPr>
          <p:cNvSpPr>
            <a:spLocks xmlns:a="http://schemas.openxmlformats.org/drawingml/2006/main" noGrp="1"/>
          </p:cNvSpPr>
          <p:nvPr/>
        </p:nvSpPr>
        <p:spPr>
          <a:xfrm xmlns:a="http://schemas.openxmlformats.org/drawingml/2006/main">
            <a:off x="11096625" y="64770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8778C"/>
                </a:solidFill>
                <a:latin typeface="Malgun Gothic"/>
                <a:ea typeface="Malgun Gothic"/>
                <a:cs typeface="Malgun Gothic"/>
              </a:defRPr>
            </a:pPr>
            <a:r>
              <a:rPr sz="1125" b="0">
                <a:solidFill>
                  <a:srgbClr val="68778C"/>
                </a:solidFill>
                <a:latin typeface="Malgun Gothic"/>
                <a:ea typeface="Malgun Gothic"/>
                <a:cs typeface="Malgun Gothic"/>
              </a:rPr>
              <a:t>18</a:t>
            </a:r>
          </a:p>
        </p:txBody>
      </p:sp>
      <p:graphicFrame>
        <p:nvGraphicFramePr>
          <p:cNvPr id="10" name=""/>
          <p:cNvGraphicFramePr/>
          <p:nvPr/>
        </p:nvGraphicFramePr>
        <p:xfrm>
          <a:off xmlns:a="http://schemas.openxmlformats.org/drawingml/2006/main" x="590550" y="1762125"/>
          <a:ext xmlns:a="http://schemas.openxmlformats.org/drawingml/2006/main" cx="11010900" cy="4000500"/>
        </p:xfrm>
        <a:graphic xmlns:a="http://schemas.openxmlformats.org/drawingml/2006/main">
          <a:graphicData uri="http://schemas.openxmlformats.org/drawingml/2006/table">
            <a:tbl>
              <a:tblPr/>
              <a:tblGrid>
                <a:gridCol w="1809750"/>
                <a:gridCol w="3810000"/>
                <a:gridCol w="5391150"/>
              </a:tblGrid>
              <a:tr h="571500">
                <a:tc>
                  <a:txBody>
                    <a:bodyPr lIns="123825" tIns="66675" rIns="123825" bIns="66675">
                      <a:noAutofit/>
                    </a:bodyPr>
                    <a:lstStyle/>
                    <a:p>
                      <a:r>
                        <a:rPr sz="1725" b="1">
                          <a:solidFill>
                            <a:srgbClr val="FFFFFF"/>
                          </a:solidFill>
                          <a:latin typeface="Malgun Gothic"/>
                          <a:ea typeface="Malgun Gothic"/>
                          <a:cs typeface="Malgun Gothic"/>
                        </a:rPr>
                        <a:t>상태</a:t>
                      </a:r>
                    </a:p>
                  </a:txBody>
                  <a:tcPr marL="91440" marR="91440" marT="45720" marB="45720" anchor="ctr">
                    <a:solidFill>
                      <a:srgbClr val="26374D"/>
                    </a:solidFill>
                  </a:tcPr>
                </a:tc>
                <a:tc>
                  <a:txBody>
                    <a:bodyPr lIns="123825" tIns="66675" rIns="123825" bIns="66675">
                      <a:noAutofit/>
                    </a:bodyPr>
                    <a:lstStyle/>
                    <a:p>
                      <a:r>
                        <a:rPr sz="1725" b="1">
                          <a:solidFill>
                            <a:srgbClr val="FFFFFF"/>
                          </a:solidFill>
                          <a:latin typeface="Malgun Gothic"/>
                          <a:ea typeface="Malgun Gothic"/>
                          <a:cs typeface="Malgun Gothic"/>
                        </a:rPr>
                        <a:t>재생 조건</a:t>
                      </a:r>
                    </a:p>
                  </a:txBody>
                  <a:tcPr marL="91440" marR="91440" marT="45720" marB="45720" anchor="ctr">
                    <a:solidFill>
                      <a:srgbClr val="26374D"/>
                    </a:solidFill>
                  </a:tcPr>
                </a:tc>
                <a:tc>
                  <a:txBody>
                    <a:bodyPr lIns="123825" tIns="66675" rIns="123825" bIns="66675">
                      <a:noAutofit/>
                    </a:bodyPr>
                    <a:lstStyle/>
                    <a:p>
                      <a:r>
                        <a:rPr sz="1725" b="1">
                          <a:solidFill>
                            <a:srgbClr val="FFFFFF"/>
                          </a:solidFill>
                          <a:latin typeface="Malgun Gothic"/>
                          <a:ea typeface="Malgun Gothic"/>
                          <a:cs typeface="Malgun Gothic"/>
                        </a:rPr>
                        <a:t>개발 규칙</a:t>
                      </a:r>
                    </a:p>
                  </a:txBody>
                  <a:tcPr marL="91440" marR="91440" marT="45720" marB="45720" anchor="ctr">
                    <a:solidFill>
                      <a:srgbClr val="26374D"/>
                    </a:solidFill>
                  </a:tcPr>
                </a:tc>
              </a:tr>
              <a:tr h="571500">
                <a:tc>
                  <a:txBody>
                    <a:bodyPr lIns="123825" tIns="66675" rIns="123825" bIns="66675">
                      <a:noAutofit/>
                    </a:bodyPr>
                    <a:lstStyle/>
                    <a:p>
                      <a:r>
                        <a:rPr sz="1725" b="0">
                          <a:solidFill>
                            <a:srgbClr val="26374D"/>
                          </a:solidFill>
                          <a:latin typeface="Malgun Gothic"/>
                          <a:ea typeface="Malgun Gothic"/>
                          <a:cs typeface="Malgun Gothic"/>
                        </a:rPr>
                        <a:t>대기</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실제 이동량 0</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호흡·눈 깜박임 반복</a:t>
                      </a:r>
                    </a:p>
                  </a:txBody>
                  <a:tcPr marL="91440" marR="91440" marT="45720" marB="45720" anchor="ctr">
                    <a:solidFill>
                      <a:srgbClr val="E9EFF6"/>
                    </a:solidFill>
                  </a:tcPr>
                </a:tc>
              </a:tr>
              <a:tr h="571500">
                <a:tc>
                  <a:txBody>
                    <a:bodyPr lIns="123825" tIns="66675" rIns="123825" bIns="66675">
                      <a:noAutofit/>
                    </a:bodyPr>
                    <a:lstStyle/>
                    <a:p>
                      <a:r>
                        <a:rPr sz="1725" b="0">
                          <a:solidFill>
                            <a:srgbClr val="26374D"/>
                          </a:solidFill>
                          <a:latin typeface="Malgun Gothic"/>
                          <a:ea typeface="Malgun Gothic"/>
                          <a:cs typeface="Malgun Gothic"/>
                        </a:rPr>
                        <a:t>이동</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실제 위치 변화 발생</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벽에 막혔을 때 발만 걷지 않음</a:t>
                      </a:r>
                    </a:p>
                  </a:txBody>
                  <a:tcPr marL="91440" marR="91440" marT="45720" marB="45720" anchor="ctr">
                    <a:solidFill>
                      <a:srgbClr val="F2F5F9"/>
                    </a:solidFill>
                  </a:tcPr>
                </a:tc>
              </a:tr>
              <a:tr h="571500">
                <a:tc>
                  <a:txBody>
                    <a:bodyPr lIns="123825" tIns="66675" rIns="123825" bIns="66675">
                      <a:noAutofit/>
                    </a:bodyPr>
                    <a:lstStyle/>
                    <a:p>
                      <a:r>
                        <a:rPr sz="1725" b="0">
                          <a:solidFill>
                            <a:srgbClr val="26374D"/>
                          </a:solidFill>
                          <a:latin typeface="Malgun Gothic"/>
                          <a:ea typeface="Malgun Gothic"/>
                          <a:cs typeface="Malgun Gothic"/>
                        </a:rPr>
                        <a:t>공격</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각 공격 타이머 충족</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이동 동작과 함께 재생, 입력 잠금 없음</a:t>
                      </a:r>
                    </a:p>
                  </a:txBody>
                  <a:tcPr marL="91440" marR="91440" marT="45720" marB="45720" anchor="ctr">
                    <a:solidFill>
                      <a:srgbClr val="E9EFF6"/>
                    </a:solidFill>
                  </a:tcPr>
                </a:tc>
              </a:tr>
              <a:tr h="571500">
                <a:tc>
                  <a:txBody>
                    <a:bodyPr lIns="123825" tIns="66675" rIns="123825" bIns="66675">
                      <a:noAutofit/>
                    </a:bodyPr>
                    <a:lstStyle/>
                    <a:p>
                      <a:r>
                        <a:rPr sz="1725" b="0">
                          <a:solidFill>
                            <a:srgbClr val="26374D"/>
                          </a:solidFill>
                          <a:latin typeface="Malgun Gothic"/>
                          <a:ea typeface="Malgun Gothic"/>
                          <a:cs typeface="Malgun Gothic"/>
                        </a:rPr>
                        <a:t>피격</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무적이 아닐 때 접촉</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짧은 반응 후 복귀, 반투명으로 무적 표시</a:t>
                      </a:r>
                    </a:p>
                  </a:txBody>
                  <a:tcPr marL="91440" marR="91440" marT="45720" marB="45720" anchor="ctr">
                    <a:solidFill>
                      <a:srgbClr val="F2F5F9"/>
                    </a:solidFill>
                  </a:tcPr>
                </a:tc>
              </a:tr>
              <a:tr h="571500">
                <a:tc>
                  <a:txBody>
                    <a:bodyPr lIns="123825" tIns="66675" rIns="123825" bIns="66675">
                      <a:noAutofit/>
                    </a:bodyPr>
                    <a:lstStyle/>
                    <a:p>
                      <a:r>
                        <a:rPr sz="1725" b="0">
                          <a:solidFill>
                            <a:srgbClr val="26374D"/>
                          </a:solidFill>
                          <a:latin typeface="Malgun Gothic"/>
                          <a:ea typeface="Malgun Gothic"/>
                          <a:cs typeface="Malgun Gothic"/>
                        </a:rPr>
                        <a:t>탈진</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체력 0</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최우선 전환, 마지막 포즈 유지</a:t>
                      </a:r>
                    </a:p>
                  </a:txBody>
                  <a:tcPr marL="91440" marR="91440" marT="45720" marB="45720" anchor="ctr">
                    <a:solidFill>
                      <a:srgbClr val="E9EFF6"/>
                    </a:solidFill>
                  </a:tcPr>
                </a:tc>
              </a:tr>
              <a:tr h="571500">
                <a:tc>
                  <a:txBody>
                    <a:bodyPr lIns="123825" tIns="66675" rIns="123825" bIns="66675">
                      <a:noAutofit/>
                    </a:bodyPr>
                    <a:lstStyle/>
                    <a:p>
                      <a:r>
                        <a:rPr sz="1725" b="0">
                          <a:solidFill>
                            <a:srgbClr val="26374D"/>
                          </a:solidFill>
                          <a:latin typeface="Malgun Gothic"/>
                          <a:ea typeface="Malgun Gothic"/>
                          <a:cs typeface="Malgun Gothic"/>
                        </a:rPr>
                        <a:t>선택 반응</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인트로 카드 선택</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약 0.5초, 기존 포즈 재사용 가능</a:t>
                      </a:r>
                    </a:p>
                  </a:txBody>
                  <a:tcPr marL="91440" marR="91440" marT="45720" marB="45720" anchor="ctr">
                    <a:solidFill>
                      <a:srgbClr val="F2F5F9"/>
                    </a:solidFill>
                  </a:tcPr>
                </a:tc>
              </a:tr>
            </a:tbl>
          </a:graphicData>
        </a:graphic>
      </p:graphicFrame>
    </p:spTree>
    <p:extLst>
      <p:ext uri="{BB962C8B-B14F-4D97-AF65-F5344CB8AC3E}">
        <p14:creationId xmlns:p14="http://schemas.microsoft.com/office/powerpoint/2010/main" val="648524819"/>
      </p:ext>
    </p:extLst>
  </p:cSld>
</p:sld>
</file>

<file path=ppt/slides/slide19.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0F5D2FC-02E2-4FB7-860B-099419D1214D}"/>
              </a:ext>
            </a:extLst>
          </p:cNvPr>
          <p:cNvSpPr>
            <a:spLocks xmlns:a="http://schemas.openxmlformats.org/drawingml/2006/main" noGrp="1"/>
          </p:cNvSpPr>
          <p:nvPr/>
        </p:nvSpPr>
        <p:spPr>
          <a:xfrm xmlns:a="http://schemas.openxmlformats.org/drawingml/2006/main">
            <a:off x="571500" y="40957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26374D"/>
                </a:solidFill>
                <a:latin typeface="Malgun Gothic"/>
                <a:ea typeface="Malgun Gothic"/>
                <a:cs typeface="Malgun Gothic"/>
              </a:defRPr>
            </a:pPr>
            <a:r>
              <a:rPr sz="3150" b="1">
                <a:solidFill>
                  <a:srgbClr val="26374D"/>
                </a:solidFill>
                <a:latin typeface="Malgun Gothic"/>
                <a:ea typeface="Malgun Gothic"/>
                <a:cs typeface="Malgun Gothic"/>
              </a:rPr>
              <a:t>카피바라와 고양이의 동작 제작</a:t>
            </a:r>
          </a:p>
        </p:txBody>
      </p:sp>
      <p:sp>
        <p:nvSpPr>
          <p:cNvPr id="2" name="">
            <a:extLst xmlns:a="http://schemas.openxmlformats.org/drawingml/2006/main">
              <a:ext uri="{FF2B5EF4-FFF2-40B4-BE49-F238E27FC236}">
                <a16:creationId xmlns:a16="http://schemas.microsoft.com/office/drawing/2014/main" id="{693E768A-47C9-42E2-997F-2F8197EE9F81}"/>
              </a:ext>
            </a:extLst>
          </p:cNvPr>
          <p:cNvSpPr>
            <a:spLocks xmlns:a="http://schemas.openxmlformats.org/drawingml/2006/main" noGrp="1"/>
          </p:cNvSpPr>
          <p:nvPr/>
        </p:nvSpPr>
        <p:spPr>
          <a:xfrm xmlns:a="http://schemas.openxmlformats.org/drawingml/2006/main">
            <a:off x="590550" y="1104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펭귄 GIF의 상태 구분을 공유하고 동물별 몸짓을 다르게 만든다</a:t>
            </a:r>
          </a:p>
        </p:txBody>
      </p:sp>
      <p:sp>
        <p:nvSpPr>
          <p:cNvPr id="3" name="">
            <a:extLst xmlns:a="http://schemas.openxmlformats.org/drawingml/2006/main">
              <a:ext uri="{FF2B5EF4-FFF2-40B4-BE49-F238E27FC236}">
                <a16:creationId xmlns:a16="http://schemas.microsoft.com/office/drawing/2014/main" id="{C518A4DD-C7F2-463B-86C4-6ADDE65F572C}"/>
              </a:ext>
            </a:extLst>
          </p:cNvPr>
          <p:cNvSpPr>
            <a:spLocks xmlns:a="http://schemas.openxmlformats.org/drawingml/2006/main" noGrp="1"/>
          </p:cNvSpPr>
          <p:nvPr/>
        </p:nvSpPr>
        <p:spPr>
          <a:xfrm xmlns:a="http://schemas.openxmlformats.org/drawingml/2006/main">
            <a:off x="590550" y="6496050"/>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68778C"/>
                </a:solidFill>
                <a:latin typeface="Malgun Gothic"/>
                <a:ea typeface="Malgun Gothic"/>
                <a:cs typeface="Malgun Gothic"/>
              </a:defRPr>
            </a:pPr>
            <a:r>
              <a:rPr sz="975" b="0">
                <a:solidFill>
                  <a:srgbClr val="68778C"/>
                </a:solidFill>
                <a:latin typeface="Malgun Gothic"/>
                <a:ea typeface="Malgun Gothic"/>
                <a:cs typeface="Malgun Gothic"/>
              </a:rPr>
              <a:t>동물 힐링 서바이벌 / 프로토타입 개발 기획 v0.2</a:t>
            </a:r>
          </a:p>
        </p:txBody>
      </p:sp>
      <p:sp>
        <p:nvSpPr>
          <p:cNvPr id="4" name="">
            <a:extLst xmlns:a="http://schemas.openxmlformats.org/drawingml/2006/main">
              <a:ext uri="{FF2B5EF4-FFF2-40B4-BE49-F238E27FC236}">
                <a16:creationId xmlns:a16="http://schemas.microsoft.com/office/drawing/2014/main" id="{6BF79CFF-6C5B-40F3-9952-5321467B4A80}"/>
              </a:ext>
            </a:extLst>
          </p:cNvPr>
          <p:cNvSpPr>
            <a:spLocks xmlns:a="http://schemas.openxmlformats.org/drawingml/2006/main" noGrp="1"/>
          </p:cNvSpPr>
          <p:nvPr/>
        </p:nvSpPr>
        <p:spPr>
          <a:xfrm xmlns:a="http://schemas.openxmlformats.org/drawingml/2006/main">
            <a:off x="11096625" y="64770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8778C"/>
                </a:solidFill>
                <a:latin typeface="Malgun Gothic"/>
                <a:ea typeface="Malgun Gothic"/>
                <a:cs typeface="Malgun Gothic"/>
              </a:defRPr>
            </a:pPr>
            <a:r>
              <a:rPr sz="1125" b="0">
                <a:solidFill>
                  <a:srgbClr val="68778C"/>
                </a:solidFill>
                <a:latin typeface="Malgun Gothic"/>
                <a:ea typeface="Malgun Gothic"/>
                <a:cs typeface="Malgun Gothic"/>
              </a:rPr>
              <a:t>19</a:t>
            </a:r>
          </a:p>
        </p:txBody>
      </p:sp>
      <p:graphicFrame>
        <p:nvGraphicFramePr>
          <p:cNvPr id="11" name=""/>
          <p:cNvGraphicFramePr/>
          <p:nvPr/>
        </p:nvGraphicFramePr>
        <p:xfrm>
          <a:off xmlns:a="http://schemas.openxmlformats.org/drawingml/2006/main" x="590550" y="1762125"/>
          <a:ext xmlns:a="http://schemas.openxmlformats.org/drawingml/2006/main" cx="11010900" cy="3810000"/>
        </p:xfrm>
        <a:graphic xmlns:a="http://schemas.openxmlformats.org/drawingml/2006/main">
          <a:graphicData uri="http://schemas.openxmlformats.org/drawingml/2006/table">
            <a:tbl>
              <a:tblPr/>
              <a:tblGrid>
                <a:gridCol w="1676400"/>
                <a:gridCol w="4667250"/>
                <a:gridCol w="4667250"/>
              </a:tblGrid>
              <a:tr h="635000">
                <a:tc>
                  <a:txBody>
                    <a:bodyPr lIns="123825" tIns="66675" rIns="123825" bIns="66675">
                      <a:noAutofit/>
                    </a:bodyPr>
                    <a:lstStyle/>
                    <a:p>
                      <a:r>
                        <a:rPr sz="1725" b="1">
                          <a:solidFill>
                            <a:srgbClr val="FFFFFF"/>
                          </a:solidFill>
                          <a:latin typeface="Malgun Gothic"/>
                          <a:ea typeface="Malgun Gothic"/>
                          <a:cs typeface="Malgun Gothic"/>
                        </a:rPr>
                        <a:t>상태</a:t>
                      </a:r>
                    </a:p>
                  </a:txBody>
                  <a:tcPr marL="91440" marR="91440" marT="45720" marB="45720" anchor="ctr">
                    <a:solidFill>
                      <a:srgbClr val="26374D"/>
                    </a:solidFill>
                  </a:tcPr>
                </a:tc>
                <a:tc>
                  <a:txBody>
                    <a:bodyPr lIns="123825" tIns="66675" rIns="123825" bIns="66675">
                      <a:noAutofit/>
                    </a:bodyPr>
                    <a:lstStyle/>
                    <a:p>
                      <a:r>
                        <a:rPr sz="1725" b="1">
                          <a:solidFill>
                            <a:srgbClr val="FFFFFF"/>
                          </a:solidFill>
                          <a:latin typeface="Malgun Gothic"/>
                          <a:ea typeface="Malgun Gothic"/>
                          <a:cs typeface="Malgun Gothic"/>
                        </a:rPr>
                        <a:t>카피바라</a:t>
                      </a:r>
                    </a:p>
                  </a:txBody>
                  <a:tcPr marL="91440" marR="91440" marT="45720" marB="45720" anchor="ctr">
                    <a:solidFill>
                      <a:srgbClr val="26374D"/>
                    </a:solidFill>
                  </a:tcPr>
                </a:tc>
                <a:tc>
                  <a:txBody>
                    <a:bodyPr lIns="123825" tIns="66675" rIns="123825" bIns="66675">
                      <a:noAutofit/>
                    </a:bodyPr>
                    <a:lstStyle/>
                    <a:p>
                      <a:r>
                        <a:rPr sz="1725" b="1">
                          <a:solidFill>
                            <a:srgbClr val="FFFFFF"/>
                          </a:solidFill>
                          <a:latin typeface="Malgun Gothic"/>
                          <a:ea typeface="Malgun Gothic"/>
                          <a:cs typeface="Malgun Gothic"/>
                        </a:rPr>
                        <a:t>고양이</a:t>
                      </a:r>
                    </a:p>
                  </a:txBody>
                  <a:tcPr marL="91440" marR="91440" marT="45720" marB="45720" anchor="ctr">
                    <a:solidFill>
                      <a:srgbClr val="26374D"/>
                    </a:solidFill>
                  </a:tcPr>
                </a:tc>
              </a:tr>
              <a:tr h="635000">
                <a:tc>
                  <a:txBody>
                    <a:bodyPr lIns="123825" tIns="66675" rIns="123825" bIns="66675">
                      <a:noAutofit/>
                    </a:bodyPr>
                    <a:lstStyle/>
                    <a:p>
                      <a:r>
                        <a:rPr sz="1725" b="0">
                          <a:solidFill>
                            <a:srgbClr val="26374D"/>
                          </a:solidFill>
                          <a:latin typeface="Malgun Gothic"/>
                          <a:ea typeface="Malgun Gothic"/>
                          <a:cs typeface="Malgun Gothic"/>
                        </a:rPr>
                        <a:t>대기·이동</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느긋한 상하 운동, 유자가 뒤따라 흔들림</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사뿐한 발걸음, 꼬리와 가방 흔들림</a:t>
                      </a:r>
                    </a:p>
                  </a:txBody>
                  <a:tcPr marL="91440" marR="91440" marT="45720" marB="45720" anchor="ctr">
                    <a:solidFill>
                      <a:srgbClr val="E9EFF6"/>
                    </a:solidFill>
                  </a:tcPr>
                </a:tc>
              </a:tr>
              <a:tr h="635000">
                <a:tc>
                  <a:txBody>
                    <a:bodyPr lIns="123825" tIns="66675" rIns="123825" bIns="66675">
                      <a:noAutofit/>
                    </a:bodyPr>
                    <a:lstStyle/>
                    <a:p>
                      <a:r>
                        <a:rPr sz="1725" b="0">
                          <a:solidFill>
                            <a:srgbClr val="26374D"/>
                          </a:solidFill>
                          <a:latin typeface="Malgun Gothic"/>
                          <a:ea typeface="Malgun Gothic"/>
                          <a:cs typeface="Malgun Gothic"/>
                        </a:rPr>
                        <a:t>공격</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방울을 모으며 몸이 살짝 부풀었다 복귀</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앞발로 편지를 가볍게 보내기</a:t>
                      </a:r>
                    </a:p>
                  </a:txBody>
                  <a:tcPr marL="91440" marR="91440" marT="45720" marB="45720" anchor="ctr">
                    <a:solidFill>
                      <a:srgbClr val="F2F5F9"/>
                    </a:solidFill>
                  </a:tcPr>
                </a:tc>
              </a:tr>
              <a:tr h="635000">
                <a:tc>
                  <a:txBody>
                    <a:bodyPr lIns="123825" tIns="66675" rIns="123825" bIns="66675">
                      <a:noAutofit/>
                    </a:bodyPr>
                    <a:lstStyle/>
                    <a:p>
                      <a:r>
                        <a:rPr sz="1725" b="0">
                          <a:solidFill>
                            <a:srgbClr val="26374D"/>
                          </a:solidFill>
                          <a:latin typeface="Malgun Gothic"/>
                          <a:ea typeface="Malgun Gothic"/>
                          <a:cs typeface="Malgun Gothic"/>
                        </a:rPr>
                        <a:t>피격</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짧게 움찔한 뒤 자세 회복</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귀를 접고 짧게 움찔한 뒤 복귀</a:t>
                      </a:r>
                    </a:p>
                  </a:txBody>
                  <a:tcPr marL="91440" marR="91440" marT="45720" marB="45720" anchor="ctr">
                    <a:solidFill>
                      <a:srgbClr val="E9EFF6"/>
                    </a:solidFill>
                  </a:tcPr>
                </a:tc>
              </a:tr>
              <a:tr h="635000">
                <a:tc>
                  <a:txBody>
                    <a:bodyPr lIns="123825" tIns="66675" rIns="123825" bIns="66675">
                      <a:noAutofit/>
                    </a:bodyPr>
                    <a:lstStyle/>
                    <a:p>
                      <a:r>
                        <a:rPr sz="1725" b="0">
                          <a:solidFill>
                            <a:srgbClr val="26374D"/>
                          </a:solidFill>
                          <a:latin typeface="Malgun Gothic"/>
                          <a:ea typeface="Malgun Gothic"/>
                          <a:cs typeface="Malgun Gothic"/>
                        </a:rPr>
                        <a:t>탈진</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다리를 접고 앉아 눈을 감음</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몸을 둥글게 말고 앉음</a:t>
                      </a:r>
                    </a:p>
                  </a:txBody>
                  <a:tcPr marL="91440" marR="91440" marT="45720" marB="45720" anchor="ctr">
                    <a:solidFill>
                      <a:srgbClr val="F2F5F9"/>
                    </a:solidFill>
                  </a:tcPr>
                </a:tc>
              </a:tr>
              <a:tr h="635000">
                <a:tc>
                  <a:txBody>
                    <a:bodyPr lIns="123825" tIns="66675" rIns="123825" bIns="66675">
                      <a:noAutofit/>
                    </a:bodyPr>
                    <a:lstStyle/>
                    <a:p>
                      <a:r>
                        <a:rPr sz="1725" b="0">
                          <a:solidFill>
                            <a:srgbClr val="26374D"/>
                          </a:solidFill>
                          <a:latin typeface="Malgun Gothic"/>
                          <a:ea typeface="Malgun Gothic"/>
                          <a:cs typeface="Malgun Gothic"/>
                        </a:rPr>
                        <a:t>제작 상태</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외형 시안 있음, 동작 프레임 제작 필요</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외형 시안 있음, 동작 프레임 제작 필요</a:t>
                      </a:r>
                    </a:p>
                  </a:txBody>
                  <a:tcPr marL="91440" marR="91440" marT="45720" marB="45720" anchor="ctr">
                    <a:solidFill>
                      <a:srgbClr val="E9EFF6"/>
                    </a:solidFill>
                  </a:tcPr>
                </a:tc>
              </a:tr>
            </a:tbl>
          </a:graphicData>
        </a:graphic>
      </p:graphicFrame>
      <p:sp>
        <p:nvSpPr>
          <p:cNvPr id="6" name="">
            <a:extLst xmlns:a="http://schemas.openxmlformats.org/drawingml/2006/main">
              <a:ext uri="{FF2B5EF4-FFF2-40B4-BE49-F238E27FC236}">
                <a16:creationId xmlns:a16="http://schemas.microsoft.com/office/drawing/2014/main" id="{CAB3912E-B56E-425B-ACA9-A3069BD03A0F}"/>
              </a:ext>
            </a:extLst>
          </p:cNvPr>
          <p:cNvSpPr>
            <a:spLocks xmlns:a="http://schemas.openxmlformats.org/drawingml/2006/main" noGrp="1"/>
          </p:cNvSpPr>
          <p:nvPr/>
        </p:nvSpPr>
        <p:spPr>
          <a:xfrm xmlns:a="http://schemas.openxmlformats.org/drawingml/2006/main">
            <a:off x="609600" y="58578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7FA7"/>
                </a:solidFill>
                <a:latin typeface="Malgun Gothic"/>
                <a:ea typeface="Malgun Gothic"/>
                <a:cs typeface="Malgun Gothic"/>
              </a:defRPr>
            </a:pPr>
            <a:r>
              <a:rPr sz="1650" b="1">
                <a:solidFill>
                  <a:srgbClr val="617FA7"/>
                </a:solidFill>
                <a:latin typeface="Malgun Gothic"/>
                <a:ea typeface="Malgun Gothic"/>
                <a:cs typeface="Malgun Gothic"/>
              </a:rPr>
              <a:t>주인공 표시 높이 56~64px. 좌우는 반전하고, 부속물 전체에 피격 판정을 주지 않는다.</a:t>
            </a:r>
          </a:p>
        </p:txBody>
      </p:sp>
    </p:spTree>
    <p:extLst>
      <p:ext uri="{BB962C8B-B14F-4D97-AF65-F5344CB8AC3E}">
        <p14:creationId xmlns:p14="http://schemas.microsoft.com/office/powerpoint/2010/main" val="1867258008"/>
      </p:ext>
    </p:extLst>
  </p:cSld>
</p:sld>
</file>

<file path=ppt/slides/slide20.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2860258-676D-4140-9455-B4F2D341EB92}"/>
              </a:ext>
            </a:extLst>
          </p:cNvPr>
          <p:cNvSpPr>
            <a:spLocks xmlns:a="http://schemas.openxmlformats.org/drawingml/2006/main" noGrp="1"/>
          </p:cNvSpPr>
          <p:nvPr/>
        </p:nvSpPr>
        <p:spPr>
          <a:xfrm xmlns:a="http://schemas.openxmlformats.org/drawingml/2006/main">
            <a:off x="571500" y="40957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26374D"/>
                </a:solidFill>
                <a:latin typeface="Malgun Gothic"/>
                <a:ea typeface="Malgun Gothic"/>
                <a:cs typeface="Malgun Gothic"/>
              </a:defRPr>
            </a:pPr>
            <a:r>
              <a:rPr sz="3150" b="1">
                <a:solidFill>
                  <a:srgbClr val="26374D"/>
                </a:solidFill>
                <a:latin typeface="Malgun Gothic"/>
                <a:ea typeface="Malgun Gothic"/>
                <a:cs typeface="Malgun Gothic"/>
              </a:rPr>
              <a:t>전투 이펙트와 환경 움직임</a:t>
            </a:r>
          </a:p>
        </p:txBody>
      </p:sp>
      <p:sp>
        <p:nvSpPr>
          <p:cNvPr id="2" name="">
            <a:extLst xmlns:a="http://schemas.openxmlformats.org/drawingml/2006/main">
              <a:ext uri="{FF2B5EF4-FFF2-40B4-BE49-F238E27FC236}">
                <a16:creationId xmlns:a16="http://schemas.microsoft.com/office/drawing/2014/main" id="{DDE04315-572C-43E0-BEE2-1B73D3459C59}"/>
              </a:ext>
            </a:extLst>
          </p:cNvPr>
          <p:cNvSpPr>
            <a:spLocks xmlns:a="http://schemas.openxmlformats.org/drawingml/2006/main" noGrp="1"/>
          </p:cNvSpPr>
          <p:nvPr/>
        </p:nvSpPr>
        <p:spPr>
          <a:xfrm xmlns:a="http://schemas.openxmlformats.org/drawingml/2006/main">
            <a:off x="590550" y="1104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적의 위치와 피격 상태가 효과에 가려지지 않게 한다</a:t>
            </a:r>
          </a:p>
        </p:txBody>
      </p:sp>
      <p:sp>
        <p:nvSpPr>
          <p:cNvPr id="3" name="">
            <a:extLst xmlns:a="http://schemas.openxmlformats.org/drawingml/2006/main">
              <a:ext uri="{FF2B5EF4-FFF2-40B4-BE49-F238E27FC236}">
                <a16:creationId xmlns:a16="http://schemas.microsoft.com/office/drawing/2014/main" id="{6E21D743-E7F3-4AE3-BCB0-8D7034B09D34}"/>
              </a:ext>
            </a:extLst>
          </p:cNvPr>
          <p:cNvSpPr>
            <a:spLocks xmlns:a="http://schemas.openxmlformats.org/drawingml/2006/main" noGrp="1"/>
          </p:cNvSpPr>
          <p:nvPr/>
        </p:nvSpPr>
        <p:spPr>
          <a:xfrm xmlns:a="http://schemas.openxmlformats.org/drawingml/2006/main">
            <a:off x="590550" y="6496050"/>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68778C"/>
                </a:solidFill>
                <a:latin typeface="Malgun Gothic"/>
                <a:ea typeface="Malgun Gothic"/>
                <a:cs typeface="Malgun Gothic"/>
              </a:defRPr>
            </a:pPr>
            <a:r>
              <a:rPr sz="975" b="0">
                <a:solidFill>
                  <a:srgbClr val="68778C"/>
                </a:solidFill>
                <a:latin typeface="Malgun Gothic"/>
                <a:ea typeface="Malgun Gothic"/>
                <a:cs typeface="Malgun Gothic"/>
              </a:rPr>
              <a:t>동물 힐링 서바이벌 / 프로토타입 개발 기획 v0.2</a:t>
            </a:r>
          </a:p>
        </p:txBody>
      </p:sp>
      <p:sp>
        <p:nvSpPr>
          <p:cNvPr id="4" name="">
            <a:extLst xmlns:a="http://schemas.openxmlformats.org/drawingml/2006/main">
              <a:ext uri="{FF2B5EF4-FFF2-40B4-BE49-F238E27FC236}">
                <a16:creationId xmlns:a16="http://schemas.microsoft.com/office/drawing/2014/main" id="{A4A38DD1-02BB-40CA-A685-5BCB8F256EB7}"/>
              </a:ext>
            </a:extLst>
          </p:cNvPr>
          <p:cNvSpPr>
            <a:spLocks xmlns:a="http://schemas.openxmlformats.org/drawingml/2006/main" noGrp="1"/>
          </p:cNvSpPr>
          <p:nvPr/>
        </p:nvSpPr>
        <p:spPr>
          <a:xfrm xmlns:a="http://schemas.openxmlformats.org/drawingml/2006/main">
            <a:off x="11096625" y="64770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8778C"/>
                </a:solidFill>
                <a:latin typeface="Malgun Gothic"/>
                <a:ea typeface="Malgun Gothic"/>
                <a:cs typeface="Malgun Gothic"/>
              </a:defRPr>
            </a:pPr>
            <a:r>
              <a:rPr sz="1125" b="0">
                <a:solidFill>
                  <a:srgbClr val="68778C"/>
                </a:solidFill>
                <a:latin typeface="Malgun Gothic"/>
                <a:ea typeface="Malgun Gothic"/>
                <a:cs typeface="Malgun Gothic"/>
              </a:rPr>
              <a:t>20</a:t>
            </a:r>
          </a:p>
        </p:txBody>
      </p:sp>
      <p:graphicFrame>
        <p:nvGraphicFramePr>
          <p:cNvPr id="10" name=""/>
          <p:cNvGraphicFramePr/>
          <p:nvPr/>
        </p:nvGraphicFramePr>
        <p:xfrm>
          <a:off xmlns:a="http://schemas.openxmlformats.org/drawingml/2006/main" x="590550" y="1762125"/>
          <a:ext xmlns:a="http://schemas.openxmlformats.org/drawingml/2006/main" cx="11010900" cy="4000500"/>
        </p:xfrm>
        <a:graphic xmlns:a="http://schemas.openxmlformats.org/drawingml/2006/main">
          <a:graphicData uri="http://schemas.openxmlformats.org/drawingml/2006/table">
            <a:tbl>
              <a:tblPr/>
              <a:tblGrid>
                <a:gridCol w="1962150"/>
                <a:gridCol w="4857750"/>
                <a:gridCol w="4191000"/>
              </a:tblGrid>
              <a:tr h="571500">
                <a:tc>
                  <a:txBody>
                    <a:bodyPr lIns="123825" tIns="66675" rIns="123825" bIns="66675">
                      <a:noAutofit/>
                    </a:bodyPr>
                    <a:lstStyle/>
                    <a:p>
                      <a:r>
                        <a:rPr sz="1725" b="1">
                          <a:solidFill>
                            <a:srgbClr val="FFFFFF"/>
                          </a:solidFill>
                          <a:latin typeface="Malgun Gothic"/>
                          <a:ea typeface="Malgun Gothic"/>
                          <a:cs typeface="Malgun Gothic"/>
                        </a:rPr>
                        <a:t>이벤트</a:t>
                      </a:r>
                    </a:p>
                  </a:txBody>
                  <a:tcPr marL="91440" marR="91440" marT="45720" marB="45720" anchor="ctr">
                    <a:solidFill>
                      <a:srgbClr val="26374D"/>
                    </a:solidFill>
                  </a:tcPr>
                </a:tc>
                <a:tc>
                  <a:txBody>
                    <a:bodyPr lIns="123825" tIns="66675" rIns="123825" bIns="66675">
                      <a:noAutofit/>
                    </a:bodyPr>
                    <a:lstStyle/>
                    <a:p>
                      <a:r>
                        <a:rPr sz="1725" b="1">
                          <a:solidFill>
                            <a:srgbClr val="FFFFFF"/>
                          </a:solidFill>
                          <a:latin typeface="Malgun Gothic"/>
                          <a:ea typeface="Malgun Gothic"/>
                          <a:cs typeface="Malgun Gothic"/>
                        </a:rPr>
                        <a:t>표현</a:t>
                      </a:r>
                    </a:p>
                  </a:txBody>
                  <a:tcPr marL="91440" marR="91440" marT="45720" marB="45720" anchor="ctr">
                    <a:solidFill>
                      <a:srgbClr val="26374D"/>
                    </a:solidFill>
                  </a:tcPr>
                </a:tc>
                <a:tc>
                  <a:txBody>
                    <a:bodyPr lIns="123825" tIns="66675" rIns="123825" bIns="66675">
                      <a:noAutofit/>
                    </a:bodyPr>
                    <a:lstStyle/>
                    <a:p>
                      <a:r>
                        <a:rPr sz="1725" b="1">
                          <a:solidFill>
                            <a:srgbClr val="FFFFFF"/>
                          </a:solidFill>
                          <a:latin typeface="Malgun Gothic"/>
                          <a:ea typeface="Malgun Gothic"/>
                          <a:cs typeface="Malgun Gothic"/>
                        </a:rPr>
                        <a:t>시간·제한</a:t>
                      </a:r>
                    </a:p>
                  </a:txBody>
                  <a:tcPr marL="91440" marR="91440" marT="45720" marB="45720" anchor="ctr">
                    <a:solidFill>
                      <a:srgbClr val="26374D"/>
                    </a:solidFill>
                  </a:tcPr>
                </a:tc>
              </a:tr>
              <a:tr h="571500">
                <a:tc>
                  <a:txBody>
                    <a:bodyPr lIns="123825" tIns="66675" rIns="123825" bIns="66675">
                      <a:noAutofit/>
                    </a:bodyPr>
                    <a:lstStyle/>
                    <a:p>
                      <a:r>
                        <a:rPr sz="1725" b="0">
                          <a:solidFill>
                            <a:srgbClr val="26374D"/>
                          </a:solidFill>
                          <a:latin typeface="Malgun Gothic"/>
                          <a:ea typeface="Malgun Gothic"/>
                          <a:cs typeface="Malgun Gothic"/>
                        </a:rPr>
                        <a:t>명중</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얼음 조각 / 방울 / 작은 별</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약 0.2초, 4~6개 입자</a:t>
                      </a:r>
                    </a:p>
                  </a:txBody>
                  <a:tcPr marL="91440" marR="91440" marT="45720" marB="45720" anchor="ctr">
                    <a:solidFill>
                      <a:srgbClr val="E9EFF6"/>
                    </a:solidFill>
                  </a:tcPr>
                </a:tc>
              </a:tr>
              <a:tr h="571500">
                <a:tc>
                  <a:txBody>
                    <a:bodyPr lIns="123825" tIns="66675" rIns="123825" bIns="66675">
                      <a:noAutofit/>
                    </a:bodyPr>
                    <a:lstStyle/>
                    <a:p>
                      <a:r>
                        <a:rPr sz="1725" b="0">
                          <a:solidFill>
                            <a:srgbClr val="26374D"/>
                          </a:solidFill>
                          <a:latin typeface="Malgun Gothic"/>
                          <a:ea typeface="Malgun Gothic"/>
                          <a:cs typeface="Malgun Gothic"/>
                        </a:rPr>
                        <a:t>처치</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눈가루 / 따뜻한 김 / 라벤더 빛가루</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약 0.25초, 시체 없음</a:t>
                      </a:r>
                    </a:p>
                  </a:txBody>
                  <a:tcPr marL="91440" marR="91440" marT="45720" marB="45720" anchor="ctr">
                    <a:solidFill>
                      <a:srgbClr val="F2F5F9"/>
                    </a:solidFill>
                  </a:tcPr>
                </a:tc>
              </a:tr>
              <a:tr h="571500">
                <a:tc>
                  <a:txBody>
                    <a:bodyPr lIns="123825" tIns="66675" rIns="123825" bIns="66675">
                      <a:noAutofit/>
                    </a:bodyPr>
                    <a:lstStyle/>
                    <a:p>
                      <a:r>
                        <a:rPr sz="1725" b="0">
                          <a:solidFill>
                            <a:srgbClr val="26374D"/>
                          </a:solidFill>
                          <a:latin typeface="Malgun Gothic"/>
                          <a:ea typeface="Malgun Gothic"/>
                          <a:cs typeface="Malgun Gothic"/>
                        </a:rPr>
                        <a:t>플레이어 피격</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충격선, 몸 수축, 체력 아이콘 반응</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전체 흰색 플래시·카메라 흔들림 없음</a:t>
                      </a:r>
                    </a:p>
                  </a:txBody>
                  <a:tcPr marL="91440" marR="91440" marT="45720" marB="45720" anchor="ctr">
                    <a:solidFill>
                      <a:srgbClr val="E9EFF6"/>
                    </a:solidFill>
                  </a:tcPr>
                </a:tc>
              </a:tr>
              <a:tr h="571500">
                <a:tc>
                  <a:txBody>
                    <a:bodyPr lIns="123825" tIns="66675" rIns="123825" bIns="66675">
                      <a:noAutofit/>
                    </a:bodyPr>
                    <a:lstStyle/>
                    <a:p>
                      <a:r>
                        <a:rPr sz="1725" b="0">
                          <a:solidFill>
                            <a:srgbClr val="26374D"/>
                          </a:solidFill>
                          <a:latin typeface="Malgun Gothic"/>
                          <a:ea typeface="Malgun Gothic"/>
                          <a:cs typeface="Malgun Gothic"/>
                        </a:rPr>
                        <a:t>이동 흔적</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발자국과 작은 먼지</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0.4~0.8초, 발자국 최대 40개</a:t>
                      </a:r>
                    </a:p>
                  </a:txBody>
                  <a:tcPr marL="91440" marR="91440" marT="45720" marB="45720" anchor="ctr">
                    <a:solidFill>
                      <a:srgbClr val="F2F5F9"/>
                    </a:solidFill>
                  </a:tcPr>
                </a:tc>
              </a:tr>
              <a:tr h="571500">
                <a:tc>
                  <a:txBody>
                    <a:bodyPr lIns="123825" tIns="66675" rIns="123825" bIns="66675">
                      <a:noAutofit/>
                    </a:bodyPr>
                    <a:lstStyle/>
                    <a:p>
                      <a:r>
                        <a:rPr sz="1725" b="0">
                          <a:solidFill>
                            <a:srgbClr val="26374D"/>
                          </a:solidFill>
                          <a:latin typeface="Malgun Gothic"/>
                          <a:ea typeface="Malgun Gothic"/>
                          <a:cs typeface="Malgun Gothic"/>
                        </a:rPr>
                        <a:t>환경</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오로라 / 수증기 / 랜턴</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가장자리 중심, 전투보다 낮은 대비</a:t>
                      </a:r>
                    </a:p>
                  </a:txBody>
                  <a:tcPr marL="91440" marR="91440" marT="45720" marB="45720" anchor="ctr">
                    <a:solidFill>
                      <a:srgbClr val="E9EFF6"/>
                    </a:solidFill>
                  </a:tcPr>
                </a:tc>
              </a:tr>
              <a:tr h="571500">
                <a:tc>
                  <a:txBody>
                    <a:bodyPr lIns="123825" tIns="66675" rIns="123825" bIns="66675">
                      <a:noAutofit/>
                    </a:bodyPr>
                    <a:lstStyle/>
                    <a:p>
                      <a:r>
                        <a:rPr sz="1725" b="0">
                          <a:solidFill>
                            <a:srgbClr val="26374D"/>
                          </a:solidFill>
                          <a:latin typeface="Malgun Gothic"/>
                          <a:ea typeface="Malgun Gothic"/>
                          <a:cs typeface="Malgun Gothic"/>
                        </a:rPr>
                        <a:t>동시 효과</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장식 입자 최대 200개</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초과 시 장식만 생략, 공격 본체는 유지</a:t>
                      </a:r>
                    </a:p>
                  </a:txBody>
                  <a:tcPr marL="91440" marR="91440" marT="45720" marB="45720" anchor="ctr">
                    <a:solidFill>
                      <a:srgbClr val="F2F5F9"/>
                    </a:solidFill>
                  </a:tcPr>
                </a:tc>
              </a:tr>
            </a:tbl>
          </a:graphicData>
        </a:graphic>
      </p:graphicFrame>
    </p:spTree>
    <p:extLst>
      <p:ext uri="{BB962C8B-B14F-4D97-AF65-F5344CB8AC3E}">
        <p14:creationId xmlns:p14="http://schemas.microsoft.com/office/powerpoint/2010/main" val="177111174"/>
      </p:ext>
    </p:extLst>
  </p:cSld>
</p:sld>
</file>

<file path=ppt/slides/slide21.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1AC41C9-F672-4912-82DA-FE6D543F811C}"/>
              </a:ext>
            </a:extLst>
          </p:cNvPr>
          <p:cNvSpPr>
            <a:spLocks xmlns:a="http://schemas.openxmlformats.org/drawingml/2006/main" noGrp="1"/>
          </p:cNvSpPr>
          <p:nvPr/>
        </p:nvSpPr>
        <p:spPr>
          <a:xfrm xmlns:a="http://schemas.openxmlformats.org/drawingml/2006/main">
            <a:off x="571500" y="40957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26374D"/>
                </a:solidFill>
                <a:latin typeface="Malgun Gothic"/>
                <a:ea typeface="Malgun Gothic"/>
                <a:cs typeface="Malgun Gothic"/>
              </a:defRPr>
            </a:pPr>
            <a:r>
              <a:rPr sz="3150" b="1">
                <a:solidFill>
                  <a:srgbClr val="26374D"/>
                </a:solidFill>
                <a:latin typeface="Malgun Gothic"/>
                <a:ea typeface="Malgun Gothic"/>
                <a:cs typeface="Malgun Gothic"/>
              </a:rPr>
              <a:t>소리와 일시정지</a:t>
            </a:r>
          </a:p>
        </p:txBody>
      </p:sp>
      <p:sp>
        <p:nvSpPr>
          <p:cNvPr id="2" name="">
            <a:extLst xmlns:a="http://schemas.openxmlformats.org/drawingml/2006/main">
              <a:ext uri="{FF2B5EF4-FFF2-40B4-BE49-F238E27FC236}">
                <a16:creationId xmlns:a16="http://schemas.microsoft.com/office/drawing/2014/main" id="{5D796971-37C4-40FB-A6F5-DC8B54166A63}"/>
              </a:ext>
            </a:extLst>
          </p:cNvPr>
          <p:cNvSpPr>
            <a:spLocks xmlns:a="http://schemas.openxmlformats.org/drawingml/2006/main" noGrp="1"/>
          </p:cNvSpPr>
          <p:nvPr/>
        </p:nvSpPr>
        <p:spPr>
          <a:xfrm xmlns:a="http://schemas.openxmlformats.org/drawingml/2006/main">
            <a:off x="590550" y="1104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씬 전환과 브라우저 상태에 맞춰 게임과 오디오를 함께 제어한다</a:t>
            </a:r>
          </a:p>
        </p:txBody>
      </p:sp>
      <p:sp>
        <p:nvSpPr>
          <p:cNvPr id="3" name="">
            <a:extLst xmlns:a="http://schemas.openxmlformats.org/drawingml/2006/main">
              <a:ext uri="{FF2B5EF4-FFF2-40B4-BE49-F238E27FC236}">
                <a16:creationId xmlns:a16="http://schemas.microsoft.com/office/drawing/2014/main" id="{15E0D466-0F2A-4D4A-926A-05DEFBD3B85B}"/>
              </a:ext>
            </a:extLst>
          </p:cNvPr>
          <p:cNvSpPr>
            <a:spLocks xmlns:a="http://schemas.openxmlformats.org/drawingml/2006/main" noGrp="1"/>
          </p:cNvSpPr>
          <p:nvPr/>
        </p:nvSpPr>
        <p:spPr>
          <a:xfrm xmlns:a="http://schemas.openxmlformats.org/drawingml/2006/main">
            <a:off x="590550" y="6496050"/>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68778C"/>
                </a:solidFill>
                <a:latin typeface="Malgun Gothic"/>
                <a:ea typeface="Malgun Gothic"/>
                <a:cs typeface="Malgun Gothic"/>
              </a:defRPr>
            </a:pPr>
            <a:r>
              <a:rPr sz="975" b="0">
                <a:solidFill>
                  <a:srgbClr val="68778C"/>
                </a:solidFill>
                <a:latin typeface="Malgun Gothic"/>
                <a:ea typeface="Malgun Gothic"/>
                <a:cs typeface="Malgun Gothic"/>
              </a:rPr>
              <a:t>동물 힐링 서바이벌 / 프로토타입 개발 기획 v0.2</a:t>
            </a:r>
          </a:p>
        </p:txBody>
      </p:sp>
      <p:sp>
        <p:nvSpPr>
          <p:cNvPr id="4" name="">
            <a:extLst xmlns:a="http://schemas.openxmlformats.org/drawingml/2006/main">
              <a:ext uri="{FF2B5EF4-FFF2-40B4-BE49-F238E27FC236}">
                <a16:creationId xmlns:a16="http://schemas.microsoft.com/office/drawing/2014/main" id="{831295BD-79F2-4453-8CA5-EB92707F1351}"/>
              </a:ext>
            </a:extLst>
          </p:cNvPr>
          <p:cNvSpPr>
            <a:spLocks xmlns:a="http://schemas.openxmlformats.org/drawingml/2006/main" noGrp="1"/>
          </p:cNvSpPr>
          <p:nvPr/>
        </p:nvSpPr>
        <p:spPr>
          <a:xfrm xmlns:a="http://schemas.openxmlformats.org/drawingml/2006/main">
            <a:off x="11096625" y="64770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8778C"/>
                </a:solidFill>
                <a:latin typeface="Malgun Gothic"/>
                <a:ea typeface="Malgun Gothic"/>
                <a:cs typeface="Malgun Gothic"/>
              </a:defRPr>
            </a:pPr>
            <a:r>
              <a:rPr sz="1125" b="0">
                <a:solidFill>
                  <a:srgbClr val="68778C"/>
                </a:solidFill>
                <a:latin typeface="Malgun Gothic"/>
                <a:ea typeface="Malgun Gothic"/>
                <a:cs typeface="Malgun Gothic"/>
              </a:rPr>
              <a:t>21</a:t>
            </a:r>
          </a:p>
        </p:txBody>
      </p:sp>
      <p:sp>
        <p:nvSpPr>
          <p:cNvPr id="5" name="">
            <a:extLst xmlns:a="http://schemas.openxmlformats.org/drawingml/2006/main">
              <a:ext uri="{FF2B5EF4-FFF2-40B4-BE49-F238E27FC236}">
                <a16:creationId xmlns:a16="http://schemas.microsoft.com/office/drawing/2014/main" id="{3FF83EDD-5FA5-47C8-B2D2-81E58DFEF874}"/>
              </a:ext>
            </a:extLst>
          </p:cNvPr>
          <p:cNvSpPr>
            <a:spLocks xmlns:a="http://schemas.openxmlformats.org/drawingml/2006/main" noGrp="1"/>
          </p:cNvSpPr>
          <p:nvPr/>
        </p:nvSpPr>
        <p:spPr>
          <a:xfrm xmlns:a="http://schemas.openxmlformats.org/drawingml/2006/main">
            <a:off x="609600" y="17145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6374D"/>
                </a:solidFill>
                <a:latin typeface="Malgun Gothic"/>
                <a:ea typeface="Malgun Gothic"/>
                <a:cs typeface="Malgun Gothic"/>
              </a:defRPr>
            </a:pPr>
            <a:r>
              <a:rPr sz="2025" b="1">
                <a:solidFill>
                  <a:srgbClr val="26374D"/>
                </a:solidFill>
                <a:latin typeface="Malgun Gothic"/>
                <a:ea typeface="Malgun Gothic"/>
                <a:cs typeface="Malgun Gothic"/>
              </a:rPr>
              <a:t>음악</a:t>
            </a:r>
          </a:p>
        </p:txBody>
      </p:sp>
      <p:sp>
        <p:nvSpPr>
          <p:cNvPr id="6" name="">
            <a:extLst xmlns:a="http://schemas.openxmlformats.org/drawingml/2006/main">
              <a:ext uri="{FF2B5EF4-FFF2-40B4-BE49-F238E27FC236}">
                <a16:creationId xmlns:a16="http://schemas.microsoft.com/office/drawing/2014/main" id="{F091A479-D1E6-49FE-B28D-2DCF2A7F01A1}"/>
              </a:ext>
            </a:extLst>
          </p:cNvPr>
          <p:cNvSpPr>
            <a:spLocks xmlns:a="http://schemas.openxmlformats.org/drawingml/2006/main" noGrp="1"/>
          </p:cNvSpPr>
          <p:nvPr/>
        </p:nvSpPr>
        <p:spPr>
          <a:xfrm xmlns:a="http://schemas.openxmlformats.org/drawingml/2006/main">
            <a:off x="609600" y="2133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8778C"/>
                </a:solidFill>
                <a:latin typeface="Malgun Gothic"/>
                <a:ea typeface="Malgun Gothic"/>
                <a:cs typeface="Malgun Gothic"/>
              </a:defRPr>
            </a:pPr>
            <a:r>
              <a:rPr sz="1875" b="0">
                <a:solidFill>
                  <a:srgbClr val="68778C"/>
                </a:solidFill>
                <a:latin typeface="Malgun Gothic"/>
                <a:ea typeface="Malgun Gothic"/>
                <a:cs typeface="Malgun Gothic"/>
              </a:rPr>
              <a:t>인트로 공통 테마와 씬별 루프 3개. 선택 입력 이후 재생을 시작한다.</a:t>
            </a:r>
          </a:p>
        </p:txBody>
      </p:sp>
      <p:sp>
        <p:nvSpPr>
          <p:cNvPr id="7" name="">
            <a:extLst xmlns:a="http://schemas.openxmlformats.org/drawingml/2006/main">
              <a:ext uri="{FF2B5EF4-FFF2-40B4-BE49-F238E27FC236}">
                <a16:creationId xmlns:a16="http://schemas.microsoft.com/office/drawing/2014/main" id="{193A4D8A-CA21-4FD4-A3BC-1394E3ABE622}"/>
              </a:ext>
            </a:extLst>
          </p:cNvPr>
          <p:cNvSpPr>
            <a:spLocks xmlns:a="http://schemas.openxmlformats.org/drawingml/2006/main" noGrp="1"/>
          </p:cNvSpPr>
          <p:nvPr/>
        </p:nvSpPr>
        <p:spPr>
          <a:xfrm xmlns:a="http://schemas.openxmlformats.org/drawingml/2006/main">
            <a:off x="609600" y="28003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6374D"/>
                </a:solidFill>
                <a:latin typeface="Malgun Gothic"/>
                <a:ea typeface="Malgun Gothic"/>
                <a:cs typeface="Malgun Gothic"/>
              </a:defRPr>
            </a:pPr>
            <a:r>
              <a:rPr sz="2025" b="1">
                <a:solidFill>
                  <a:srgbClr val="26374D"/>
                </a:solidFill>
                <a:latin typeface="Malgun Gothic"/>
                <a:ea typeface="Malgun Gothic"/>
                <a:cs typeface="Malgun Gothic"/>
              </a:rPr>
              <a:t>효과음</a:t>
            </a:r>
          </a:p>
        </p:txBody>
      </p:sp>
      <p:sp>
        <p:nvSpPr>
          <p:cNvPr id="8" name="">
            <a:extLst xmlns:a="http://schemas.openxmlformats.org/drawingml/2006/main">
              <a:ext uri="{FF2B5EF4-FFF2-40B4-BE49-F238E27FC236}">
                <a16:creationId xmlns:a16="http://schemas.microsoft.com/office/drawing/2014/main" id="{A272F6EE-4D8F-47E9-979A-860DBF6D3ACC}"/>
              </a:ext>
            </a:extLst>
          </p:cNvPr>
          <p:cNvSpPr>
            <a:spLocks xmlns:a="http://schemas.openxmlformats.org/drawingml/2006/main" noGrp="1"/>
          </p:cNvSpPr>
          <p:nvPr/>
        </p:nvSpPr>
        <p:spPr>
          <a:xfrm xmlns:a="http://schemas.openxmlformats.org/drawingml/2006/main">
            <a:off x="609600" y="32194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8778C"/>
                </a:solidFill>
                <a:latin typeface="Malgun Gothic"/>
                <a:ea typeface="Malgun Gothic"/>
                <a:cs typeface="Malgun Gothic"/>
              </a:defRPr>
            </a:pPr>
            <a:r>
              <a:rPr sz="1875" b="0">
                <a:solidFill>
                  <a:srgbClr val="68778C"/>
                </a:solidFill>
                <a:latin typeface="Malgun Gothic"/>
                <a:ea typeface="Malgun Gothic"/>
                <a:cs typeface="Malgun Gothic"/>
              </a:rPr>
              <a:t>눈꽃 찰랑, 방울 퐁, 종이 슝. 적 타격음은 0.08초 안의 이벤트를 묶는다.</a:t>
            </a:r>
          </a:p>
        </p:txBody>
      </p:sp>
      <p:sp>
        <p:nvSpPr>
          <p:cNvPr id="9" name="">
            <a:extLst xmlns:a="http://schemas.openxmlformats.org/drawingml/2006/main">
              <a:ext uri="{FF2B5EF4-FFF2-40B4-BE49-F238E27FC236}">
                <a16:creationId xmlns:a16="http://schemas.microsoft.com/office/drawing/2014/main" id="{84014C3F-A0F0-4FBD-A570-AFBA96A08ED7}"/>
              </a:ext>
            </a:extLst>
          </p:cNvPr>
          <p:cNvSpPr>
            <a:spLocks xmlns:a="http://schemas.openxmlformats.org/drawingml/2006/main" noGrp="1"/>
          </p:cNvSpPr>
          <p:nvPr/>
        </p:nvSpPr>
        <p:spPr>
          <a:xfrm xmlns:a="http://schemas.openxmlformats.org/drawingml/2006/main">
            <a:off x="609600" y="38862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6374D"/>
                </a:solidFill>
                <a:latin typeface="Malgun Gothic"/>
                <a:ea typeface="Malgun Gothic"/>
                <a:cs typeface="Malgun Gothic"/>
              </a:defRPr>
            </a:pPr>
            <a:r>
              <a:rPr sz="2025" b="1">
                <a:solidFill>
                  <a:srgbClr val="26374D"/>
                </a:solidFill>
                <a:latin typeface="Malgun Gothic"/>
                <a:ea typeface="Malgun Gothic"/>
                <a:cs typeface="Malgun Gothic"/>
              </a:rPr>
              <a:t>일시정지</a:t>
            </a:r>
          </a:p>
        </p:txBody>
      </p:sp>
      <p:sp>
        <p:nvSpPr>
          <p:cNvPr id="10" name="">
            <a:extLst xmlns:a="http://schemas.openxmlformats.org/drawingml/2006/main">
              <a:ext uri="{FF2B5EF4-FFF2-40B4-BE49-F238E27FC236}">
                <a16:creationId xmlns:a16="http://schemas.microsoft.com/office/drawing/2014/main" id="{3DA197B7-9A05-42B1-BE42-56079C544274}"/>
              </a:ext>
            </a:extLst>
          </p:cNvPr>
          <p:cNvSpPr>
            <a:spLocks xmlns:a="http://schemas.openxmlformats.org/drawingml/2006/main" noGrp="1"/>
          </p:cNvSpPr>
          <p:nvPr/>
        </p:nvSpPr>
        <p:spPr>
          <a:xfrm xmlns:a="http://schemas.openxmlformats.org/drawingml/2006/main">
            <a:off x="609600" y="4305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8778C"/>
                </a:solidFill>
                <a:latin typeface="Malgun Gothic"/>
                <a:ea typeface="Malgun Gothic"/>
                <a:cs typeface="Malgun Gothic"/>
              </a:defRPr>
            </a:pPr>
            <a:r>
              <a:rPr sz="1875" b="0">
                <a:solidFill>
                  <a:srgbClr val="68778C"/>
                </a:solidFill>
                <a:latin typeface="Malgun Gothic"/>
                <a:ea typeface="Malgun Gothic"/>
                <a:cs typeface="Malgun Gothic"/>
              </a:rPr>
              <a:t>Esc와 버튼 지원. 적·공격·시간·점수·입자·오디오를 모두 멈춘다.</a:t>
            </a:r>
          </a:p>
        </p:txBody>
      </p:sp>
      <p:sp>
        <p:nvSpPr>
          <p:cNvPr id="11" name="">
            <a:extLst xmlns:a="http://schemas.openxmlformats.org/drawingml/2006/main">
              <a:ext uri="{FF2B5EF4-FFF2-40B4-BE49-F238E27FC236}">
                <a16:creationId xmlns:a16="http://schemas.microsoft.com/office/drawing/2014/main" id="{4190A2EA-1705-48C1-B9F9-790DE24BAB25}"/>
              </a:ext>
            </a:extLst>
          </p:cNvPr>
          <p:cNvSpPr>
            <a:spLocks xmlns:a="http://schemas.openxmlformats.org/drawingml/2006/main" noGrp="1"/>
          </p:cNvSpPr>
          <p:nvPr/>
        </p:nvSpPr>
        <p:spPr>
          <a:xfrm xmlns:a="http://schemas.openxmlformats.org/drawingml/2006/main">
            <a:off x="609600" y="49720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6374D"/>
                </a:solidFill>
                <a:latin typeface="Malgun Gothic"/>
                <a:ea typeface="Malgun Gothic"/>
                <a:cs typeface="Malgun Gothic"/>
              </a:defRPr>
            </a:pPr>
            <a:r>
              <a:rPr sz="2025" b="1">
                <a:solidFill>
                  <a:srgbClr val="26374D"/>
                </a:solidFill>
                <a:latin typeface="Malgun Gothic"/>
                <a:ea typeface="Malgun Gothic"/>
                <a:cs typeface="Malgun Gothic"/>
              </a:rPr>
              <a:t>탭 복귀</a:t>
            </a:r>
          </a:p>
        </p:txBody>
      </p:sp>
      <p:sp>
        <p:nvSpPr>
          <p:cNvPr id="12" name="">
            <a:extLst xmlns:a="http://schemas.openxmlformats.org/drawingml/2006/main">
              <a:ext uri="{FF2B5EF4-FFF2-40B4-BE49-F238E27FC236}">
                <a16:creationId xmlns:a16="http://schemas.microsoft.com/office/drawing/2014/main" id="{A7175DCF-1356-47E9-BC3D-1BA387174B27}"/>
              </a:ext>
            </a:extLst>
          </p:cNvPr>
          <p:cNvSpPr>
            <a:spLocks xmlns:a="http://schemas.openxmlformats.org/drawingml/2006/main" noGrp="1"/>
          </p:cNvSpPr>
          <p:nvPr/>
        </p:nvSpPr>
        <p:spPr>
          <a:xfrm xmlns:a="http://schemas.openxmlformats.org/drawingml/2006/main">
            <a:off x="609600" y="53911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8778C"/>
                </a:solidFill>
                <a:latin typeface="Malgun Gothic"/>
                <a:ea typeface="Malgun Gothic"/>
                <a:cs typeface="Malgun Gothic"/>
              </a:defRPr>
            </a:pPr>
            <a:r>
              <a:rPr sz="1875" b="0">
                <a:solidFill>
                  <a:srgbClr val="68778C"/>
                </a:solidFill>
                <a:latin typeface="Malgun Gothic"/>
                <a:ea typeface="Malgun Gothic"/>
                <a:cs typeface="Malgun Gothic"/>
              </a:rPr>
              <a:t>탭이 숨겨지면 정지한다. 돌아왔을 때 계속하기를 눌러 재개한다.</a:t>
            </a:r>
          </a:p>
        </p:txBody>
      </p:sp>
    </p:spTree>
    <p:extLst>
      <p:ext uri="{BB962C8B-B14F-4D97-AF65-F5344CB8AC3E}">
        <p14:creationId xmlns:p14="http://schemas.microsoft.com/office/powerpoint/2010/main" val="386803941"/>
      </p:ext>
    </p:extLst>
  </p:cSld>
</p:sld>
</file>

<file path=ppt/slides/slide22.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3CB697D-0561-4C9D-9D0A-AC6FACE0D4DA}"/>
              </a:ext>
            </a:extLst>
          </p:cNvPr>
          <p:cNvSpPr>
            <a:spLocks xmlns:a="http://schemas.openxmlformats.org/drawingml/2006/main" noGrp="1"/>
          </p:cNvSpPr>
          <p:nvPr/>
        </p:nvSpPr>
        <p:spPr>
          <a:xfrm xmlns:a="http://schemas.openxmlformats.org/drawingml/2006/main">
            <a:off x="571500" y="40957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26374D"/>
                </a:solidFill>
                <a:latin typeface="Malgun Gothic"/>
                <a:ea typeface="Malgun Gothic"/>
                <a:cs typeface="Malgun Gothic"/>
              </a:defRPr>
            </a:pPr>
            <a:r>
              <a:rPr sz="3150" b="1">
                <a:solidFill>
                  <a:srgbClr val="26374D"/>
                </a:solidFill>
                <a:latin typeface="Malgun Gothic"/>
                <a:ea typeface="Malgun Gothic"/>
                <a:cs typeface="Malgun Gothic"/>
              </a:rPr>
              <a:t>개발에 필요한 에셋</a:t>
            </a:r>
          </a:p>
        </p:txBody>
      </p:sp>
      <p:sp>
        <p:nvSpPr>
          <p:cNvPr id="2" name="">
            <a:extLst xmlns:a="http://schemas.openxmlformats.org/drawingml/2006/main">
              <a:ext uri="{FF2B5EF4-FFF2-40B4-BE49-F238E27FC236}">
                <a16:creationId xmlns:a16="http://schemas.microsoft.com/office/drawing/2014/main" id="{EEEE6873-A3BB-487A-A74B-BB77E199791D}"/>
              </a:ext>
            </a:extLst>
          </p:cNvPr>
          <p:cNvSpPr>
            <a:spLocks xmlns:a="http://schemas.openxmlformats.org/drawingml/2006/main" noGrp="1"/>
          </p:cNvSpPr>
          <p:nvPr/>
        </p:nvSpPr>
        <p:spPr>
          <a:xfrm xmlns:a="http://schemas.openxmlformats.org/drawingml/2006/main">
            <a:off x="590550" y="1104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기존 그림은 분위기 참고이며 배경과 게임 오브젝트를 분리해 제작한다</a:t>
            </a:r>
          </a:p>
        </p:txBody>
      </p:sp>
      <p:sp>
        <p:nvSpPr>
          <p:cNvPr id="3" name="">
            <a:extLst xmlns:a="http://schemas.openxmlformats.org/drawingml/2006/main">
              <a:ext uri="{FF2B5EF4-FFF2-40B4-BE49-F238E27FC236}">
                <a16:creationId xmlns:a16="http://schemas.microsoft.com/office/drawing/2014/main" id="{37EE84CF-130D-4408-BB2F-F6ECC5AD6972}"/>
              </a:ext>
            </a:extLst>
          </p:cNvPr>
          <p:cNvSpPr>
            <a:spLocks xmlns:a="http://schemas.openxmlformats.org/drawingml/2006/main" noGrp="1"/>
          </p:cNvSpPr>
          <p:nvPr/>
        </p:nvSpPr>
        <p:spPr>
          <a:xfrm xmlns:a="http://schemas.openxmlformats.org/drawingml/2006/main">
            <a:off x="590550" y="6496050"/>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68778C"/>
                </a:solidFill>
                <a:latin typeface="Malgun Gothic"/>
                <a:ea typeface="Malgun Gothic"/>
                <a:cs typeface="Malgun Gothic"/>
              </a:defRPr>
            </a:pPr>
            <a:r>
              <a:rPr sz="975" b="0">
                <a:solidFill>
                  <a:srgbClr val="68778C"/>
                </a:solidFill>
                <a:latin typeface="Malgun Gothic"/>
                <a:ea typeface="Malgun Gothic"/>
                <a:cs typeface="Malgun Gothic"/>
              </a:rPr>
              <a:t>동물 힐링 서바이벌 / 프로토타입 개발 기획 v0.2</a:t>
            </a:r>
          </a:p>
        </p:txBody>
      </p:sp>
      <p:sp>
        <p:nvSpPr>
          <p:cNvPr id="4" name="">
            <a:extLst xmlns:a="http://schemas.openxmlformats.org/drawingml/2006/main">
              <a:ext uri="{FF2B5EF4-FFF2-40B4-BE49-F238E27FC236}">
                <a16:creationId xmlns:a16="http://schemas.microsoft.com/office/drawing/2014/main" id="{6665EB7B-C747-451E-B18E-77B3982A77E3}"/>
              </a:ext>
            </a:extLst>
          </p:cNvPr>
          <p:cNvSpPr>
            <a:spLocks xmlns:a="http://schemas.openxmlformats.org/drawingml/2006/main" noGrp="1"/>
          </p:cNvSpPr>
          <p:nvPr/>
        </p:nvSpPr>
        <p:spPr>
          <a:xfrm xmlns:a="http://schemas.openxmlformats.org/drawingml/2006/main">
            <a:off x="11096625" y="64770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8778C"/>
                </a:solidFill>
                <a:latin typeface="Malgun Gothic"/>
                <a:ea typeface="Malgun Gothic"/>
                <a:cs typeface="Malgun Gothic"/>
              </a:defRPr>
            </a:pPr>
            <a:r>
              <a:rPr sz="1125" b="0">
                <a:solidFill>
                  <a:srgbClr val="68778C"/>
                </a:solidFill>
                <a:latin typeface="Malgun Gothic"/>
                <a:ea typeface="Malgun Gothic"/>
                <a:cs typeface="Malgun Gothic"/>
              </a:rPr>
              <a:t>22</a:t>
            </a:r>
          </a:p>
        </p:txBody>
      </p:sp>
      <p:graphicFrame>
        <p:nvGraphicFramePr>
          <p:cNvPr id="10" name=""/>
          <p:cNvGraphicFramePr/>
          <p:nvPr/>
        </p:nvGraphicFramePr>
        <p:xfrm>
          <a:off xmlns:a="http://schemas.openxmlformats.org/drawingml/2006/main" x="590550" y="1762125"/>
          <a:ext xmlns:a="http://schemas.openxmlformats.org/drawingml/2006/main" cx="11010900" cy="4000500"/>
        </p:xfrm>
        <a:graphic xmlns:a="http://schemas.openxmlformats.org/drawingml/2006/main">
          <a:graphicData uri="http://schemas.openxmlformats.org/drawingml/2006/table">
            <a:tbl>
              <a:tblPr/>
              <a:tblGrid>
                <a:gridCol w="2400300"/>
                <a:gridCol w="1571625"/>
                <a:gridCol w="7038975"/>
              </a:tblGrid>
              <a:tr h="571500">
                <a:tc>
                  <a:txBody>
                    <a:bodyPr lIns="123825" tIns="66675" rIns="123825" bIns="66675">
                      <a:noAutofit/>
                    </a:bodyPr>
                    <a:lstStyle/>
                    <a:p>
                      <a:r>
                        <a:rPr sz="1725" b="1">
                          <a:solidFill>
                            <a:srgbClr val="FFFFFF"/>
                          </a:solidFill>
                          <a:latin typeface="Malgun Gothic"/>
                          <a:ea typeface="Malgun Gothic"/>
                          <a:cs typeface="Malgun Gothic"/>
                        </a:rPr>
                        <a:t>항목</a:t>
                      </a:r>
                    </a:p>
                  </a:txBody>
                  <a:tcPr marL="91440" marR="91440" marT="45720" marB="45720" anchor="ctr">
                    <a:solidFill>
                      <a:srgbClr val="26374D"/>
                    </a:solidFill>
                  </a:tcPr>
                </a:tc>
                <a:tc>
                  <a:txBody>
                    <a:bodyPr lIns="123825" tIns="66675" rIns="123825" bIns="66675">
                      <a:noAutofit/>
                    </a:bodyPr>
                    <a:lstStyle/>
                    <a:p>
                      <a:r>
                        <a:rPr sz="1725" b="1">
                          <a:solidFill>
                            <a:srgbClr val="FFFFFF"/>
                          </a:solidFill>
                          <a:latin typeface="Malgun Gothic"/>
                          <a:ea typeface="Malgun Gothic"/>
                          <a:cs typeface="Malgun Gothic"/>
                        </a:rPr>
                        <a:t>수량</a:t>
                      </a:r>
                    </a:p>
                  </a:txBody>
                  <a:tcPr marL="91440" marR="91440" marT="45720" marB="45720" anchor="ctr">
                    <a:solidFill>
                      <a:srgbClr val="26374D"/>
                    </a:solidFill>
                  </a:tcPr>
                </a:tc>
                <a:tc>
                  <a:txBody>
                    <a:bodyPr lIns="123825" tIns="66675" rIns="123825" bIns="66675">
                      <a:noAutofit/>
                    </a:bodyPr>
                    <a:lstStyle/>
                    <a:p>
                      <a:r>
                        <a:rPr sz="1725" b="1">
                          <a:solidFill>
                            <a:srgbClr val="FFFFFF"/>
                          </a:solidFill>
                          <a:latin typeface="Malgun Gothic"/>
                          <a:ea typeface="Malgun Gothic"/>
                          <a:cs typeface="Malgun Gothic"/>
                        </a:rPr>
                        <a:t>현재 상태와 다음 작업</a:t>
                      </a:r>
                    </a:p>
                  </a:txBody>
                  <a:tcPr marL="91440" marR="91440" marT="45720" marB="45720" anchor="ctr">
                    <a:solidFill>
                      <a:srgbClr val="26374D"/>
                    </a:solidFill>
                  </a:tcPr>
                </a:tc>
              </a:tr>
              <a:tr h="571500">
                <a:tc>
                  <a:txBody>
                    <a:bodyPr lIns="123825" tIns="66675" rIns="123825" bIns="66675">
                      <a:noAutofit/>
                    </a:bodyPr>
                    <a:lstStyle/>
                    <a:p>
                      <a:r>
                        <a:rPr sz="1725" b="0">
                          <a:solidFill>
                            <a:srgbClr val="26374D"/>
                          </a:solidFill>
                          <a:latin typeface="Malgun Gothic"/>
                          <a:ea typeface="Malgun Gothic"/>
                          <a:cs typeface="Malgun Gothic"/>
                        </a:rPr>
                        <a:t>플레이 배경</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3세트</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시안 있음, 바닥·외곽·환경 효과 분리 필요</a:t>
                      </a:r>
                    </a:p>
                  </a:txBody>
                  <a:tcPr marL="91440" marR="91440" marT="45720" marB="45720" anchor="ctr">
                    <a:solidFill>
                      <a:srgbClr val="E9EFF6"/>
                    </a:solidFill>
                  </a:tcPr>
                </a:tc>
              </a:tr>
              <a:tr h="571500">
                <a:tc>
                  <a:txBody>
                    <a:bodyPr lIns="123825" tIns="66675" rIns="123825" bIns="66675">
                      <a:noAutofit/>
                    </a:bodyPr>
                    <a:lstStyle/>
                    <a:p>
                      <a:r>
                        <a:rPr sz="1725" b="0">
                          <a:solidFill>
                            <a:srgbClr val="26374D"/>
                          </a:solidFill>
                          <a:latin typeface="Malgun Gothic"/>
                          <a:ea typeface="Malgun Gothic"/>
                          <a:cs typeface="Malgun Gothic"/>
                        </a:rPr>
                        <a:t>주인공 동작</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3세트</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펭귄 GIF 5종 있음, 카피바라·고양이 제작 필요</a:t>
                      </a:r>
                    </a:p>
                  </a:txBody>
                  <a:tcPr marL="91440" marR="91440" marT="45720" marB="45720" anchor="ctr">
                    <a:solidFill>
                      <a:srgbClr val="F2F5F9"/>
                    </a:solidFill>
                  </a:tcPr>
                </a:tc>
              </a:tr>
              <a:tr h="571500">
                <a:tc>
                  <a:txBody>
                    <a:bodyPr lIns="123825" tIns="66675" rIns="123825" bIns="66675">
                      <a:noAutofit/>
                    </a:bodyPr>
                    <a:lstStyle/>
                    <a:p>
                      <a:r>
                        <a:rPr sz="1725" b="0">
                          <a:solidFill>
                            <a:srgbClr val="26374D"/>
                          </a:solidFill>
                          <a:latin typeface="Malgun Gothic"/>
                          <a:ea typeface="Malgun Gothic"/>
                          <a:cs typeface="Malgun Gothic"/>
                        </a:rPr>
                        <a:t>몬스터</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6종</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씬별 기본형·튼튼형, 이동 루프 제작</a:t>
                      </a:r>
                    </a:p>
                  </a:txBody>
                  <a:tcPr marL="91440" marR="91440" marT="45720" marB="45720" anchor="ctr">
                    <a:solidFill>
                      <a:srgbClr val="E9EFF6"/>
                    </a:solidFill>
                  </a:tcPr>
                </a:tc>
              </a:tr>
              <a:tr h="571500">
                <a:tc>
                  <a:txBody>
                    <a:bodyPr lIns="123825" tIns="66675" rIns="123825" bIns="66675">
                      <a:noAutofit/>
                    </a:bodyPr>
                    <a:lstStyle/>
                    <a:p>
                      <a:r>
                        <a:rPr sz="1725" b="0">
                          <a:solidFill>
                            <a:srgbClr val="26374D"/>
                          </a:solidFill>
                          <a:latin typeface="Malgun Gothic"/>
                          <a:ea typeface="Malgun Gothic"/>
                          <a:cs typeface="Malgun Gothic"/>
                        </a:rPr>
                        <a:t>공격 이펙트</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3세트</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펭귄 연출 참고 있음, 실제 판정과 효과 분리</a:t>
                      </a:r>
                    </a:p>
                  </a:txBody>
                  <a:tcPr marL="91440" marR="91440" marT="45720" marB="45720" anchor="ctr">
                    <a:solidFill>
                      <a:srgbClr val="F2F5F9"/>
                    </a:solidFill>
                  </a:tcPr>
                </a:tc>
              </a:tr>
              <a:tr h="571500">
                <a:tc>
                  <a:txBody>
                    <a:bodyPr lIns="123825" tIns="66675" rIns="123825" bIns="66675">
                      <a:noAutofit/>
                    </a:bodyPr>
                    <a:lstStyle/>
                    <a:p>
                      <a:r>
                        <a:rPr sz="1725" b="0">
                          <a:solidFill>
                            <a:srgbClr val="26374D"/>
                          </a:solidFill>
                          <a:latin typeface="Malgun Gothic"/>
                          <a:ea typeface="Malgun Gothic"/>
                          <a:cs typeface="Malgun Gothic"/>
                        </a:rPr>
                        <a:t>UI</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1세트</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인트로, HUD, 일시정지, 결과 화면</a:t>
                      </a:r>
                    </a:p>
                  </a:txBody>
                  <a:tcPr marL="91440" marR="91440" marT="45720" marB="45720" anchor="ctr">
                    <a:solidFill>
                      <a:srgbClr val="E9EFF6"/>
                    </a:solidFill>
                  </a:tcPr>
                </a:tc>
              </a:tr>
              <a:tr h="571500">
                <a:tc>
                  <a:txBody>
                    <a:bodyPr lIns="123825" tIns="66675" rIns="123825" bIns="66675">
                      <a:noAutofit/>
                    </a:bodyPr>
                    <a:lstStyle/>
                    <a:p>
                      <a:r>
                        <a:rPr sz="1725" b="0">
                          <a:solidFill>
                            <a:srgbClr val="26374D"/>
                          </a:solidFill>
                          <a:latin typeface="Malgun Gothic"/>
                          <a:ea typeface="Malgun Gothic"/>
                          <a:cs typeface="Malgun Gothic"/>
                        </a:rPr>
                        <a:t>음악·효과음</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공통 + 씬별</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사용 권한을 확보한 음원으로 구성</a:t>
                      </a:r>
                    </a:p>
                  </a:txBody>
                  <a:tcPr marL="91440" marR="91440" marT="45720" marB="45720" anchor="ctr">
                    <a:solidFill>
                      <a:srgbClr val="F2F5F9"/>
                    </a:solidFill>
                  </a:tcPr>
                </a:tc>
              </a:tr>
            </a:tbl>
          </a:graphicData>
        </a:graphic>
      </p:graphicFrame>
    </p:spTree>
    <p:extLst>
      <p:ext uri="{BB962C8B-B14F-4D97-AF65-F5344CB8AC3E}">
        <p14:creationId xmlns:p14="http://schemas.microsoft.com/office/powerpoint/2010/main" val="1725997301"/>
      </p:ext>
    </p:extLst>
  </p:cSld>
</p:sld>
</file>

<file path=ppt/slides/slide23.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7814D36-2889-490D-85EF-2761F965C6C1}"/>
              </a:ext>
            </a:extLst>
          </p:cNvPr>
          <p:cNvSpPr>
            <a:spLocks xmlns:a="http://schemas.openxmlformats.org/drawingml/2006/main" noGrp="1"/>
          </p:cNvSpPr>
          <p:nvPr/>
        </p:nvSpPr>
        <p:spPr>
          <a:xfrm xmlns:a="http://schemas.openxmlformats.org/drawingml/2006/main">
            <a:off x="571500" y="40957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26374D"/>
                </a:solidFill>
                <a:latin typeface="Malgun Gothic"/>
                <a:ea typeface="Malgun Gothic"/>
                <a:cs typeface="Malgun Gothic"/>
              </a:defRPr>
            </a:pPr>
            <a:r>
              <a:rPr sz="3150" b="1">
                <a:solidFill>
                  <a:srgbClr val="26374D"/>
                </a:solidFill>
                <a:latin typeface="Malgun Gothic"/>
                <a:ea typeface="Malgun Gothic"/>
                <a:cs typeface="Malgun Gothic"/>
              </a:rPr>
              <a:t>공통 시스템과 씬 설정</a:t>
            </a:r>
          </a:p>
        </p:txBody>
      </p:sp>
      <p:sp>
        <p:nvSpPr>
          <p:cNvPr id="2" name="">
            <a:extLst xmlns:a="http://schemas.openxmlformats.org/drawingml/2006/main">
              <a:ext uri="{FF2B5EF4-FFF2-40B4-BE49-F238E27FC236}">
                <a16:creationId xmlns:a16="http://schemas.microsoft.com/office/drawing/2014/main" id="{9305E6F2-0C89-4ED9-B4F5-CE0DC13B80F4}"/>
              </a:ext>
            </a:extLst>
          </p:cNvPr>
          <p:cNvSpPr>
            <a:spLocks xmlns:a="http://schemas.openxmlformats.org/drawingml/2006/main" noGrp="1"/>
          </p:cNvSpPr>
          <p:nvPr/>
        </p:nvSpPr>
        <p:spPr>
          <a:xfrm xmlns:a="http://schemas.openxmlformats.org/drawingml/2006/main">
            <a:off x="590550" y="1104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세 씬은 개별 진입점을 가지며 게임 로직은 공유한다</a:t>
            </a:r>
          </a:p>
        </p:txBody>
      </p:sp>
      <p:sp>
        <p:nvSpPr>
          <p:cNvPr id="3" name="">
            <a:extLst xmlns:a="http://schemas.openxmlformats.org/drawingml/2006/main">
              <a:ext uri="{FF2B5EF4-FFF2-40B4-BE49-F238E27FC236}">
                <a16:creationId xmlns:a16="http://schemas.microsoft.com/office/drawing/2014/main" id="{A15CBFF1-6F46-4A8B-9654-043347D5307B}"/>
              </a:ext>
            </a:extLst>
          </p:cNvPr>
          <p:cNvSpPr>
            <a:spLocks xmlns:a="http://schemas.openxmlformats.org/drawingml/2006/main" noGrp="1"/>
          </p:cNvSpPr>
          <p:nvPr/>
        </p:nvSpPr>
        <p:spPr>
          <a:xfrm xmlns:a="http://schemas.openxmlformats.org/drawingml/2006/main">
            <a:off x="590550" y="6496050"/>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68778C"/>
                </a:solidFill>
                <a:latin typeface="Malgun Gothic"/>
                <a:ea typeface="Malgun Gothic"/>
                <a:cs typeface="Malgun Gothic"/>
              </a:defRPr>
            </a:pPr>
            <a:r>
              <a:rPr sz="975" b="0">
                <a:solidFill>
                  <a:srgbClr val="68778C"/>
                </a:solidFill>
                <a:latin typeface="Malgun Gothic"/>
                <a:ea typeface="Malgun Gothic"/>
                <a:cs typeface="Malgun Gothic"/>
              </a:rPr>
              <a:t>동물 힐링 서바이벌 / 프로토타입 개발 기획 v0.2</a:t>
            </a:r>
          </a:p>
        </p:txBody>
      </p:sp>
      <p:sp>
        <p:nvSpPr>
          <p:cNvPr id="4" name="">
            <a:extLst xmlns:a="http://schemas.openxmlformats.org/drawingml/2006/main">
              <a:ext uri="{FF2B5EF4-FFF2-40B4-BE49-F238E27FC236}">
                <a16:creationId xmlns:a16="http://schemas.microsoft.com/office/drawing/2014/main" id="{F98BCBED-7BC6-4CEC-AE69-9FBB353B5CD5}"/>
              </a:ext>
            </a:extLst>
          </p:cNvPr>
          <p:cNvSpPr>
            <a:spLocks xmlns:a="http://schemas.openxmlformats.org/drawingml/2006/main" noGrp="1"/>
          </p:cNvSpPr>
          <p:nvPr/>
        </p:nvSpPr>
        <p:spPr>
          <a:xfrm xmlns:a="http://schemas.openxmlformats.org/drawingml/2006/main">
            <a:off x="11096625" y="64770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8778C"/>
                </a:solidFill>
                <a:latin typeface="Malgun Gothic"/>
                <a:ea typeface="Malgun Gothic"/>
                <a:cs typeface="Malgun Gothic"/>
              </a:defRPr>
            </a:pPr>
            <a:r>
              <a:rPr sz="1125" b="0">
                <a:solidFill>
                  <a:srgbClr val="68778C"/>
                </a:solidFill>
                <a:latin typeface="Malgun Gothic"/>
                <a:ea typeface="Malgun Gothic"/>
                <a:cs typeface="Malgun Gothic"/>
              </a:rPr>
              <a:t>23</a:t>
            </a:r>
          </a:p>
        </p:txBody>
      </p:sp>
      <p:graphicFrame>
        <p:nvGraphicFramePr>
          <p:cNvPr id="10" name=""/>
          <p:cNvGraphicFramePr/>
          <p:nvPr/>
        </p:nvGraphicFramePr>
        <p:xfrm>
          <a:off xmlns:a="http://schemas.openxmlformats.org/drawingml/2006/main" x="590550" y="1762125"/>
          <a:ext xmlns:a="http://schemas.openxmlformats.org/drawingml/2006/main" cx="11010900" cy="4000500"/>
        </p:xfrm>
        <a:graphic xmlns:a="http://schemas.openxmlformats.org/drawingml/2006/main">
          <a:graphicData uri="http://schemas.openxmlformats.org/drawingml/2006/table">
            <a:tbl>
              <a:tblPr/>
              <a:tblGrid>
                <a:gridCol w="2857500"/>
                <a:gridCol w="8153400"/>
              </a:tblGrid>
              <a:tr h="571500">
                <a:tc>
                  <a:txBody>
                    <a:bodyPr lIns="123825" tIns="66675" rIns="123825" bIns="66675">
                      <a:noAutofit/>
                    </a:bodyPr>
                    <a:lstStyle/>
                    <a:p>
                      <a:r>
                        <a:rPr sz="1725" b="1">
                          <a:solidFill>
                            <a:srgbClr val="FFFFFF"/>
                          </a:solidFill>
                          <a:latin typeface="Malgun Gothic"/>
                          <a:ea typeface="Malgun Gothic"/>
                          <a:cs typeface="Malgun Gothic"/>
                        </a:rPr>
                        <a:t>구성</a:t>
                      </a:r>
                    </a:p>
                  </a:txBody>
                  <a:tcPr marL="91440" marR="91440" marT="45720" marB="45720" anchor="ctr">
                    <a:solidFill>
                      <a:srgbClr val="26374D"/>
                    </a:solidFill>
                  </a:tcPr>
                </a:tc>
                <a:tc>
                  <a:txBody>
                    <a:bodyPr lIns="123825" tIns="66675" rIns="123825" bIns="66675">
                      <a:noAutofit/>
                    </a:bodyPr>
                    <a:lstStyle/>
                    <a:p>
                      <a:r>
                        <a:rPr sz="1725" b="1">
                          <a:solidFill>
                            <a:srgbClr val="FFFFFF"/>
                          </a:solidFill>
                          <a:latin typeface="Malgun Gothic"/>
                          <a:ea typeface="Malgun Gothic"/>
                          <a:cs typeface="Malgun Gothic"/>
                        </a:rPr>
                        <a:t>책임</a:t>
                      </a:r>
                    </a:p>
                  </a:txBody>
                  <a:tcPr marL="91440" marR="91440" marT="45720" marB="45720" anchor="ctr">
                    <a:solidFill>
                      <a:srgbClr val="26374D"/>
                    </a:solidFill>
                  </a:tcPr>
                </a:tc>
              </a:tr>
              <a:tr h="571500">
                <a:tc>
                  <a:txBody>
                    <a:bodyPr lIns="123825" tIns="66675" rIns="123825" bIns="66675">
                      <a:noAutofit/>
                    </a:bodyPr>
                    <a:lstStyle/>
                    <a:p>
                      <a:r>
                        <a:rPr sz="1725" b="0">
                          <a:solidFill>
                            <a:srgbClr val="26374D"/>
                          </a:solidFill>
                          <a:latin typeface="Malgun Gothic"/>
                          <a:ea typeface="Malgun Gothic"/>
                          <a:cs typeface="Malgun Gothic"/>
                        </a:rPr>
                        <a:t>Intro / HUD / Result</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캐릭터 선택, 상태 표시, 일시정지, 결과·재도전</a:t>
                      </a:r>
                    </a:p>
                  </a:txBody>
                  <a:tcPr marL="91440" marR="91440" marT="45720" marB="45720" anchor="ctr">
                    <a:solidFill>
                      <a:srgbClr val="E9EFF6"/>
                    </a:solidFill>
                  </a:tcPr>
                </a:tc>
              </a:tr>
              <a:tr h="571500">
                <a:tc>
                  <a:txBody>
                    <a:bodyPr lIns="123825" tIns="66675" rIns="123825" bIns="66675">
                      <a:noAutofit/>
                    </a:bodyPr>
                    <a:lstStyle/>
                    <a:p>
                      <a:r>
                        <a:rPr sz="1725" b="0">
                          <a:solidFill>
                            <a:srgbClr val="26374D"/>
                          </a:solidFill>
                          <a:latin typeface="Malgun Gothic"/>
                          <a:ea typeface="Malgun Gothic"/>
                          <a:cs typeface="Malgun Gothic"/>
                        </a:rPr>
                        <a:t>Play 공통</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이동, 체력, 충돌, 시간, 점수, 종료</a:t>
                      </a:r>
                    </a:p>
                  </a:txBody>
                  <a:tcPr marL="91440" marR="91440" marT="45720" marB="45720" anchor="ctr">
                    <a:solidFill>
                      <a:srgbClr val="F2F5F9"/>
                    </a:solidFill>
                  </a:tcPr>
                </a:tc>
              </a:tr>
              <a:tr h="571500">
                <a:tc>
                  <a:txBody>
                    <a:bodyPr lIns="123825" tIns="66675" rIns="123825" bIns="66675">
                      <a:noAutofit/>
                    </a:bodyPr>
                    <a:lstStyle/>
                    <a:p>
                      <a:r>
                        <a:rPr sz="1725" b="0">
                          <a:solidFill>
                            <a:srgbClr val="26374D"/>
                          </a:solidFill>
                          <a:latin typeface="Malgun Gothic"/>
                          <a:ea typeface="Malgun Gothic"/>
                          <a:cs typeface="Malgun Gothic"/>
                        </a:rPr>
                        <a:t>씬 설정 3개</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배경, 캐릭터·몬스터 외형, 음악, 공격 방식</a:t>
                      </a:r>
                    </a:p>
                  </a:txBody>
                  <a:tcPr marL="91440" marR="91440" marT="45720" marB="45720" anchor="ctr">
                    <a:solidFill>
                      <a:srgbClr val="E9EFF6"/>
                    </a:solidFill>
                  </a:tcPr>
                </a:tc>
              </a:tr>
              <a:tr h="571500">
                <a:tc>
                  <a:txBody>
                    <a:bodyPr lIns="123825" tIns="66675" rIns="123825" bIns="66675">
                      <a:noAutofit/>
                    </a:bodyPr>
                    <a:lstStyle/>
                    <a:p>
                      <a:r>
                        <a:rPr sz="1725" b="0">
                          <a:solidFill>
                            <a:srgbClr val="26374D"/>
                          </a:solidFill>
                          <a:latin typeface="Malgun Gothic"/>
                          <a:ea typeface="Malgun Gothic"/>
                          <a:cs typeface="Malgun Gothic"/>
                        </a:rPr>
                        <a:t>Attack</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회전형, 확산형, 투사체형과 중복 피해 제한</a:t>
                      </a:r>
                    </a:p>
                  </a:txBody>
                  <a:tcPr marL="91440" marR="91440" marT="45720" marB="45720" anchor="ctr">
                    <a:solidFill>
                      <a:srgbClr val="F2F5F9"/>
                    </a:solidFill>
                  </a:tcPr>
                </a:tc>
              </a:tr>
              <a:tr h="571500">
                <a:tc>
                  <a:txBody>
                    <a:bodyPr lIns="123825" tIns="66675" rIns="123825" bIns="66675">
                      <a:noAutofit/>
                    </a:bodyPr>
                    <a:lstStyle/>
                    <a:p>
                      <a:r>
                        <a:rPr sz="1725" b="0">
                          <a:solidFill>
                            <a:srgbClr val="26374D"/>
                          </a:solidFill>
                          <a:latin typeface="Malgun Gothic"/>
                          <a:ea typeface="Malgun Gothic"/>
                          <a:cs typeface="Malgun Gothic"/>
                        </a:rPr>
                        <a:t>Enemy / Spawn</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추적·분리 이동, 시간표, 생성 위치·상한</a:t>
                      </a:r>
                    </a:p>
                  </a:txBody>
                  <a:tcPr marL="91440" marR="91440" marT="45720" marB="45720" anchor="ctr">
                    <a:solidFill>
                      <a:srgbClr val="E9EFF6"/>
                    </a:solidFill>
                  </a:tcPr>
                </a:tc>
              </a:tr>
              <a:tr h="571500">
                <a:tc>
                  <a:txBody>
                    <a:bodyPr lIns="123825" tIns="66675" rIns="123825" bIns="66675">
                      <a:noAutofit/>
                    </a:bodyPr>
                    <a:lstStyle/>
                    <a:p>
                      <a:r>
                        <a:rPr sz="1725" b="0">
                          <a:solidFill>
                            <a:srgbClr val="26374D"/>
                          </a:solidFill>
                          <a:latin typeface="Malgun Gothic"/>
                          <a:ea typeface="Malgun Gothic"/>
                          <a:cs typeface="Malgun Gothic"/>
                        </a:rPr>
                        <a:t>Effects / Records</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효과 재사용·동시 수 제한, 로컬 기록·소리 설정</a:t>
                      </a:r>
                    </a:p>
                  </a:txBody>
                  <a:tcPr marL="91440" marR="91440" marT="45720" marB="45720" anchor="ctr">
                    <a:solidFill>
                      <a:srgbClr val="F2F5F9"/>
                    </a:solidFill>
                  </a:tcPr>
                </a:tc>
              </a:tr>
            </a:tbl>
          </a:graphicData>
        </a:graphic>
      </p:graphicFrame>
    </p:spTree>
    <p:extLst>
      <p:ext uri="{BB962C8B-B14F-4D97-AF65-F5344CB8AC3E}">
        <p14:creationId xmlns:p14="http://schemas.microsoft.com/office/powerpoint/2010/main" val="328458180"/>
      </p:ext>
    </p:extLst>
  </p:cSld>
</p:sld>
</file>

<file path=ppt/slides/slide24.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7B8B49A-FD66-46E3-BDBA-C017C1F1AECE}"/>
              </a:ext>
            </a:extLst>
          </p:cNvPr>
          <p:cNvSpPr>
            <a:spLocks xmlns:a="http://schemas.openxmlformats.org/drawingml/2006/main" noGrp="1"/>
          </p:cNvSpPr>
          <p:nvPr/>
        </p:nvSpPr>
        <p:spPr>
          <a:xfrm xmlns:a="http://schemas.openxmlformats.org/drawingml/2006/main">
            <a:off x="571500" y="40957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26374D"/>
                </a:solidFill>
                <a:latin typeface="Malgun Gothic"/>
                <a:ea typeface="Malgun Gothic"/>
                <a:cs typeface="Malgun Gothic"/>
              </a:defRPr>
            </a:pPr>
            <a:r>
              <a:rPr sz="3150" b="1">
                <a:solidFill>
                  <a:srgbClr val="26374D"/>
                </a:solidFill>
                <a:latin typeface="Malgun Gothic"/>
                <a:ea typeface="Malgun Gothic"/>
                <a:cs typeface="Malgun Gothic"/>
              </a:rPr>
              <a:t>설정 데이터와 예외 처리</a:t>
            </a:r>
          </a:p>
        </p:txBody>
      </p:sp>
      <p:sp>
        <p:nvSpPr>
          <p:cNvPr id="2" name="">
            <a:extLst xmlns:a="http://schemas.openxmlformats.org/drawingml/2006/main">
              <a:ext uri="{FF2B5EF4-FFF2-40B4-BE49-F238E27FC236}">
                <a16:creationId xmlns:a16="http://schemas.microsoft.com/office/drawing/2014/main" id="{5D3B263F-7BD1-484B-BA1E-3AD2BC8A6A3D}"/>
              </a:ext>
            </a:extLst>
          </p:cNvPr>
          <p:cNvSpPr>
            <a:spLocks xmlns:a="http://schemas.openxmlformats.org/drawingml/2006/main" noGrp="1"/>
          </p:cNvSpPr>
          <p:nvPr/>
        </p:nvSpPr>
        <p:spPr>
          <a:xfrm xmlns:a="http://schemas.openxmlformats.org/drawingml/2006/main">
            <a:off x="590550" y="1104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수치는 한곳에서 수정하고, 상태 전환과 정리는 공통 규칙으로 처리한다</a:t>
            </a:r>
          </a:p>
        </p:txBody>
      </p:sp>
      <p:sp>
        <p:nvSpPr>
          <p:cNvPr id="3" name="">
            <a:extLst xmlns:a="http://schemas.openxmlformats.org/drawingml/2006/main">
              <a:ext uri="{FF2B5EF4-FFF2-40B4-BE49-F238E27FC236}">
                <a16:creationId xmlns:a16="http://schemas.microsoft.com/office/drawing/2014/main" id="{2343E3A5-71E3-4524-92A9-901B3C332920}"/>
              </a:ext>
            </a:extLst>
          </p:cNvPr>
          <p:cNvSpPr>
            <a:spLocks xmlns:a="http://schemas.openxmlformats.org/drawingml/2006/main" noGrp="1"/>
          </p:cNvSpPr>
          <p:nvPr/>
        </p:nvSpPr>
        <p:spPr>
          <a:xfrm xmlns:a="http://schemas.openxmlformats.org/drawingml/2006/main">
            <a:off x="590550" y="6496050"/>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68778C"/>
                </a:solidFill>
                <a:latin typeface="Malgun Gothic"/>
                <a:ea typeface="Malgun Gothic"/>
                <a:cs typeface="Malgun Gothic"/>
              </a:defRPr>
            </a:pPr>
            <a:r>
              <a:rPr sz="975" b="0">
                <a:solidFill>
                  <a:srgbClr val="68778C"/>
                </a:solidFill>
                <a:latin typeface="Malgun Gothic"/>
                <a:ea typeface="Malgun Gothic"/>
                <a:cs typeface="Malgun Gothic"/>
              </a:rPr>
              <a:t>동물 힐링 서바이벌 / 프로토타입 개발 기획 v0.2</a:t>
            </a:r>
          </a:p>
        </p:txBody>
      </p:sp>
      <p:sp>
        <p:nvSpPr>
          <p:cNvPr id="4" name="">
            <a:extLst xmlns:a="http://schemas.openxmlformats.org/drawingml/2006/main">
              <a:ext uri="{FF2B5EF4-FFF2-40B4-BE49-F238E27FC236}">
                <a16:creationId xmlns:a16="http://schemas.microsoft.com/office/drawing/2014/main" id="{F4F31A1F-6116-4D9B-A505-DCCCEB547F2A}"/>
              </a:ext>
            </a:extLst>
          </p:cNvPr>
          <p:cNvSpPr>
            <a:spLocks xmlns:a="http://schemas.openxmlformats.org/drawingml/2006/main" noGrp="1"/>
          </p:cNvSpPr>
          <p:nvPr/>
        </p:nvSpPr>
        <p:spPr>
          <a:xfrm xmlns:a="http://schemas.openxmlformats.org/drawingml/2006/main">
            <a:off x="11096625" y="64770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8778C"/>
                </a:solidFill>
                <a:latin typeface="Malgun Gothic"/>
                <a:ea typeface="Malgun Gothic"/>
                <a:cs typeface="Malgun Gothic"/>
              </a:defRPr>
            </a:pPr>
            <a:r>
              <a:rPr sz="1125" b="0">
                <a:solidFill>
                  <a:srgbClr val="68778C"/>
                </a:solidFill>
                <a:latin typeface="Malgun Gothic"/>
                <a:ea typeface="Malgun Gothic"/>
                <a:cs typeface="Malgun Gothic"/>
              </a:rPr>
              <a:t>24</a:t>
            </a:r>
          </a:p>
        </p:txBody>
      </p:sp>
      <p:sp>
        <p:nvSpPr>
          <p:cNvPr id="5" name="">
            <a:extLst xmlns:a="http://schemas.openxmlformats.org/drawingml/2006/main">
              <a:ext uri="{FF2B5EF4-FFF2-40B4-BE49-F238E27FC236}">
                <a16:creationId xmlns:a16="http://schemas.microsoft.com/office/drawing/2014/main" id="{689F8257-EF5A-4F96-B483-1980276866C2}"/>
              </a:ext>
            </a:extLst>
          </p:cNvPr>
          <p:cNvSpPr>
            <a:spLocks xmlns:a="http://schemas.openxmlformats.org/drawingml/2006/main" noGrp="1"/>
          </p:cNvSpPr>
          <p:nvPr/>
        </p:nvSpPr>
        <p:spPr>
          <a:xfrm xmlns:a="http://schemas.openxmlformats.org/drawingml/2006/main">
            <a:off x="609600" y="17145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6374D"/>
                </a:solidFill>
                <a:latin typeface="Malgun Gothic"/>
                <a:ea typeface="Malgun Gothic"/>
                <a:cs typeface="Malgun Gothic"/>
              </a:defRPr>
            </a:pPr>
            <a:r>
              <a:rPr sz="2025" b="1">
                <a:solidFill>
                  <a:srgbClr val="26374D"/>
                </a:solidFill>
                <a:latin typeface="Malgun Gothic"/>
                <a:ea typeface="Malgun Gothic"/>
                <a:cs typeface="Malgun Gothic"/>
              </a:rPr>
              <a:t>설정 데이터</a:t>
            </a:r>
          </a:p>
        </p:txBody>
      </p:sp>
      <p:sp>
        <p:nvSpPr>
          <p:cNvPr id="6" name="">
            <a:extLst xmlns:a="http://schemas.openxmlformats.org/drawingml/2006/main">
              <a:ext uri="{FF2B5EF4-FFF2-40B4-BE49-F238E27FC236}">
                <a16:creationId xmlns:a16="http://schemas.microsoft.com/office/drawing/2014/main" id="{6F85EAAF-31E5-4D50-96ED-614E24D9FA3A}"/>
              </a:ext>
            </a:extLst>
          </p:cNvPr>
          <p:cNvSpPr>
            <a:spLocks xmlns:a="http://schemas.openxmlformats.org/drawingml/2006/main" noGrp="1"/>
          </p:cNvSpPr>
          <p:nvPr/>
        </p:nvSpPr>
        <p:spPr>
          <a:xfrm xmlns:a="http://schemas.openxmlformats.org/drawingml/2006/main">
            <a:off x="609600" y="2133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8778C"/>
                </a:solidFill>
                <a:latin typeface="Malgun Gothic"/>
                <a:ea typeface="Malgun Gothic"/>
                <a:cs typeface="Malgun Gothic"/>
              </a:defRPr>
            </a:pPr>
            <a:r>
              <a:rPr sz="1875" b="0">
                <a:solidFill>
                  <a:srgbClr val="68778C"/>
                </a:solidFill>
                <a:latin typeface="Malgun Gothic"/>
                <a:ea typeface="Malgun Gothic"/>
                <a:cs typeface="Malgun Gothic"/>
              </a:rPr>
              <a:t>캐릭터, 공격, 적, 생성 시간표를 분리한다. 본문의 수치를 기본값으로 사용한다.</a:t>
            </a:r>
          </a:p>
        </p:txBody>
      </p:sp>
      <p:sp>
        <p:nvSpPr>
          <p:cNvPr id="7" name="">
            <a:extLst xmlns:a="http://schemas.openxmlformats.org/drawingml/2006/main">
              <a:ext uri="{FF2B5EF4-FFF2-40B4-BE49-F238E27FC236}">
                <a16:creationId xmlns:a16="http://schemas.microsoft.com/office/drawing/2014/main" id="{02BF4651-D982-494B-BDE0-E9C97F13A41A}"/>
              </a:ext>
            </a:extLst>
          </p:cNvPr>
          <p:cNvSpPr>
            <a:spLocks xmlns:a="http://schemas.openxmlformats.org/drawingml/2006/main" noGrp="1"/>
          </p:cNvSpPr>
          <p:nvPr/>
        </p:nvSpPr>
        <p:spPr>
          <a:xfrm xmlns:a="http://schemas.openxmlformats.org/drawingml/2006/main">
            <a:off x="609600" y="27908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6374D"/>
                </a:solidFill>
                <a:latin typeface="Malgun Gothic"/>
                <a:ea typeface="Malgun Gothic"/>
                <a:cs typeface="Malgun Gothic"/>
              </a:defRPr>
            </a:pPr>
            <a:r>
              <a:rPr sz="2025" b="1">
                <a:solidFill>
                  <a:srgbClr val="26374D"/>
                </a:solidFill>
                <a:latin typeface="Malgun Gothic"/>
                <a:ea typeface="Malgun Gothic"/>
                <a:cs typeface="Malgun Gothic"/>
              </a:rPr>
              <a:t>시간 처리</a:t>
            </a:r>
          </a:p>
        </p:txBody>
      </p:sp>
      <p:sp>
        <p:nvSpPr>
          <p:cNvPr id="8" name="">
            <a:extLst xmlns:a="http://schemas.openxmlformats.org/drawingml/2006/main">
              <a:ext uri="{FF2B5EF4-FFF2-40B4-BE49-F238E27FC236}">
                <a16:creationId xmlns:a16="http://schemas.microsoft.com/office/drawing/2014/main" id="{519F583D-09AD-427C-955B-F41F09B4CB1E}"/>
              </a:ext>
            </a:extLst>
          </p:cNvPr>
          <p:cNvSpPr>
            <a:spLocks xmlns:a="http://schemas.openxmlformats.org/drawingml/2006/main" noGrp="1"/>
          </p:cNvSpPr>
          <p:nvPr/>
        </p:nvSpPr>
        <p:spPr>
          <a:xfrm xmlns:a="http://schemas.openxmlformats.org/drawingml/2006/main">
            <a:off x="609600" y="320992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8778C"/>
                </a:solidFill>
                <a:latin typeface="Malgun Gothic"/>
                <a:ea typeface="Malgun Gothic"/>
                <a:cs typeface="Malgun Gothic"/>
              </a:defRPr>
            </a:pPr>
            <a:r>
              <a:rPr sz="1875" b="0">
                <a:solidFill>
                  <a:srgbClr val="68778C"/>
                </a:solidFill>
                <a:latin typeface="Malgun Gothic"/>
                <a:ea typeface="Malgun Gothic"/>
                <a:cs typeface="Malgun Gothic"/>
              </a:rPr>
              <a:t>프레임 속도와 무관하게 이동·공격·생성을 갱신하고 탭 복귀 시 시간을 몰아 처리하지 않는다.</a:t>
            </a:r>
          </a:p>
        </p:txBody>
      </p:sp>
      <p:sp>
        <p:nvSpPr>
          <p:cNvPr id="9" name="">
            <a:extLst xmlns:a="http://schemas.openxmlformats.org/drawingml/2006/main">
              <a:ext uri="{FF2B5EF4-FFF2-40B4-BE49-F238E27FC236}">
                <a16:creationId xmlns:a16="http://schemas.microsoft.com/office/drawing/2014/main" id="{E0BEA03E-F9AA-409B-B59D-0BE0010BBBB8}"/>
              </a:ext>
            </a:extLst>
          </p:cNvPr>
          <p:cNvSpPr>
            <a:spLocks xmlns:a="http://schemas.openxmlformats.org/drawingml/2006/main" noGrp="1"/>
          </p:cNvSpPr>
          <p:nvPr/>
        </p:nvSpPr>
        <p:spPr>
          <a:xfrm xmlns:a="http://schemas.openxmlformats.org/drawingml/2006/main">
            <a:off x="609600" y="38671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6374D"/>
                </a:solidFill>
                <a:latin typeface="Malgun Gothic"/>
                <a:ea typeface="Malgun Gothic"/>
                <a:cs typeface="Malgun Gothic"/>
              </a:defRPr>
            </a:pPr>
            <a:r>
              <a:rPr sz="2025" b="1">
                <a:solidFill>
                  <a:srgbClr val="26374D"/>
                </a:solidFill>
                <a:latin typeface="Malgun Gothic"/>
                <a:ea typeface="Malgun Gothic"/>
                <a:cs typeface="Malgun Gothic"/>
              </a:rPr>
              <a:t>판정과 종료</a:t>
            </a:r>
          </a:p>
        </p:txBody>
      </p:sp>
      <p:sp>
        <p:nvSpPr>
          <p:cNvPr id="10" name="">
            <a:extLst xmlns:a="http://schemas.openxmlformats.org/drawingml/2006/main">
              <a:ext uri="{FF2B5EF4-FFF2-40B4-BE49-F238E27FC236}">
                <a16:creationId xmlns:a16="http://schemas.microsoft.com/office/drawing/2014/main" id="{C62BA452-ABEC-4CB3-B0F4-DAB6C17B9C50}"/>
              </a:ext>
            </a:extLst>
          </p:cNvPr>
          <p:cNvSpPr>
            <a:spLocks xmlns:a="http://schemas.openxmlformats.org/drawingml/2006/main" noGrp="1"/>
          </p:cNvSpPr>
          <p:nvPr/>
        </p:nvSpPr>
        <p:spPr>
          <a:xfrm xmlns:a="http://schemas.openxmlformats.org/drawingml/2006/main">
            <a:off x="609600" y="428625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8778C"/>
                </a:solidFill>
                <a:latin typeface="Malgun Gothic"/>
                <a:ea typeface="Malgun Gothic"/>
                <a:cs typeface="Malgun Gothic"/>
              </a:defRPr>
            </a:pPr>
            <a:r>
              <a:rPr sz="1875" b="0">
                <a:solidFill>
                  <a:srgbClr val="68778C"/>
                </a:solidFill>
                <a:latin typeface="Malgun Gothic"/>
                <a:ea typeface="Malgun Gothic"/>
                <a:cs typeface="Malgun Gothic"/>
              </a:rPr>
              <a:t>피격·점수·사망은 한 번만 처리한다. 빠른 투사체는 이동 구간 전체로 충돌을 검사한다.</a:t>
            </a:r>
          </a:p>
        </p:txBody>
      </p:sp>
      <p:sp>
        <p:nvSpPr>
          <p:cNvPr id="11" name="">
            <a:extLst xmlns:a="http://schemas.openxmlformats.org/drawingml/2006/main">
              <a:ext uri="{FF2B5EF4-FFF2-40B4-BE49-F238E27FC236}">
                <a16:creationId xmlns:a16="http://schemas.microsoft.com/office/drawing/2014/main" id="{5B7625BA-F8D1-4F1E-B719-957C23C592D0}"/>
              </a:ext>
            </a:extLst>
          </p:cNvPr>
          <p:cNvSpPr>
            <a:spLocks xmlns:a="http://schemas.openxmlformats.org/drawingml/2006/main" noGrp="1"/>
          </p:cNvSpPr>
          <p:nvPr/>
        </p:nvSpPr>
        <p:spPr>
          <a:xfrm xmlns:a="http://schemas.openxmlformats.org/drawingml/2006/main">
            <a:off x="609600" y="49434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6374D"/>
                </a:solidFill>
                <a:latin typeface="Malgun Gothic"/>
                <a:ea typeface="Malgun Gothic"/>
                <a:cs typeface="Malgun Gothic"/>
              </a:defRPr>
            </a:pPr>
            <a:r>
              <a:rPr sz="2025" b="1">
                <a:solidFill>
                  <a:srgbClr val="26374D"/>
                </a:solidFill>
                <a:latin typeface="Malgun Gothic"/>
                <a:ea typeface="Malgun Gothic"/>
                <a:cs typeface="Malgun Gothic"/>
              </a:rPr>
              <a:t>씬 정리</a:t>
            </a:r>
          </a:p>
        </p:txBody>
      </p:sp>
      <p:sp>
        <p:nvSpPr>
          <p:cNvPr id="12" name="">
            <a:extLst xmlns:a="http://schemas.openxmlformats.org/drawingml/2006/main">
              <a:ext uri="{FF2B5EF4-FFF2-40B4-BE49-F238E27FC236}">
                <a16:creationId xmlns:a16="http://schemas.microsoft.com/office/drawing/2014/main" id="{CC6801F0-7529-4AF1-BA25-A6350A283AF1}"/>
              </a:ext>
            </a:extLst>
          </p:cNvPr>
          <p:cNvSpPr>
            <a:spLocks xmlns:a="http://schemas.openxmlformats.org/drawingml/2006/main" noGrp="1"/>
          </p:cNvSpPr>
          <p:nvPr/>
        </p:nvSpPr>
        <p:spPr>
          <a:xfrm xmlns:a="http://schemas.openxmlformats.org/drawingml/2006/main">
            <a:off x="609600" y="536257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8778C"/>
                </a:solidFill>
                <a:latin typeface="Malgun Gothic"/>
                <a:ea typeface="Malgun Gothic"/>
                <a:cs typeface="Malgun Gothic"/>
              </a:defRPr>
            </a:pPr>
            <a:r>
              <a:rPr sz="1875" b="0">
                <a:solidFill>
                  <a:srgbClr val="68778C"/>
                </a:solidFill>
                <a:latin typeface="Malgun Gothic"/>
                <a:ea typeface="Malgun Gothic"/>
                <a:cs typeface="Malgun Gothic"/>
              </a:rPr>
              <a:t>재시작 때 적·투사체·입력·타이머·오디오를 정리한다. 저장·오디오 실패에도 플레이는 유지한다.</a:t>
            </a:r>
          </a:p>
        </p:txBody>
      </p:sp>
    </p:spTree>
    <p:extLst>
      <p:ext uri="{BB962C8B-B14F-4D97-AF65-F5344CB8AC3E}">
        <p14:creationId xmlns:p14="http://schemas.microsoft.com/office/powerpoint/2010/main" val="364836033"/>
      </p:ext>
    </p:extLst>
  </p:cSld>
</p:sld>
</file>

<file path=ppt/slides/slide25.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EAC66A1-4BB9-4ACB-BE12-F3D058A44917}"/>
              </a:ext>
            </a:extLst>
          </p:cNvPr>
          <p:cNvSpPr>
            <a:spLocks xmlns:a="http://schemas.openxmlformats.org/drawingml/2006/main" noGrp="1"/>
          </p:cNvSpPr>
          <p:nvPr/>
        </p:nvSpPr>
        <p:spPr>
          <a:xfrm xmlns:a="http://schemas.openxmlformats.org/drawingml/2006/main">
            <a:off x="571500" y="40957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26374D"/>
                </a:solidFill>
                <a:latin typeface="Malgun Gothic"/>
                <a:ea typeface="Malgun Gothic"/>
                <a:cs typeface="Malgun Gothic"/>
              </a:defRPr>
            </a:pPr>
            <a:r>
              <a:rPr sz="3150" b="1">
                <a:solidFill>
                  <a:srgbClr val="26374D"/>
                </a:solidFill>
                <a:latin typeface="Malgun Gothic"/>
                <a:ea typeface="Malgun Gothic"/>
                <a:cs typeface="Malgun Gothic"/>
              </a:rPr>
              <a:t>프로토타입 제작 순서</a:t>
            </a:r>
          </a:p>
        </p:txBody>
      </p:sp>
      <p:sp>
        <p:nvSpPr>
          <p:cNvPr id="2" name="">
            <a:extLst xmlns:a="http://schemas.openxmlformats.org/drawingml/2006/main">
              <a:ext uri="{FF2B5EF4-FFF2-40B4-BE49-F238E27FC236}">
                <a16:creationId xmlns:a16="http://schemas.microsoft.com/office/drawing/2014/main" id="{0749A605-4E5E-4B44-93FD-8B93389F2956}"/>
              </a:ext>
            </a:extLst>
          </p:cNvPr>
          <p:cNvSpPr>
            <a:spLocks xmlns:a="http://schemas.openxmlformats.org/drawingml/2006/main" noGrp="1"/>
          </p:cNvSpPr>
          <p:nvPr/>
        </p:nvSpPr>
        <p:spPr>
          <a:xfrm xmlns:a="http://schemas.openxmlformats.org/drawingml/2006/main">
            <a:off x="590550" y="1104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각 단계의 완료 조건을 확인한 뒤 다음 단계로 진행한다</a:t>
            </a:r>
          </a:p>
        </p:txBody>
      </p:sp>
      <p:sp>
        <p:nvSpPr>
          <p:cNvPr id="3" name="">
            <a:extLst xmlns:a="http://schemas.openxmlformats.org/drawingml/2006/main">
              <a:ext uri="{FF2B5EF4-FFF2-40B4-BE49-F238E27FC236}">
                <a16:creationId xmlns:a16="http://schemas.microsoft.com/office/drawing/2014/main" id="{47C6C074-0676-45F1-B8FF-D858047B7627}"/>
              </a:ext>
            </a:extLst>
          </p:cNvPr>
          <p:cNvSpPr>
            <a:spLocks xmlns:a="http://schemas.openxmlformats.org/drawingml/2006/main" noGrp="1"/>
          </p:cNvSpPr>
          <p:nvPr/>
        </p:nvSpPr>
        <p:spPr>
          <a:xfrm xmlns:a="http://schemas.openxmlformats.org/drawingml/2006/main">
            <a:off x="590550" y="6496050"/>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68778C"/>
                </a:solidFill>
                <a:latin typeface="Malgun Gothic"/>
                <a:ea typeface="Malgun Gothic"/>
                <a:cs typeface="Malgun Gothic"/>
              </a:defRPr>
            </a:pPr>
            <a:r>
              <a:rPr sz="975" b="0">
                <a:solidFill>
                  <a:srgbClr val="68778C"/>
                </a:solidFill>
                <a:latin typeface="Malgun Gothic"/>
                <a:ea typeface="Malgun Gothic"/>
                <a:cs typeface="Malgun Gothic"/>
              </a:rPr>
              <a:t>동물 힐링 서바이벌 / 프로토타입 개발 기획 v0.2</a:t>
            </a:r>
          </a:p>
        </p:txBody>
      </p:sp>
      <p:sp>
        <p:nvSpPr>
          <p:cNvPr id="4" name="">
            <a:extLst xmlns:a="http://schemas.openxmlformats.org/drawingml/2006/main">
              <a:ext uri="{FF2B5EF4-FFF2-40B4-BE49-F238E27FC236}">
                <a16:creationId xmlns:a16="http://schemas.microsoft.com/office/drawing/2014/main" id="{31FD6269-6E36-42DF-A57D-394DE9924663}"/>
              </a:ext>
            </a:extLst>
          </p:cNvPr>
          <p:cNvSpPr>
            <a:spLocks xmlns:a="http://schemas.openxmlformats.org/drawingml/2006/main" noGrp="1"/>
          </p:cNvSpPr>
          <p:nvPr/>
        </p:nvSpPr>
        <p:spPr>
          <a:xfrm xmlns:a="http://schemas.openxmlformats.org/drawingml/2006/main">
            <a:off x="11096625" y="64770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8778C"/>
                </a:solidFill>
                <a:latin typeface="Malgun Gothic"/>
                <a:ea typeface="Malgun Gothic"/>
                <a:cs typeface="Malgun Gothic"/>
              </a:defRPr>
            </a:pPr>
            <a:r>
              <a:rPr sz="1125" b="0">
                <a:solidFill>
                  <a:srgbClr val="68778C"/>
                </a:solidFill>
                <a:latin typeface="Malgun Gothic"/>
                <a:ea typeface="Malgun Gothic"/>
                <a:cs typeface="Malgun Gothic"/>
              </a:rPr>
              <a:t>25</a:t>
            </a:r>
          </a:p>
        </p:txBody>
      </p:sp>
      <p:graphicFrame>
        <p:nvGraphicFramePr>
          <p:cNvPr id="11" name=""/>
          <p:cNvGraphicFramePr/>
          <p:nvPr/>
        </p:nvGraphicFramePr>
        <p:xfrm>
          <a:off xmlns:a="http://schemas.openxmlformats.org/drawingml/2006/main" x="590550" y="1762125"/>
          <a:ext xmlns:a="http://schemas.openxmlformats.org/drawingml/2006/main" cx="11010900" cy="3333750"/>
        </p:xfrm>
        <a:graphic xmlns:a="http://schemas.openxmlformats.org/drawingml/2006/main">
          <a:graphicData uri="http://schemas.openxmlformats.org/drawingml/2006/table">
            <a:tbl>
              <a:tblPr/>
              <a:tblGrid>
                <a:gridCol w="2095500"/>
                <a:gridCol w="4191000"/>
                <a:gridCol w="4724400"/>
              </a:tblGrid>
              <a:tr h="666750">
                <a:tc>
                  <a:txBody>
                    <a:bodyPr lIns="123825" tIns="66675" rIns="123825" bIns="66675">
                      <a:noAutofit/>
                    </a:bodyPr>
                    <a:lstStyle/>
                    <a:p>
                      <a:r>
                        <a:rPr sz="1725" b="1">
                          <a:solidFill>
                            <a:srgbClr val="FFFFFF"/>
                          </a:solidFill>
                          <a:latin typeface="Malgun Gothic"/>
                          <a:ea typeface="Malgun Gothic"/>
                          <a:cs typeface="Malgun Gothic"/>
                        </a:rPr>
                        <a:t>단계</a:t>
                      </a:r>
                    </a:p>
                  </a:txBody>
                  <a:tcPr marL="91440" marR="91440" marT="45720" marB="45720" anchor="ctr">
                    <a:solidFill>
                      <a:srgbClr val="26374D"/>
                    </a:solidFill>
                  </a:tcPr>
                </a:tc>
                <a:tc>
                  <a:txBody>
                    <a:bodyPr lIns="123825" tIns="66675" rIns="123825" bIns="66675">
                      <a:noAutofit/>
                    </a:bodyPr>
                    <a:lstStyle/>
                    <a:p>
                      <a:r>
                        <a:rPr sz="1725" b="1">
                          <a:solidFill>
                            <a:srgbClr val="FFFFFF"/>
                          </a:solidFill>
                          <a:latin typeface="Malgun Gothic"/>
                          <a:ea typeface="Malgun Gothic"/>
                          <a:cs typeface="Malgun Gothic"/>
                        </a:rPr>
                        <a:t>구현 내용</a:t>
                      </a:r>
                    </a:p>
                  </a:txBody>
                  <a:tcPr marL="91440" marR="91440" marT="45720" marB="45720" anchor="ctr">
                    <a:solidFill>
                      <a:srgbClr val="26374D"/>
                    </a:solidFill>
                  </a:tcPr>
                </a:tc>
                <a:tc>
                  <a:txBody>
                    <a:bodyPr lIns="123825" tIns="66675" rIns="123825" bIns="66675">
                      <a:noAutofit/>
                    </a:bodyPr>
                    <a:lstStyle/>
                    <a:p>
                      <a:r>
                        <a:rPr sz="1725" b="1">
                          <a:solidFill>
                            <a:srgbClr val="FFFFFF"/>
                          </a:solidFill>
                          <a:latin typeface="Malgun Gothic"/>
                          <a:ea typeface="Malgun Gothic"/>
                          <a:cs typeface="Malgun Gothic"/>
                        </a:rPr>
                        <a:t>완료 조건</a:t>
                      </a:r>
                    </a:p>
                  </a:txBody>
                  <a:tcPr marL="91440" marR="91440" marT="45720" marB="45720" anchor="ctr">
                    <a:solidFill>
                      <a:srgbClr val="26374D"/>
                    </a:solidFill>
                  </a:tcPr>
                </a:tc>
              </a:tr>
              <a:tr h="666750">
                <a:tc>
                  <a:txBody>
                    <a:bodyPr lIns="123825" tIns="66675" rIns="123825" bIns="66675">
                      <a:noAutofit/>
                    </a:bodyPr>
                    <a:lstStyle/>
                    <a:p>
                      <a:r>
                        <a:rPr sz="1725" b="0">
                          <a:solidFill>
                            <a:srgbClr val="26374D"/>
                          </a:solidFill>
                          <a:latin typeface="Malgun Gothic"/>
                          <a:ea typeface="Malgun Gothic"/>
                          <a:cs typeface="Malgun Gothic"/>
                        </a:rPr>
                        <a:t>1. 플레이 흐름</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인트로, 씬 3개, 이동, 결과, 재시작</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선택한 동물로 진입하고 상태가 초기화됨</a:t>
                      </a:r>
                    </a:p>
                  </a:txBody>
                  <a:tcPr marL="91440" marR="91440" marT="45720" marB="45720" anchor="ctr">
                    <a:solidFill>
                      <a:srgbClr val="E9EFF6"/>
                    </a:solidFill>
                  </a:tcPr>
                </a:tc>
              </a:tr>
              <a:tr h="666750">
                <a:tc>
                  <a:txBody>
                    <a:bodyPr lIns="123825" tIns="66675" rIns="123825" bIns="66675">
                      <a:noAutofit/>
                    </a:bodyPr>
                    <a:lstStyle/>
                    <a:p>
                      <a:r>
                        <a:rPr sz="1725" b="0">
                          <a:solidFill>
                            <a:srgbClr val="26374D"/>
                          </a:solidFill>
                          <a:latin typeface="Malgun Gothic"/>
                          <a:ea typeface="Malgun Gothic"/>
                          <a:cs typeface="Malgun Gothic"/>
                        </a:rPr>
                        <a:t>2. 전투와 기록</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공격 3종, 적 2종, 생성표, 체력·점수</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피해와 점수가 규칙대로 1회 반영됨</a:t>
                      </a:r>
                    </a:p>
                  </a:txBody>
                  <a:tcPr marL="91440" marR="91440" marT="45720" marB="45720" anchor="ctr">
                    <a:solidFill>
                      <a:srgbClr val="F2F5F9"/>
                    </a:solidFill>
                  </a:tcPr>
                </a:tc>
              </a:tr>
              <a:tr h="666750">
                <a:tc>
                  <a:txBody>
                    <a:bodyPr lIns="123825" tIns="66675" rIns="123825" bIns="66675">
                      <a:noAutofit/>
                    </a:bodyPr>
                    <a:lstStyle/>
                    <a:p>
                      <a:r>
                        <a:rPr sz="1725" b="0">
                          <a:solidFill>
                            <a:srgbClr val="26374D"/>
                          </a:solidFill>
                          <a:latin typeface="Malgun Gothic"/>
                          <a:ea typeface="Malgun Gothic"/>
                          <a:cs typeface="Malgun Gothic"/>
                        </a:rPr>
                        <a:t>3. 시안 표현</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배경·동작·이펙트·음악 적용</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세 동물과 피격·처치 상태를 구분 가능</a:t>
                      </a:r>
                    </a:p>
                  </a:txBody>
                  <a:tcPr marL="91440" marR="91440" marT="45720" marB="45720" anchor="ctr">
                    <a:solidFill>
                      <a:srgbClr val="E9EFF6"/>
                    </a:solidFill>
                  </a:tcPr>
                </a:tc>
              </a:tr>
              <a:tr h="666750">
                <a:tc>
                  <a:txBody>
                    <a:bodyPr lIns="123825" tIns="66675" rIns="123825" bIns="66675">
                      <a:noAutofit/>
                    </a:bodyPr>
                    <a:lstStyle/>
                    <a:p>
                      <a:r>
                        <a:rPr sz="1725" b="0">
                          <a:solidFill>
                            <a:srgbClr val="26374D"/>
                          </a:solidFill>
                          <a:latin typeface="Malgun Gothic"/>
                          <a:ea typeface="Malgun Gothic"/>
                          <a:cs typeface="Malgun Gothic"/>
                        </a:rPr>
                        <a:t>4. 비교와 튜닝</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초반·최대 압박 구간 테스트</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세 캐릭터 모두 이동할 이유와 공격 손맛 존재</a:t>
                      </a:r>
                    </a:p>
                  </a:txBody>
                  <a:tcPr marL="91440" marR="91440" marT="45720" marB="45720" anchor="ctr">
                    <a:solidFill>
                      <a:srgbClr val="F2F5F9"/>
                    </a:solidFill>
                  </a:tcPr>
                </a:tc>
              </a:tr>
            </a:tbl>
          </a:graphicData>
        </a:graphic>
      </p:graphicFrame>
      <p:sp>
        <p:nvSpPr>
          <p:cNvPr id="6" name="">
            <a:extLst xmlns:a="http://schemas.openxmlformats.org/drawingml/2006/main">
              <a:ext uri="{FF2B5EF4-FFF2-40B4-BE49-F238E27FC236}">
                <a16:creationId xmlns:a16="http://schemas.microsoft.com/office/drawing/2014/main" id="{A58B406D-D325-4257-B8DD-F32D10641079}"/>
              </a:ext>
            </a:extLst>
          </p:cNvPr>
          <p:cNvSpPr>
            <a:spLocks xmlns:a="http://schemas.openxmlformats.org/drawingml/2006/main" noGrp="1"/>
          </p:cNvSpPr>
          <p:nvPr/>
        </p:nvSpPr>
        <p:spPr>
          <a:xfrm xmlns:a="http://schemas.openxmlformats.org/drawingml/2006/main">
            <a:off x="609600" y="585787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1">
                <a:solidFill>
                  <a:srgbClr val="617FA7"/>
                </a:solidFill>
                <a:latin typeface="Malgun Gothic"/>
                <a:ea typeface="Malgun Gothic"/>
                <a:cs typeface="Malgun Gothic"/>
              </a:defRPr>
            </a:pPr>
            <a:r>
              <a:rPr sz="1650" b="1">
                <a:solidFill>
                  <a:srgbClr val="617FA7"/>
                </a:solidFill>
                <a:latin typeface="Malgun Gothic"/>
                <a:ea typeface="Malgun Gothic"/>
                <a:cs typeface="Malgun Gothic"/>
              </a:rPr>
              <a:t>확정 플랫폼과 엔진에 맞춰 프로젝트 구조를 정한 뒤 1단계부터 구현한다.</a:t>
            </a:r>
          </a:p>
        </p:txBody>
      </p:sp>
    </p:spTree>
    <p:extLst>
      <p:ext uri="{BB962C8B-B14F-4D97-AF65-F5344CB8AC3E}">
        <p14:creationId xmlns:p14="http://schemas.microsoft.com/office/powerpoint/2010/main" val="703253855"/>
      </p:ext>
    </p:extLst>
  </p:cSld>
</p:sld>
</file>

<file path=ppt/slides/slide26.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5B8F58D-FB73-46AC-8C11-AA065654F691}"/>
              </a:ext>
            </a:extLst>
          </p:cNvPr>
          <p:cNvSpPr>
            <a:spLocks xmlns:a="http://schemas.openxmlformats.org/drawingml/2006/main" noGrp="1"/>
          </p:cNvSpPr>
          <p:nvPr/>
        </p:nvSpPr>
        <p:spPr>
          <a:xfrm xmlns:a="http://schemas.openxmlformats.org/drawingml/2006/main">
            <a:off x="571500" y="40957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26374D"/>
                </a:solidFill>
                <a:latin typeface="Malgun Gothic"/>
                <a:ea typeface="Malgun Gothic"/>
                <a:cs typeface="Malgun Gothic"/>
              </a:defRPr>
            </a:pPr>
            <a:r>
              <a:rPr sz="3150" b="1">
                <a:solidFill>
                  <a:srgbClr val="26374D"/>
                </a:solidFill>
                <a:latin typeface="Malgun Gothic"/>
                <a:ea typeface="Malgun Gothic"/>
                <a:cs typeface="Malgun Gothic"/>
              </a:rPr>
              <a:t>기능 완료 기준</a:t>
            </a:r>
          </a:p>
        </p:txBody>
      </p:sp>
      <p:sp>
        <p:nvSpPr>
          <p:cNvPr id="2" name="">
            <a:extLst xmlns:a="http://schemas.openxmlformats.org/drawingml/2006/main">
              <a:ext uri="{FF2B5EF4-FFF2-40B4-BE49-F238E27FC236}">
                <a16:creationId xmlns:a16="http://schemas.microsoft.com/office/drawing/2014/main" id="{35058B6B-A68B-424F-AA6A-3350683DEA37}"/>
              </a:ext>
            </a:extLst>
          </p:cNvPr>
          <p:cNvSpPr>
            <a:spLocks xmlns:a="http://schemas.openxmlformats.org/drawingml/2006/main" noGrp="1"/>
          </p:cNvSpPr>
          <p:nvPr/>
        </p:nvSpPr>
        <p:spPr>
          <a:xfrm xmlns:a="http://schemas.openxmlformats.org/drawingml/2006/main">
            <a:off x="590550" y="1104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아래 항목을 만족해야 검토 가능한 프로토타입으로 본다</a:t>
            </a:r>
          </a:p>
        </p:txBody>
      </p:sp>
      <p:sp>
        <p:nvSpPr>
          <p:cNvPr id="3" name="">
            <a:extLst xmlns:a="http://schemas.openxmlformats.org/drawingml/2006/main">
              <a:ext uri="{FF2B5EF4-FFF2-40B4-BE49-F238E27FC236}">
                <a16:creationId xmlns:a16="http://schemas.microsoft.com/office/drawing/2014/main" id="{70BE11C1-435E-464B-9F2A-6374BEF55D92}"/>
              </a:ext>
            </a:extLst>
          </p:cNvPr>
          <p:cNvSpPr>
            <a:spLocks xmlns:a="http://schemas.openxmlformats.org/drawingml/2006/main" noGrp="1"/>
          </p:cNvSpPr>
          <p:nvPr/>
        </p:nvSpPr>
        <p:spPr>
          <a:xfrm xmlns:a="http://schemas.openxmlformats.org/drawingml/2006/main">
            <a:off x="590550" y="6496050"/>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68778C"/>
                </a:solidFill>
                <a:latin typeface="Malgun Gothic"/>
                <a:ea typeface="Malgun Gothic"/>
                <a:cs typeface="Malgun Gothic"/>
              </a:defRPr>
            </a:pPr>
            <a:r>
              <a:rPr sz="975" b="0">
                <a:solidFill>
                  <a:srgbClr val="68778C"/>
                </a:solidFill>
                <a:latin typeface="Malgun Gothic"/>
                <a:ea typeface="Malgun Gothic"/>
                <a:cs typeface="Malgun Gothic"/>
              </a:rPr>
              <a:t>동물 힐링 서바이벌 / 프로토타입 개발 기획 v0.2</a:t>
            </a:r>
          </a:p>
        </p:txBody>
      </p:sp>
      <p:sp>
        <p:nvSpPr>
          <p:cNvPr id="4" name="">
            <a:extLst xmlns:a="http://schemas.openxmlformats.org/drawingml/2006/main">
              <a:ext uri="{FF2B5EF4-FFF2-40B4-BE49-F238E27FC236}">
                <a16:creationId xmlns:a16="http://schemas.microsoft.com/office/drawing/2014/main" id="{460070B9-6E9E-49E5-8C21-075A0B30457F}"/>
              </a:ext>
            </a:extLst>
          </p:cNvPr>
          <p:cNvSpPr>
            <a:spLocks xmlns:a="http://schemas.openxmlformats.org/drawingml/2006/main" noGrp="1"/>
          </p:cNvSpPr>
          <p:nvPr/>
        </p:nvSpPr>
        <p:spPr>
          <a:xfrm xmlns:a="http://schemas.openxmlformats.org/drawingml/2006/main">
            <a:off x="11096625" y="64770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8778C"/>
                </a:solidFill>
                <a:latin typeface="Malgun Gothic"/>
                <a:ea typeface="Malgun Gothic"/>
                <a:cs typeface="Malgun Gothic"/>
              </a:defRPr>
            </a:pPr>
            <a:r>
              <a:rPr sz="1125" b="0">
                <a:solidFill>
                  <a:srgbClr val="68778C"/>
                </a:solidFill>
                <a:latin typeface="Malgun Gothic"/>
                <a:ea typeface="Malgun Gothic"/>
                <a:cs typeface="Malgun Gothic"/>
              </a:rPr>
              <a:t>26</a:t>
            </a:r>
          </a:p>
        </p:txBody>
      </p:sp>
      <p:graphicFrame>
        <p:nvGraphicFramePr>
          <p:cNvPr id="10" name=""/>
          <p:cNvGraphicFramePr/>
          <p:nvPr/>
        </p:nvGraphicFramePr>
        <p:xfrm>
          <a:off xmlns:a="http://schemas.openxmlformats.org/drawingml/2006/main" x="590550" y="1762125"/>
          <a:ext xmlns:a="http://schemas.openxmlformats.org/drawingml/2006/main" cx="11010900" cy="4000500"/>
        </p:xfrm>
        <a:graphic xmlns:a="http://schemas.openxmlformats.org/drawingml/2006/main">
          <a:graphicData uri="http://schemas.openxmlformats.org/drawingml/2006/table">
            <a:tbl>
              <a:tblPr/>
              <a:tblGrid>
                <a:gridCol w="2476500"/>
                <a:gridCol w="8534400"/>
              </a:tblGrid>
              <a:tr h="571500">
                <a:tc>
                  <a:txBody>
                    <a:bodyPr lIns="123825" tIns="66675" rIns="123825" bIns="66675">
                      <a:noAutofit/>
                    </a:bodyPr>
                    <a:lstStyle/>
                    <a:p>
                      <a:r>
                        <a:rPr sz="1725" b="1">
                          <a:solidFill>
                            <a:srgbClr val="FFFFFF"/>
                          </a:solidFill>
                          <a:latin typeface="Malgun Gothic"/>
                          <a:ea typeface="Malgun Gothic"/>
                          <a:cs typeface="Malgun Gothic"/>
                        </a:rPr>
                        <a:t>검수 항목</a:t>
                      </a:r>
                    </a:p>
                  </a:txBody>
                  <a:tcPr marL="91440" marR="91440" marT="45720" marB="45720" anchor="ctr">
                    <a:solidFill>
                      <a:srgbClr val="26374D"/>
                    </a:solidFill>
                  </a:tcPr>
                </a:tc>
                <a:tc>
                  <a:txBody>
                    <a:bodyPr lIns="123825" tIns="66675" rIns="123825" bIns="66675">
                      <a:noAutofit/>
                    </a:bodyPr>
                    <a:lstStyle/>
                    <a:p>
                      <a:r>
                        <a:rPr sz="1725" b="1">
                          <a:solidFill>
                            <a:srgbClr val="FFFFFF"/>
                          </a:solidFill>
                          <a:latin typeface="Malgun Gothic"/>
                          <a:ea typeface="Malgun Gothic"/>
                          <a:cs typeface="Malgun Gothic"/>
                        </a:rPr>
                        <a:t>통과 조건</a:t>
                      </a:r>
                    </a:p>
                  </a:txBody>
                  <a:tcPr marL="91440" marR="91440" marT="45720" marB="45720" anchor="ctr">
                    <a:solidFill>
                      <a:srgbClr val="26374D"/>
                    </a:solidFill>
                  </a:tcPr>
                </a:tc>
              </a:tr>
              <a:tr h="571500">
                <a:tc>
                  <a:txBody>
                    <a:bodyPr lIns="123825" tIns="66675" rIns="123825" bIns="66675">
                      <a:noAutofit/>
                    </a:bodyPr>
                    <a:lstStyle/>
                    <a:p>
                      <a:r>
                        <a:rPr sz="1725" b="0">
                          <a:solidFill>
                            <a:srgbClr val="26374D"/>
                          </a:solidFill>
                          <a:latin typeface="Malgun Gothic"/>
                          <a:ea typeface="Malgun Gothic"/>
                          <a:cs typeface="Malgun Gothic"/>
                        </a:rPr>
                        <a:t>선택과 입력</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올바른 씬 진입, 중복 시작 없음, 대각선 속도 동일</a:t>
                      </a:r>
                    </a:p>
                  </a:txBody>
                  <a:tcPr marL="91440" marR="91440" marT="45720" marB="45720" anchor="ctr">
                    <a:solidFill>
                      <a:srgbClr val="E9EFF6"/>
                    </a:solidFill>
                  </a:tcPr>
                </a:tc>
              </a:tr>
              <a:tr h="571500">
                <a:tc>
                  <a:txBody>
                    <a:bodyPr lIns="123825" tIns="66675" rIns="123825" bIns="66675">
                      <a:noAutofit/>
                    </a:bodyPr>
                    <a:lstStyle/>
                    <a:p>
                      <a:r>
                        <a:rPr sz="1725" b="0">
                          <a:solidFill>
                            <a:srgbClr val="26374D"/>
                          </a:solidFill>
                          <a:latin typeface="Malgun Gothic"/>
                          <a:ea typeface="Malgun Gothic"/>
                          <a:cs typeface="Malgun Gothic"/>
                        </a:rPr>
                        <a:t>공격과 피격</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이펙트와 피해 시점 일치, 1초 무적, 다중 접촉 중복 피해 없음</a:t>
                      </a:r>
                    </a:p>
                  </a:txBody>
                  <a:tcPr marL="91440" marR="91440" marT="45720" marB="45720" anchor="ctr">
                    <a:solidFill>
                      <a:srgbClr val="F2F5F9"/>
                    </a:solidFill>
                  </a:tcPr>
                </a:tc>
              </a:tr>
              <a:tr h="571500">
                <a:tc>
                  <a:txBody>
                    <a:bodyPr lIns="123825" tIns="66675" rIns="123825" bIns="66675">
                      <a:noAutofit/>
                    </a:bodyPr>
                    <a:lstStyle/>
                    <a:p>
                      <a:r>
                        <a:rPr sz="1725" b="0">
                          <a:solidFill>
                            <a:srgbClr val="26374D"/>
                          </a:solidFill>
                          <a:latin typeface="Malgun Gothic"/>
                          <a:ea typeface="Malgun Gothic"/>
                          <a:cs typeface="Malgun Gothic"/>
                        </a:rPr>
                        <a:t>점수와 종료</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처치당 1회 지급, 체력 0 이후 공격·점수·생성 중지</a:t>
                      </a:r>
                    </a:p>
                  </a:txBody>
                  <a:tcPr marL="91440" marR="91440" marT="45720" marB="45720" anchor="ctr">
                    <a:solidFill>
                      <a:srgbClr val="E9EFF6"/>
                    </a:solidFill>
                  </a:tcPr>
                </a:tc>
              </a:tr>
              <a:tr h="571500">
                <a:tc>
                  <a:txBody>
                    <a:bodyPr lIns="123825" tIns="66675" rIns="123825" bIns="66675">
                      <a:noAutofit/>
                    </a:bodyPr>
                    <a:lstStyle/>
                    <a:p>
                      <a:r>
                        <a:rPr sz="1725" b="0">
                          <a:solidFill>
                            <a:srgbClr val="26374D"/>
                          </a:solidFill>
                          <a:latin typeface="Malgun Gothic"/>
                          <a:ea typeface="Malgun Gothic"/>
                          <a:cs typeface="Malgun Gothic"/>
                        </a:rPr>
                        <a:t>정지와 복귀</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시간·적·효과 모두 정지, 탭 복귀 후 사용자 입력으로 재개</a:t>
                      </a:r>
                    </a:p>
                  </a:txBody>
                  <a:tcPr marL="91440" marR="91440" marT="45720" marB="45720" anchor="ctr">
                    <a:solidFill>
                      <a:srgbClr val="F2F5F9"/>
                    </a:solidFill>
                  </a:tcPr>
                </a:tc>
              </a:tr>
              <a:tr h="571500">
                <a:tc>
                  <a:txBody>
                    <a:bodyPr lIns="123825" tIns="66675" rIns="123825" bIns="66675">
                      <a:noAutofit/>
                    </a:bodyPr>
                    <a:lstStyle/>
                    <a:p>
                      <a:r>
                        <a:rPr sz="1725" b="0">
                          <a:solidFill>
                            <a:srgbClr val="26374D"/>
                          </a:solidFill>
                          <a:latin typeface="Malgun Gothic"/>
                          <a:ea typeface="Malgun Gothic"/>
                          <a:cs typeface="Malgun Gothic"/>
                        </a:rPr>
                        <a:t>초기화와 저장</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재시작 상태 완전 초기화, 캐릭터별 최고 기록 보존</a:t>
                      </a:r>
                    </a:p>
                  </a:txBody>
                  <a:tcPr marL="91440" marR="91440" marT="45720" marB="45720" anchor="ctr">
                    <a:solidFill>
                      <a:srgbClr val="E9EFF6"/>
                    </a:solidFill>
                  </a:tcPr>
                </a:tc>
              </a:tr>
              <a:tr h="571500">
                <a:tc>
                  <a:txBody>
                    <a:bodyPr lIns="123825" tIns="66675" rIns="123825" bIns="66675">
                      <a:noAutofit/>
                    </a:bodyPr>
                    <a:lstStyle/>
                    <a:p>
                      <a:r>
                        <a:rPr sz="1725" b="0">
                          <a:solidFill>
                            <a:srgbClr val="26374D"/>
                          </a:solidFill>
                          <a:latin typeface="Malgun Gothic"/>
                          <a:ea typeface="Malgun Gothic"/>
                          <a:cs typeface="Malgun Gothic"/>
                        </a:rPr>
                        <a:t>화면 가독성</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적·캐릭터·피격·탈진 구분, 장식 뒤 불가시 피격 없음</a:t>
                      </a:r>
                    </a:p>
                  </a:txBody>
                  <a:tcPr marL="91440" marR="91440" marT="45720" marB="45720" anchor="ctr">
                    <a:solidFill>
                      <a:srgbClr val="F2F5F9"/>
                    </a:solidFill>
                  </a:tcPr>
                </a:tc>
              </a:tr>
            </a:tbl>
          </a:graphicData>
        </a:graphic>
      </p:graphicFrame>
    </p:spTree>
    <p:extLst>
      <p:ext uri="{BB962C8B-B14F-4D97-AF65-F5344CB8AC3E}">
        <p14:creationId xmlns:p14="http://schemas.microsoft.com/office/powerpoint/2010/main" val="2060682636"/>
      </p:ext>
    </p:extLst>
  </p:cSld>
</p:sld>
</file>

<file path=ppt/slides/slide27.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EC64E67-0102-43E4-A4E9-76F1249D95E0}"/>
              </a:ext>
            </a:extLst>
          </p:cNvPr>
          <p:cNvSpPr>
            <a:spLocks xmlns:a="http://schemas.openxmlformats.org/drawingml/2006/main" noGrp="1"/>
          </p:cNvSpPr>
          <p:nvPr/>
        </p:nvSpPr>
        <p:spPr>
          <a:xfrm xmlns:a="http://schemas.openxmlformats.org/drawingml/2006/main">
            <a:off x="571500" y="40957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26374D"/>
                </a:solidFill>
                <a:latin typeface="Malgun Gothic"/>
                <a:ea typeface="Malgun Gothic"/>
                <a:cs typeface="Malgun Gothic"/>
              </a:defRPr>
            </a:pPr>
            <a:r>
              <a:rPr sz="3150" b="1">
                <a:solidFill>
                  <a:srgbClr val="26374D"/>
                </a:solidFill>
                <a:latin typeface="Malgun Gothic"/>
                <a:ea typeface="Malgun Gothic"/>
                <a:cs typeface="Malgun Gothic"/>
              </a:rPr>
              <a:t>성능 검증과 플레이 비교</a:t>
            </a:r>
          </a:p>
        </p:txBody>
      </p:sp>
      <p:sp>
        <p:nvSpPr>
          <p:cNvPr id="2" name="">
            <a:extLst xmlns:a="http://schemas.openxmlformats.org/drawingml/2006/main">
              <a:ext uri="{FF2B5EF4-FFF2-40B4-BE49-F238E27FC236}">
                <a16:creationId xmlns:a16="http://schemas.microsoft.com/office/drawing/2014/main" id="{7E23A3BC-5DF4-4A2D-8156-1109B25AF566}"/>
              </a:ext>
            </a:extLst>
          </p:cNvPr>
          <p:cNvSpPr>
            <a:spLocks xmlns:a="http://schemas.openxmlformats.org/drawingml/2006/main" noGrp="1"/>
          </p:cNvSpPr>
          <p:nvPr/>
        </p:nvSpPr>
        <p:spPr>
          <a:xfrm xmlns:a="http://schemas.openxmlformats.org/drawingml/2006/main">
            <a:off x="590550" y="1104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검증 환경과 실제 결과를 남겨 다음 수정의 기준으로 사용한다</a:t>
            </a:r>
          </a:p>
        </p:txBody>
      </p:sp>
      <p:sp>
        <p:nvSpPr>
          <p:cNvPr id="3" name="">
            <a:extLst xmlns:a="http://schemas.openxmlformats.org/drawingml/2006/main">
              <a:ext uri="{FF2B5EF4-FFF2-40B4-BE49-F238E27FC236}">
                <a16:creationId xmlns:a16="http://schemas.microsoft.com/office/drawing/2014/main" id="{11496E61-AD97-4D3E-9DF9-BC6C3B5647C6}"/>
              </a:ext>
            </a:extLst>
          </p:cNvPr>
          <p:cNvSpPr>
            <a:spLocks xmlns:a="http://schemas.openxmlformats.org/drawingml/2006/main" noGrp="1"/>
          </p:cNvSpPr>
          <p:nvPr/>
        </p:nvSpPr>
        <p:spPr>
          <a:xfrm xmlns:a="http://schemas.openxmlformats.org/drawingml/2006/main">
            <a:off x="590550" y="6496050"/>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68778C"/>
                </a:solidFill>
                <a:latin typeface="Malgun Gothic"/>
                <a:ea typeface="Malgun Gothic"/>
                <a:cs typeface="Malgun Gothic"/>
              </a:defRPr>
            </a:pPr>
            <a:r>
              <a:rPr sz="975" b="0">
                <a:solidFill>
                  <a:srgbClr val="68778C"/>
                </a:solidFill>
                <a:latin typeface="Malgun Gothic"/>
                <a:ea typeface="Malgun Gothic"/>
                <a:cs typeface="Malgun Gothic"/>
              </a:rPr>
              <a:t>동물 힐링 서바이벌 / 프로토타입 개발 기획 v0.2</a:t>
            </a:r>
          </a:p>
        </p:txBody>
      </p:sp>
      <p:sp>
        <p:nvSpPr>
          <p:cNvPr id="4" name="">
            <a:extLst xmlns:a="http://schemas.openxmlformats.org/drawingml/2006/main">
              <a:ext uri="{FF2B5EF4-FFF2-40B4-BE49-F238E27FC236}">
                <a16:creationId xmlns:a16="http://schemas.microsoft.com/office/drawing/2014/main" id="{B7B0140E-8D1B-4790-986C-EAC7D9961190}"/>
              </a:ext>
            </a:extLst>
          </p:cNvPr>
          <p:cNvSpPr>
            <a:spLocks xmlns:a="http://schemas.openxmlformats.org/drawingml/2006/main" noGrp="1"/>
          </p:cNvSpPr>
          <p:nvPr/>
        </p:nvSpPr>
        <p:spPr>
          <a:xfrm xmlns:a="http://schemas.openxmlformats.org/drawingml/2006/main">
            <a:off x="11096625" y="64770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8778C"/>
                </a:solidFill>
                <a:latin typeface="Malgun Gothic"/>
                <a:ea typeface="Malgun Gothic"/>
                <a:cs typeface="Malgun Gothic"/>
              </a:defRPr>
            </a:pPr>
            <a:r>
              <a:rPr sz="1125" b="0">
                <a:solidFill>
                  <a:srgbClr val="68778C"/>
                </a:solidFill>
                <a:latin typeface="Malgun Gothic"/>
                <a:ea typeface="Malgun Gothic"/>
                <a:cs typeface="Malgun Gothic"/>
              </a:rPr>
              <a:t>27</a:t>
            </a:r>
          </a:p>
        </p:txBody>
      </p:sp>
      <p:sp>
        <p:nvSpPr>
          <p:cNvPr id="5" name="">
            <a:extLst xmlns:a="http://schemas.openxmlformats.org/drawingml/2006/main">
              <a:ext uri="{FF2B5EF4-FFF2-40B4-BE49-F238E27FC236}">
                <a16:creationId xmlns:a16="http://schemas.microsoft.com/office/drawing/2014/main" id="{33EC0331-7EB9-4652-82A5-50161547411D}"/>
              </a:ext>
            </a:extLst>
          </p:cNvPr>
          <p:cNvSpPr>
            <a:spLocks xmlns:a="http://schemas.openxmlformats.org/drawingml/2006/main" noGrp="1"/>
          </p:cNvSpPr>
          <p:nvPr/>
        </p:nvSpPr>
        <p:spPr>
          <a:xfrm xmlns:a="http://schemas.openxmlformats.org/drawingml/2006/main">
            <a:off x="609600" y="17145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6374D"/>
                </a:solidFill>
                <a:latin typeface="Malgun Gothic"/>
                <a:ea typeface="Malgun Gothic"/>
                <a:cs typeface="Malgun Gothic"/>
              </a:defRPr>
            </a:pPr>
            <a:r>
              <a:rPr sz="2025" b="1">
                <a:solidFill>
                  <a:srgbClr val="26374D"/>
                </a:solidFill>
                <a:latin typeface="Malgun Gothic"/>
                <a:ea typeface="Malgun Gothic"/>
                <a:cs typeface="Malgun Gothic"/>
              </a:rPr>
              <a:t>장시간 동작</a:t>
            </a:r>
          </a:p>
        </p:txBody>
      </p:sp>
      <p:sp>
        <p:nvSpPr>
          <p:cNvPr id="6" name="">
            <a:extLst xmlns:a="http://schemas.openxmlformats.org/drawingml/2006/main">
              <a:ext uri="{FF2B5EF4-FFF2-40B4-BE49-F238E27FC236}">
                <a16:creationId xmlns:a16="http://schemas.microsoft.com/office/drawing/2014/main" id="{9FB3BD6D-CA99-4665-9BA7-60085E5FEE87}"/>
              </a:ext>
            </a:extLst>
          </p:cNvPr>
          <p:cNvSpPr>
            <a:spLocks xmlns:a="http://schemas.openxmlformats.org/drawingml/2006/main" noGrp="1"/>
          </p:cNvSpPr>
          <p:nvPr/>
        </p:nvSpPr>
        <p:spPr>
          <a:xfrm xmlns:a="http://schemas.openxmlformats.org/drawingml/2006/main">
            <a:off x="609600" y="2133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8778C"/>
                </a:solidFill>
                <a:latin typeface="Malgun Gothic"/>
                <a:ea typeface="Malgun Gothic"/>
                <a:cs typeface="Malgun Gothic"/>
              </a:defRPr>
            </a:pPr>
            <a:r>
              <a:rPr sz="1875" b="0">
                <a:solidFill>
                  <a:srgbClr val="68778C"/>
                </a:solidFill>
                <a:latin typeface="Malgun Gothic"/>
                <a:ea typeface="Malgun Gothic"/>
                <a:cs typeface="Malgun Gothic"/>
              </a:rPr>
              <a:t>캐릭터별 10분 실행 또는 자동 실행에서 적 100마리·입자 200개 상한을 확인한다.</a:t>
            </a:r>
          </a:p>
        </p:txBody>
      </p:sp>
      <p:sp>
        <p:nvSpPr>
          <p:cNvPr id="7" name="">
            <a:extLst xmlns:a="http://schemas.openxmlformats.org/drawingml/2006/main">
              <a:ext uri="{FF2B5EF4-FFF2-40B4-BE49-F238E27FC236}">
                <a16:creationId xmlns:a16="http://schemas.microsoft.com/office/drawing/2014/main" id="{62545F2A-CA8E-43BD-9785-0D78D270B1CA}"/>
              </a:ext>
            </a:extLst>
          </p:cNvPr>
          <p:cNvSpPr>
            <a:spLocks xmlns:a="http://schemas.openxmlformats.org/drawingml/2006/main" noGrp="1"/>
          </p:cNvSpPr>
          <p:nvPr/>
        </p:nvSpPr>
        <p:spPr>
          <a:xfrm xmlns:a="http://schemas.openxmlformats.org/drawingml/2006/main">
            <a:off x="609600" y="28194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6374D"/>
                </a:solidFill>
                <a:latin typeface="Malgun Gothic"/>
                <a:ea typeface="Malgun Gothic"/>
                <a:cs typeface="Malgun Gothic"/>
              </a:defRPr>
            </a:pPr>
            <a:r>
              <a:rPr sz="2025" b="1">
                <a:solidFill>
                  <a:srgbClr val="26374D"/>
                </a:solidFill>
                <a:latin typeface="Malgun Gothic"/>
                <a:ea typeface="Malgun Gothic"/>
                <a:cs typeface="Malgun Gothic"/>
              </a:rPr>
              <a:t>전환 안정성</a:t>
            </a:r>
          </a:p>
        </p:txBody>
      </p:sp>
      <p:sp>
        <p:nvSpPr>
          <p:cNvPr id="8" name="">
            <a:extLst xmlns:a="http://schemas.openxmlformats.org/drawingml/2006/main">
              <a:ext uri="{FF2B5EF4-FFF2-40B4-BE49-F238E27FC236}">
                <a16:creationId xmlns:a16="http://schemas.microsoft.com/office/drawing/2014/main" id="{B8E2AE8C-8D6A-41AD-A4B9-7100C5A936B2}"/>
              </a:ext>
            </a:extLst>
          </p:cNvPr>
          <p:cNvSpPr>
            <a:spLocks xmlns:a="http://schemas.openxmlformats.org/drawingml/2006/main" noGrp="1"/>
          </p:cNvSpPr>
          <p:nvPr/>
        </p:nvSpPr>
        <p:spPr>
          <a:xfrm xmlns:a="http://schemas.openxmlformats.org/drawingml/2006/main">
            <a:off x="609600" y="32385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8778C"/>
                </a:solidFill>
                <a:latin typeface="Malgun Gothic"/>
                <a:ea typeface="Malgun Gothic"/>
                <a:cs typeface="Malgun Gothic"/>
              </a:defRPr>
            </a:pPr>
            <a:r>
              <a:rPr sz="1875" b="0">
                <a:solidFill>
                  <a:srgbClr val="68778C"/>
                </a:solidFill>
                <a:latin typeface="Malgun Gothic"/>
                <a:ea typeface="Malgun Gothic"/>
                <a:cs typeface="Malgun Gothic"/>
              </a:rPr>
              <a:t>재시작과 씬 전환 20회 후 객체·이벤트·메모리가 계속 쌓이지 않는지 확인한다.</a:t>
            </a:r>
          </a:p>
        </p:txBody>
      </p:sp>
      <p:sp>
        <p:nvSpPr>
          <p:cNvPr id="9" name="">
            <a:extLst xmlns:a="http://schemas.openxmlformats.org/drawingml/2006/main">
              <a:ext uri="{FF2B5EF4-FFF2-40B4-BE49-F238E27FC236}">
                <a16:creationId xmlns:a16="http://schemas.microsoft.com/office/drawing/2014/main" id="{72C263C9-0C7E-4B75-B92E-527939A8AF62}"/>
              </a:ext>
            </a:extLst>
          </p:cNvPr>
          <p:cNvSpPr>
            <a:spLocks xmlns:a="http://schemas.openxmlformats.org/drawingml/2006/main" noGrp="1"/>
          </p:cNvSpPr>
          <p:nvPr/>
        </p:nvSpPr>
        <p:spPr>
          <a:xfrm xmlns:a="http://schemas.openxmlformats.org/drawingml/2006/main">
            <a:off x="609600" y="39243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6374D"/>
                </a:solidFill>
                <a:latin typeface="Malgun Gothic"/>
                <a:ea typeface="Malgun Gothic"/>
                <a:cs typeface="Malgun Gothic"/>
              </a:defRPr>
            </a:pPr>
            <a:r>
              <a:rPr sz="2025" b="1">
                <a:solidFill>
                  <a:srgbClr val="26374D"/>
                </a:solidFill>
                <a:latin typeface="Malgun Gothic"/>
                <a:ea typeface="Malgun Gothic"/>
                <a:cs typeface="Malgun Gothic"/>
              </a:rPr>
              <a:t>성능 목표</a:t>
            </a:r>
          </a:p>
        </p:txBody>
      </p:sp>
      <p:sp>
        <p:nvSpPr>
          <p:cNvPr id="10" name="">
            <a:extLst xmlns:a="http://schemas.openxmlformats.org/drawingml/2006/main">
              <a:ext uri="{FF2B5EF4-FFF2-40B4-BE49-F238E27FC236}">
                <a16:creationId xmlns:a16="http://schemas.microsoft.com/office/drawing/2014/main" id="{581F55F9-CBAA-45C6-97F6-03BA03A84545}"/>
              </a:ext>
            </a:extLst>
          </p:cNvPr>
          <p:cNvSpPr>
            <a:spLocks xmlns:a="http://schemas.openxmlformats.org/drawingml/2006/main" noGrp="1"/>
          </p:cNvSpPr>
          <p:nvPr/>
        </p:nvSpPr>
        <p:spPr>
          <a:xfrm xmlns:a="http://schemas.openxmlformats.org/drawingml/2006/main">
            <a:off x="609600" y="43434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8778C"/>
                </a:solidFill>
                <a:latin typeface="Malgun Gothic"/>
                <a:ea typeface="Malgun Gothic"/>
                <a:cs typeface="Malgun Gothic"/>
              </a:defRPr>
            </a:pPr>
            <a:r>
              <a:rPr sz="1875" b="0">
                <a:solidFill>
                  <a:srgbClr val="68778C"/>
                </a:solidFill>
                <a:latin typeface="Malgun Gothic"/>
                <a:ea typeface="Malgun Gothic"/>
                <a:cs typeface="Malgun Gothic"/>
              </a:rPr>
              <a:t>기준 PC·브라우저를 기록하고 적 100마리에서 60fps와 입력 반응을 확인한다.</a:t>
            </a:r>
          </a:p>
        </p:txBody>
      </p:sp>
      <p:sp>
        <p:nvSpPr>
          <p:cNvPr id="11" name="">
            <a:extLst xmlns:a="http://schemas.openxmlformats.org/drawingml/2006/main">
              <a:ext uri="{FF2B5EF4-FFF2-40B4-BE49-F238E27FC236}">
                <a16:creationId xmlns:a16="http://schemas.microsoft.com/office/drawing/2014/main" id="{F5D0DB85-A4B4-4463-ADA9-2AFDE76F7B45}"/>
              </a:ext>
            </a:extLst>
          </p:cNvPr>
          <p:cNvSpPr>
            <a:spLocks xmlns:a="http://schemas.openxmlformats.org/drawingml/2006/main" noGrp="1"/>
          </p:cNvSpPr>
          <p:nvPr/>
        </p:nvSpPr>
        <p:spPr>
          <a:xfrm xmlns:a="http://schemas.openxmlformats.org/drawingml/2006/main">
            <a:off x="609600" y="50292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6374D"/>
                </a:solidFill>
                <a:latin typeface="Malgun Gothic"/>
                <a:ea typeface="Malgun Gothic"/>
                <a:cs typeface="Malgun Gothic"/>
              </a:defRPr>
            </a:pPr>
            <a:r>
              <a:rPr sz="2025" b="1">
                <a:solidFill>
                  <a:srgbClr val="26374D"/>
                </a:solidFill>
                <a:latin typeface="Malgun Gothic"/>
                <a:ea typeface="Malgun Gothic"/>
                <a:cs typeface="Malgun Gothic"/>
              </a:rPr>
              <a:t>플레이 비교</a:t>
            </a:r>
          </a:p>
        </p:txBody>
      </p:sp>
      <p:sp>
        <p:nvSpPr>
          <p:cNvPr id="12" name="">
            <a:extLst xmlns:a="http://schemas.openxmlformats.org/drawingml/2006/main">
              <a:ext uri="{FF2B5EF4-FFF2-40B4-BE49-F238E27FC236}">
                <a16:creationId xmlns:a16="http://schemas.microsoft.com/office/drawing/2014/main" id="{22D4BFCE-04AE-4BB3-BF29-44587F93E450}"/>
              </a:ext>
            </a:extLst>
          </p:cNvPr>
          <p:cNvSpPr>
            <a:spLocks xmlns:a="http://schemas.openxmlformats.org/drawingml/2006/main" noGrp="1"/>
          </p:cNvSpPr>
          <p:nvPr/>
        </p:nvSpPr>
        <p:spPr>
          <a:xfrm xmlns:a="http://schemas.openxmlformats.org/drawingml/2006/main">
            <a:off x="609600" y="54483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68778C"/>
                </a:solidFill>
                <a:latin typeface="Malgun Gothic"/>
                <a:ea typeface="Malgun Gothic"/>
                <a:cs typeface="Malgun Gothic"/>
              </a:defRPr>
            </a:pPr>
            <a:r>
              <a:rPr sz="1875" b="0">
                <a:solidFill>
                  <a:srgbClr val="68778C"/>
                </a:solidFill>
                <a:latin typeface="Malgun Gothic"/>
                <a:ea typeface="Malgun Gothic"/>
                <a:cs typeface="Malgun Gothic"/>
              </a:rPr>
              <a:t>첫 인상, 공격 만족도, 피격 이해도, 다시 하고 싶은 캐릭터와 생존 시간을 기록한다.</a:t>
            </a:r>
          </a:p>
        </p:txBody>
      </p:sp>
    </p:spTree>
    <p:extLst>
      <p:ext uri="{BB962C8B-B14F-4D97-AF65-F5344CB8AC3E}">
        <p14:creationId xmlns:p14="http://schemas.microsoft.com/office/powerpoint/2010/main" val="234922682"/>
      </p:ext>
    </p:extLst>
  </p:cSld>
</p:sld>
</file>

<file path=ppt/slides/slide28.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DB4C5EA-A783-412E-AA95-FD7B9851E6DF}"/>
              </a:ext>
            </a:extLst>
          </p:cNvPr>
          <p:cNvSpPr>
            <a:spLocks xmlns:a="http://schemas.openxmlformats.org/drawingml/2006/main" noGrp="1"/>
          </p:cNvSpPr>
          <p:nvPr/>
        </p:nvSpPr>
        <p:spPr>
          <a:xfrm xmlns:a="http://schemas.openxmlformats.org/drawingml/2006/main">
            <a:off x="571500" y="409575"/>
            <a:ext cx="1104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50" b="1">
                <a:solidFill>
                  <a:srgbClr val="26374D"/>
                </a:solidFill>
                <a:latin typeface="Malgun Gothic"/>
                <a:ea typeface="Malgun Gothic"/>
                <a:cs typeface="Malgun Gothic"/>
              </a:defRPr>
            </a:pPr>
            <a:r>
              <a:rPr sz="3150" b="1">
                <a:solidFill>
                  <a:srgbClr val="26374D"/>
                </a:solidFill>
                <a:latin typeface="Malgun Gothic"/>
                <a:ea typeface="Malgun Gothic"/>
                <a:cs typeface="Malgun Gothic"/>
              </a:rPr>
              <a:t>검토 후 개발에 전달할 결정사항</a:t>
            </a:r>
          </a:p>
        </p:txBody>
      </p:sp>
      <p:sp>
        <p:nvSpPr>
          <p:cNvPr id="2" name="">
            <a:extLst xmlns:a="http://schemas.openxmlformats.org/drawingml/2006/main">
              <a:ext uri="{FF2B5EF4-FFF2-40B4-BE49-F238E27FC236}">
                <a16:creationId xmlns:a16="http://schemas.microsoft.com/office/drawing/2014/main" id="{FD392318-466F-483C-80F4-076E4D6EAF94}"/>
              </a:ext>
            </a:extLst>
          </p:cNvPr>
          <p:cNvSpPr>
            <a:spLocks xmlns:a="http://schemas.openxmlformats.org/drawingml/2006/main" noGrp="1"/>
          </p:cNvSpPr>
          <p:nvPr/>
        </p:nvSpPr>
        <p:spPr>
          <a:xfrm xmlns:a="http://schemas.openxmlformats.org/drawingml/2006/main">
            <a:off x="590550" y="110490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68778C"/>
                </a:solidFill>
                <a:latin typeface="Malgun Gothic"/>
                <a:ea typeface="Malgun Gothic"/>
                <a:cs typeface="Malgun Gothic"/>
              </a:defRPr>
            </a:pPr>
            <a:r>
              <a:rPr sz="1725" b="0">
                <a:solidFill>
                  <a:srgbClr val="68778C"/>
                </a:solidFill>
                <a:latin typeface="Malgun Gothic"/>
                <a:ea typeface="Malgun Gothic"/>
                <a:cs typeface="Malgun Gothic"/>
              </a:rPr>
              <a:t>요청 범위와 제안값을 구분해 수정한 뒤 개발 기준 버전을 고정한다</a:t>
            </a:r>
          </a:p>
        </p:txBody>
      </p:sp>
      <p:sp>
        <p:nvSpPr>
          <p:cNvPr id="3" name="">
            <a:extLst xmlns:a="http://schemas.openxmlformats.org/drawingml/2006/main">
              <a:ext uri="{FF2B5EF4-FFF2-40B4-BE49-F238E27FC236}">
                <a16:creationId xmlns:a16="http://schemas.microsoft.com/office/drawing/2014/main" id="{50429ACC-9BA6-4DEC-AB95-6B99890E88A0}"/>
              </a:ext>
            </a:extLst>
          </p:cNvPr>
          <p:cNvSpPr>
            <a:spLocks xmlns:a="http://schemas.openxmlformats.org/drawingml/2006/main" noGrp="1"/>
          </p:cNvSpPr>
          <p:nvPr/>
        </p:nvSpPr>
        <p:spPr>
          <a:xfrm xmlns:a="http://schemas.openxmlformats.org/drawingml/2006/main">
            <a:off x="590550" y="6496050"/>
            <a:ext cx="971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975" b="0">
                <a:solidFill>
                  <a:srgbClr val="68778C"/>
                </a:solidFill>
                <a:latin typeface="Malgun Gothic"/>
                <a:ea typeface="Malgun Gothic"/>
                <a:cs typeface="Malgun Gothic"/>
              </a:defRPr>
            </a:pPr>
            <a:r>
              <a:rPr sz="975" b="0">
                <a:solidFill>
                  <a:srgbClr val="68778C"/>
                </a:solidFill>
                <a:latin typeface="Malgun Gothic"/>
                <a:ea typeface="Malgun Gothic"/>
                <a:cs typeface="Malgun Gothic"/>
              </a:rPr>
              <a:t>동물 힐링 서바이벌 / 프로토타입 개발 기획 v0.2</a:t>
            </a:r>
          </a:p>
        </p:txBody>
      </p:sp>
      <p:sp>
        <p:nvSpPr>
          <p:cNvPr id="4" name="">
            <a:extLst xmlns:a="http://schemas.openxmlformats.org/drawingml/2006/main">
              <a:ext uri="{FF2B5EF4-FFF2-40B4-BE49-F238E27FC236}">
                <a16:creationId xmlns:a16="http://schemas.microsoft.com/office/drawing/2014/main" id="{F5D77013-515F-4E70-BDF8-6EE25EE10B68}"/>
              </a:ext>
            </a:extLst>
          </p:cNvPr>
          <p:cNvSpPr>
            <a:spLocks xmlns:a="http://schemas.openxmlformats.org/drawingml/2006/main" noGrp="1"/>
          </p:cNvSpPr>
          <p:nvPr/>
        </p:nvSpPr>
        <p:spPr>
          <a:xfrm xmlns:a="http://schemas.openxmlformats.org/drawingml/2006/main">
            <a:off x="11096625" y="647700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68778C"/>
                </a:solidFill>
                <a:latin typeface="Malgun Gothic"/>
                <a:ea typeface="Malgun Gothic"/>
                <a:cs typeface="Malgun Gothic"/>
              </a:defRPr>
            </a:pPr>
            <a:r>
              <a:rPr sz="1125" b="0">
                <a:solidFill>
                  <a:srgbClr val="68778C"/>
                </a:solidFill>
                <a:latin typeface="Malgun Gothic"/>
                <a:ea typeface="Malgun Gothic"/>
                <a:cs typeface="Malgun Gothic"/>
              </a:rPr>
              <a:t>28</a:t>
            </a:r>
          </a:p>
        </p:txBody>
      </p:sp>
      <p:graphicFrame>
        <p:nvGraphicFramePr>
          <p:cNvPr id="10" name=""/>
          <p:cNvGraphicFramePr/>
          <p:nvPr/>
        </p:nvGraphicFramePr>
        <p:xfrm>
          <a:off xmlns:a="http://schemas.openxmlformats.org/drawingml/2006/main" x="590550" y="1762125"/>
          <a:ext xmlns:a="http://schemas.openxmlformats.org/drawingml/2006/main" cx="11010900" cy="3952875"/>
        </p:xfrm>
        <a:graphic xmlns:a="http://schemas.openxmlformats.org/drawingml/2006/main">
          <a:graphicData uri="http://schemas.openxmlformats.org/drawingml/2006/table">
            <a:tbl>
              <a:tblPr/>
              <a:tblGrid>
                <a:gridCol w="2524125"/>
                <a:gridCol w="8486775"/>
              </a:tblGrid>
              <a:tr h="564696">
                <a:tc>
                  <a:txBody>
                    <a:bodyPr lIns="123825" tIns="66675" rIns="123825" bIns="66675">
                      <a:noAutofit/>
                    </a:bodyPr>
                    <a:lstStyle/>
                    <a:p>
                      <a:r>
                        <a:rPr sz="1725" b="1">
                          <a:solidFill>
                            <a:srgbClr val="FFFFFF"/>
                          </a:solidFill>
                          <a:latin typeface="Malgun Gothic"/>
                          <a:ea typeface="Malgun Gothic"/>
                          <a:cs typeface="Malgun Gothic"/>
                        </a:rPr>
                        <a:t>검토 항목</a:t>
                      </a:r>
                    </a:p>
                  </a:txBody>
                  <a:tcPr marL="91440" marR="91440" marT="45720" marB="45720" anchor="ctr">
                    <a:solidFill>
                      <a:srgbClr val="26374D"/>
                    </a:solidFill>
                  </a:tcPr>
                </a:tc>
                <a:tc>
                  <a:txBody>
                    <a:bodyPr lIns="123825" tIns="66675" rIns="123825" bIns="66675">
                      <a:noAutofit/>
                    </a:bodyPr>
                    <a:lstStyle/>
                    <a:p>
                      <a:r>
                        <a:rPr sz="1725" b="1">
                          <a:solidFill>
                            <a:srgbClr val="FFFFFF"/>
                          </a:solidFill>
                          <a:latin typeface="Malgun Gothic"/>
                          <a:ea typeface="Malgun Gothic"/>
                          <a:cs typeface="Malgun Gothic"/>
                        </a:rPr>
                        <a:t>현재 제안</a:t>
                      </a:r>
                    </a:p>
                  </a:txBody>
                  <a:tcPr marL="91440" marR="91440" marT="45720" marB="45720" anchor="ctr">
                    <a:solidFill>
                      <a:srgbClr val="26374D"/>
                    </a:solidFill>
                  </a:tcPr>
                </a:tc>
              </a:tr>
              <a:tr h="564696">
                <a:tc>
                  <a:txBody>
                    <a:bodyPr lIns="123825" tIns="66675" rIns="123825" bIns="66675">
                      <a:noAutofit/>
                    </a:bodyPr>
                    <a:lstStyle/>
                    <a:p>
                      <a:r>
                        <a:rPr sz="1725" b="0">
                          <a:solidFill>
                            <a:srgbClr val="26374D"/>
                          </a:solidFill>
                          <a:latin typeface="Malgun Gothic"/>
                          <a:ea typeface="Malgun Gothic"/>
                          <a:cs typeface="Malgun Gothic"/>
                        </a:rPr>
                        <a:t>플랫폼·화면</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PC 브라우저, 16:9 고정 경기장</a:t>
                      </a:r>
                    </a:p>
                  </a:txBody>
                  <a:tcPr marL="91440" marR="91440" marT="45720" marB="45720" anchor="ctr">
                    <a:solidFill>
                      <a:srgbClr val="E9EFF6"/>
                    </a:solidFill>
                  </a:tcPr>
                </a:tc>
              </a:tr>
              <a:tr h="564696">
                <a:tc>
                  <a:txBody>
                    <a:bodyPr lIns="123825" tIns="66675" rIns="123825" bIns="66675">
                      <a:noAutofit/>
                    </a:bodyPr>
                    <a:lstStyle/>
                    <a:p>
                      <a:r>
                        <a:rPr sz="1725" b="0">
                          <a:solidFill>
                            <a:srgbClr val="26374D"/>
                          </a:solidFill>
                          <a:latin typeface="Malgun Gothic"/>
                          <a:ea typeface="Malgun Gothic"/>
                          <a:cs typeface="Malgun Gothic"/>
                        </a:rPr>
                        <a:t>캐릭터·화풍</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펭귄 픽셀, 카피바라·고양이 일러스트, 공통 UI</a:t>
                      </a:r>
                    </a:p>
                  </a:txBody>
                  <a:tcPr marL="91440" marR="91440" marT="45720" marB="45720" anchor="ctr">
                    <a:solidFill>
                      <a:srgbClr val="F2F5F9"/>
                    </a:solidFill>
                  </a:tcPr>
                </a:tc>
              </a:tr>
              <a:tr h="564696">
                <a:tc>
                  <a:txBody>
                    <a:bodyPr lIns="123825" tIns="66675" rIns="123825" bIns="66675">
                      <a:noAutofit/>
                    </a:bodyPr>
                    <a:lstStyle/>
                    <a:p>
                      <a:r>
                        <a:rPr sz="1725" b="0">
                          <a:solidFill>
                            <a:srgbClr val="26374D"/>
                          </a:solidFill>
                          <a:latin typeface="Malgun Gothic"/>
                          <a:ea typeface="Malgun Gothic"/>
                          <a:cs typeface="Malgun Gothic"/>
                        </a:rPr>
                        <a:t>조작·공격</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이동만 직접 조작, 눈꽃·파동·편지 자동 공격</a:t>
                      </a:r>
                    </a:p>
                  </a:txBody>
                  <a:tcPr marL="91440" marR="91440" marT="45720" marB="45720" anchor="ctr">
                    <a:solidFill>
                      <a:srgbClr val="E9EFF6"/>
                    </a:solidFill>
                  </a:tcPr>
                </a:tc>
              </a:tr>
              <a:tr h="564696">
                <a:tc>
                  <a:txBody>
                    <a:bodyPr lIns="123825" tIns="66675" rIns="123825" bIns="66675">
                      <a:noAutofit/>
                    </a:bodyPr>
                    <a:lstStyle/>
                    <a:p>
                      <a:r>
                        <a:rPr sz="1725" b="0">
                          <a:solidFill>
                            <a:srgbClr val="26374D"/>
                          </a:solidFill>
                          <a:latin typeface="Malgun Gothic"/>
                          <a:ea typeface="Malgun Gothic"/>
                          <a:cs typeface="Malgun Gothic"/>
                        </a:rPr>
                        <a:t>체력·난이도</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5칸, 회복 없음, 5분 이후 최종 압박 유지</a:t>
                      </a:r>
                    </a:p>
                  </a:txBody>
                  <a:tcPr marL="91440" marR="91440" marT="45720" marB="45720" anchor="ctr">
                    <a:solidFill>
                      <a:srgbClr val="F2F5F9"/>
                    </a:solidFill>
                  </a:tcPr>
                </a:tc>
              </a:tr>
              <a:tr h="564696">
                <a:tc>
                  <a:txBody>
                    <a:bodyPr lIns="123825" tIns="66675" rIns="123825" bIns="66675">
                      <a:noAutofit/>
                    </a:bodyPr>
                    <a:lstStyle/>
                    <a:p>
                      <a:r>
                        <a:rPr sz="1725" b="0">
                          <a:solidFill>
                            <a:srgbClr val="26374D"/>
                          </a:solidFill>
                          <a:latin typeface="Malgun Gothic"/>
                          <a:ea typeface="Malgun Gothic"/>
                          <a:cs typeface="Malgun Gothic"/>
                        </a:rPr>
                        <a:t>점수·성장</a:t>
                      </a:r>
                    </a:p>
                  </a:txBody>
                  <a:tcPr marL="91440" marR="91440" marT="45720" marB="45720" anchor="ctr">
                    <a:solidFill>
                      <a:srgbClr val="E9EFF6"/>
                    </a:solidFill>
                  </a:tcPr>
                </a:tc>
                <a:tc>
                  <a:txBody>
                    <a:bodyPr lIns="123825" tIns="66675" rIns="123825" bIns="66675">
                      <a:noAutofit/>
                    </a:bodyPr>
                    <a:lstStyle/>
                    <a:p>
                      <a:r>
                        <a:rPr sz="1725" b="0">
                          <a:solidFill>
                            <a:srgbClr val="26374D"/>
                          </a:solidFill>
                          <a:latin typeface="Malgun Gothic"/>
                          <a:ea typeface="Malgun Gothic"/>
                          <a:cs typeface="Malgun Gothic"/>
                        </a:rPr>
                        <a:t>처치 점수와 캐릭터별 최고 기록, 성장 시스템 없음</a:t>
                      </a:r>
                    </a:p>
                  </a:txBody>
                  <a:tcPr marL="91440" marR="91440" marT="45720" marB="45720" anchor="ctr">
                    <a:solidFill>
                      <a:srgbClr val="E9EFF6"/>
                    </a:solidFill>
                  </a:tcPr>
                </a:tc>
              </a:tr>
              <a:tr h="564696">
                <a:tc>
                  <a:txBody>
                    <a:bodyPr lIns="123825" tIns="66675" rIns="123825" bIns="66675">
                      <a:noAutofit/>
                    </a:bodyPr>
                    <a:lstStyle/>
                    <a:p>
                      <a:r>
                        <a:rPr sz="1725" b="0">
                          <a:solidFill>
                            <a:srgbClr val="26374D"/>
                          </a:solidFill>
                          <a:latin typeface="Malgun Gothic"/>
                          <a:ea typeface="Malgun Gothic"/>
                          <a:cs typeface="Malgun Gothic"/>
                        </a:rPr>
                        <a:t>개발 전달</a:t>
                      </a:r>
                    </a:p>
                  </a:txBody>
                  <a:tcPr marL="91440" marR="91440" marT="45720" marB="45720" anchor="ctr">
                    <a:solidFill>
                      <a:srgbClr val="F2F5F9"/>
                    </a:solidFill>
                  </a:tcPr>
                </a:tc>
                <a:tc>
                  <a:txBody>
                    <a:bodyPr lIns="123825" tIns="66675" rIns="123825" bIns="66675">
                      <a:noAutofit/>
                    </a:bodyPr>
                    <a:lstStyle/>
                    <a:p>
                      <a:r>
                        <a:rPr sz="1725" b="0">
                          <a:solidFill>
                            <a:srgbClr val="26374D"/>
                          </a:solidFill>
                          <a:latin typeface="Malgun Gothic"/>
                          <a:ea typeface="Malgun Gothic"/>
                          <a:cs typeface="Malgun Gothic"/>
                        </a:rPr>
                        <a:t>변경한 슬라이드 번호·항목·새 값을 지정하고 구현 시작</a:t>
                      </a:r>
                    </a:p>
                  </a:txBody>
                  <a:tcPr marL="91440" marR="91440" marT="45720" marB="45720" anchor="ctr">
                    <a:solidFill>
                      <a:srgbClr val="F2F5F9"/>
                    </a:solidFill>
                  </a:tcPr>
                </a:tc>
              </a:tr>
            </a:tbl>
          </a:graphicData>
        </a:graphic>
      </p:graphicFrame>
    </p:spTree>
    <p:extLst>
      <p:ext uri="{BB962C8B-B14F-4D97-AF65-F5344CB8AC3E}">
        <p14:creationId xmlns:p14="http://schemas.microsoft.com/office/powerpoint/2010/main" val="8603155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2026-09-10T00:36:50.7360000Z</dcterms:created>
  <dcterms:modified xsi:type="dcterms:W3CDTF">2026-09-10T00:36:50.7360000Z</dcterms:modified>
</coreProperties>
</file>