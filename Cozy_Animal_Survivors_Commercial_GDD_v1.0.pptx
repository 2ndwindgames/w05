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bbfbdbc56d46d9" /><Relationship Type="http://schemas.openxmlformats.org/officeDocument/2006/relationships/extended-properties" Target="/docProps/app.xml" Id="R3a86fafa4a2847be" /><Relationship Type="http://schemas.openxmlformats.org/officeDocument/2006/relationships/officeDocument" Target="/ppt/presentation.xml" Id="Re6de8132a8f84f4b" /></Relationships>
</file>

<file path=ppt/presentation.xml><?xml version="1.0" encoding="utf-8"?>
<p:presentation xmlns:p="http://schemas.openxmlformats.org/presentationml/2006/main">
  <p:sldMasterIdLst>
    <p:sldMasterId xmlns:r="http://schemas.openxmlformats.org/officeDocument/2006/relationships" id="2147483648" r:id="Rbe0bafcc51354716"/>
  </p:sldMasterIdLst>
  <p:notesMasterIdLst>
    <p:notesMasterId xmlns:r="http://schemas.openxmlformats.org/officeDocument/2006/relationships" r:id="R5a2cef8f8ec7406a"/>
  </p:notesMasterIdLst>
  <p:sldIdLst>
    <p:sldId xmlns:r="http://schemas.openxmlformats.org/officeDocument/2006/relationships" id="256" r:id="R3d1dead8929e47ff"/>
    <p:sldId xmlns:r="http://schemas.openxmlformats.org/officeDocument/2006/relationships" id="257" r:id="R337717afd9dc4a12"/>
    <p:sldId xmlns:r="http://schemas.openxmlformats.org/officeDocument/2006/relationships" id="258" r:id="Rc41475505256432b"/>
    <p:sldId xmlns:r="http://schemas.openxmlformats.org/officeDocument/2006/relationships" id="259" r:id="Rf40bcbae75094d20"/>
    <p:sldId xmlns:r="http://schemas.openxmlformats.org/officeDocument/2006/relationships" id="260" r:id="R28ef2cabfa964e04"/>
    <p:sldId xmlns:r="http://schemas.openxmlformats.org/officeDocument/2006/relationships" id="261" r:id="Rf50b8dab8b254603"/>
    <p:sldId xmlns:r="http://schemas.openxmlformats.org/officeDocument/2006/relationships" id="262" r:id="R0914ef3b168a44d2"/>
    <p:sldId xmlns:r="http://schemas.openxmlformats.org/officeDocument/2006/relationships" id="263" r:id="Rd7f2e0d63f284a8b"/>
    <p:sldId xmlns:r="http://schemas.openxmlformats.org/officeDocument/2006/relationships" id="264" r:id="R322789c2a2884ad5"/>
    <p:sldId xmlns:r="http://schemas.openxmlformats.org/officeDocument/2006/relationships" id="265" r:id="R028559d8573b41d8"/>
    <p:sldId xmlns:r="http://schemas.openxmlformats.org/officeDocument/2006/relationships" id="266" r:id="R08dace6a5526466c"/>
    <p:sldId xmlns:r="http://schemas.openxmlformats.org/officeDocument/2006/relationships" id="267" r:id="R2128d3fcd15c4511"/>
    <p:sldId xmlns:r="http://schemas.openxmlformats.org/officeDocument/2006/relationships" id="268" r:id="R932e0f85dc91428e"/>
    <p:sldId xmlns:r="http://schemas.openxmlformats.org/officeDocument/2006/relationships" id="269" r:id="R84607ddd8785465f"/>
    <p:sldId xmlns:r="http://schemas.openxmlformats.org/officeDocument/2006/relationships" id="270" r:id="R3dbdb837591a455f"/>
    <p:sldId xmlns:r="http://schemas.openxmlformats.org/officeDocument/2006/relationships" id="271" r:id="Rf1c1da0e17cd4ead"/>
    <p:sldId xmlns:r="http://schemas.openxmlformats.org/officeDocument/2006/relationships" id="272" r:id="Rfd0a3d993bb541d0"/>
    <p:sldId xmlns:r="http://schemas.openxmlformats.org/officeDocument/2006/relationships" id="273" r:id="R085b675a18f1443d"/>
    <p:sldId xmlns:r="http://schemas.openxmlformats.org/officeDocument/2006/relationships" id="274" r:id="R617b3d7ef7d4443b"/>
    <p:sldId xmlns:r="http://schemas.openxmlformats.org/officeDocument/2006/relationships" id="275" r:id="Raed9e1f9523549c9"/>
    <p:sldId xmlns:r="http://schemas.openxmlformats.org/officeDocument/2006/relationships" id="276" r:id="R2ecee2176b374d47"/>
    <p:sldId xmlns:r="http://schemas.openxmlformats.org/officeDocument/2006/relationships" id="277" r:id="R88434a4a23b247c4"/>
    <p:sldId xmlns:r="http://schemas.openxmlformats.org/officeDocument/2006/relationships" id="278" r:id="Rdded473b486445e9"/>
    <p:sldId xmlns:r="http://schemas.openxmlformats.org/officeDocument/2006/relationships" id="279" r:id="Ree4fad26676643ce"/>
    <p:sldId xmlns:r="http://schemas.openxmlformats.org/officeDocument/2006/relationships" id="280" r:id="R9e59afc77b614d35"/>
    <p:sldId xmlns:r="http://schemas.openxmlformats.org/officeDocument/2006/relationships" id="281" r:id="Ra03e1b2a451c4eda"/>
    <p:sldId xmlns:r="http://schemas.openxmlformats.org/officeDocument/2006/relationships" id="282" r:id="R880182bfdba64310"/>
    <p:sldId xmlns:r="http://schemas.openxmlformats.org/officeDocument/2006/relationships" id="283" r:id="Rbd746484ce0a44a1"/>
    <p:sldId xmlns:r="http://schemas.openxmlformats.org/officeDocument/2006/relationships" id="284" r:id="R82e69f33be714f5b"/>
    <p:sldId xmlns:r="http://schemas.openxmlformats.org/officeDocument/2006/relationships" id="285" r:id="Red7d3a867b1d4253"/>
    <p:sldId xmlns:r="http://schemas.openxmlformats.org/officeDocument/2006/relationships" id="286" r:id="R1b1c231759c846b6"/>
    <p:sldId xmlns:r="http://schemas.openxmlformats.org/officeDocument/2006/relationships" id="287" r:id="R69b95bec54bb4947"/>
    <p:sldId xmlns:r="http://schemas.openxmlformats.org/officeDocument/2006/relationships" id="288" r:id="R2c04c779ed074f8d"/>
    <p:sldId xmlns:r="http://schemas.openxmlformats.org/officeDocument/2006/relationships" id="289" r:id="Re0b890667d634adf"/>
    <p:sldId xmlns:r="http://schemas.openxmlformats.org/officeDocument/2006/relationships" id="290" r:id="Rcb8694918dec410d"/>
    <p:sldId xmlns:r="http://schemas.openxmlformats.org/officeDocument/2006/relationships" id="291" r:id="R7b24d79a3c824040"/>
    <p:sldId xmlns:r="http://schemas.openxmlformats.org/officeDocument/2006/relationships" id="292" r:id="Rf6e8d1eef51c4204"/>
    <p:sldId xmlns:r="http://schemas.openxmlformats.org/officeDocument/2006/relationships" id="293" r:id="R0e5f664403fb4cfa"/>
    <p:sldId xmlns:r="http://schemas.openxmlformats.org/officeDocument/2006/relationships" id="294" r:id="R00f82f4582394856"/>
    <p:sldId xmlns:r="http://schemas.openxmlformats.org/officeDocument/2006/relationships" id="295" r:id="Rf9ea6363a654448a"/>
    <p:sldId xmlns:r="http://schemas.openxmlformats.org/officeDocument/2006/relationships" id="296" r:id="R67f9851df9a94277"/>
    <p:sldId xmlns:r="http://schemas.openxmlformats.org/officeDocument/2006/relationships" id="297" r:id="Rc7846153814f4421"/>
    <p:sldId xmlns:r="http://schemas.openxmlformats.org/officeDocument/2006/relationships" id="298" r:id="Raa951b169b44424e"/>
    <p:sldId xmlns:r="http://schemas.openxmlformats.org/officeDocument/2006/relationships" id="299" r:id="Rb734223b211643c5"/>
    <p:sldId xmlns:r="http://schemas.openxmlformats.org/officeDocument/2006/relationships" id="300" r:id="Re05aa5f7a7de4571"/>
    <p:sldId xmlns:r="http://schemas.openxmlformats.org/officeDocument/2006/relationships" id="301" r:id="R97fa7ea5bc884383"/>
    <p:sldId xmlns:r="http://schemas.openxmlformats.org/officeDocument/2006/relationships" id="302" r:id="R672f6b1fadbf4ae0"/>
    <p:sldId xmlns:r="http://schemas.openxmlformats.org/officeDocument/2006/relationships" id="303" r:id="Rb9b971f4b65e405e"/>
    <p:sldId xmlns:r="http://schemas.openxmlformats.org/officeDocument/2006/relationships" id="304" r:id="R3d04443df02a43fa"/>
    <p:sldId xmlns:r="http://schemas.openxmlformats.org/officeDocument/2006/relationships" id="305" r:id="R5fa7acd9832f432d"/>
    <p:sldId xmlns:r="http://schemas.openxmlformats.org/officeDocument/2006/relationships" id="306" r:id="R7ed480f25f9344cf"/>
    <p:sldId xmlns:r="http://schemas.openxmlformats.org/officeDocument/2006/relationships" id="307" r:id="Rc1b74ad4e6c749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757da1916545e6" /><Relationship Type="http://schemas.openxmlformats.org/officeDocument/2006/relationships/slideMaster" Target="/ppt/slideMasters/slideMaster1.xml" Id="Rbe0bafcc51354716" /><Relationship Type="http://schemas.openxmlformats.org/officeDocument/2006/relationships/notesMaster" Target="/ppt/notesMasters/notesMaster1.xml" Id="R5a2cef8f8ec7406a" /><Relationship Type="http://schemas.openxmlformats.org/officeDocument/2006/relationships/presProps" Target="/ppt/presProps.xml" Id="Re63b1cf9a7874054" /><Relationship Type="http://schemas.openxmlformats.org/officeDocument/2006/relationships/tableStyles" Target="/ppt/tableStyles.xml" Id="Rd8a060f23d2c4d08" /><Relationship Type="http://schemas.openxmlformats.org/officeDocument/2006/relationships/slide" Target="/ppt/slides/slide1.xml" Id="R3d1dead8929e47ff" /><Relationship Type="http://schemas.openxmlformats.org/officeDocument/2006/relationships/slide" Target="/ppt/slides/slide2.xml" Id="R337717afd9dc4a12" /><Relationship Type="http://schemas.openxmlformats.org/officeDocument/2006/relationships/slide" Target="/ppt/slides/slide3.xml" Id="Rc41475505256432b" /><Relationship Type="http://schemas.openxmlformats.org/officeDocument/2006/relationships/slide" Target="/ppt/slides/slide4.xml" Id="Rf40bcbae75094d20" /><Relationship Type="http://schemas.openxmlformats.org/officeDocument/2006/relationships/slide" Target="/ppt/slides/slide5.xml" Id="R28ef2cabfa964e04" /><Relationship Type="http://schemas.openxmlformats.org/officeDocument/2006/relationships/slide" Target="/ppt/slides/slide6.xml" Id="Rf50b8dab8b254603" /><Relationship Type="http://schemas.openxmlformats.org/officeDocument/2006/relationships/slide" Target="/ppt/slides/slide7.xml" Id="R0914ef3b168a44d2" /><Relationship Type="http://schemas.openxmlformats.org/officeDocument/2006/relationships/slide" Target="/ppt/slides/slide8.xml" Id="Rd7f2e0d63f284a8b" /><Relationship Type="http://schemas.openxmlformats.org/officeDocument/2006/relationships/slide" Target="/ppt/slides/slide9.xml" Id="R322789c2a2884ad5" /><Relationship Type="http://schemas.openxmlformats.org/officeDocument/2006/relationships/slide" Target="/ppt/slides/slide10.xml" Id="R028559d8573b41d8" /><Relationship Type="http://schemas.openxmlformats.org/officeDocument/2006/relationships/slide" Target="/ppt/slides/slide11.xml" Id="R08dace6a5526466c" /><Relationship Type="http://schemas.openxmlformats.org/officeDocument/2006/relationships/slide" Target="/ppt/slides/slide12.xml" Id="R2128d3fcd15c4511" /><Relationship Type="http://schemas.openxmlformats.org/officeDocument/2006/relationships/slide" Target="/ppt/slides/slide13.xml" Id="R932e0f85dc91428e" /><Relationship Type="http://schemas.openxmlformats.org/officeDocument/2006/relationships/slide" Target="/ppt/slides/slide14.xml" Id="R84607ddd8785465f" /><Relationship Type="http://schemas.openxmlformats.org/officeDocument/2006/relationships/slide" Target="/ppt/slides/slide15.xml" Id="R3dbdb837591a455f" /><Relationship Type="http://schemas.openxmlformats.org/officeDocument/2006/relationships/slide" Target="/ppt/slides/slide16.xml" Id="Rf1c1da0e17cd4ead" /><Relationship Type="http://schemas.openxmlformats.org/officeDocument/2006/relationships/slide" Target="/ppt/slides/slide17.xml" Id="Rfd0a3d993bb541d0" /><Relationship Type="http://schemas.openxmlformats.org/officeDocument/2006/relationships/slide" Target="/ppt/slides/slide18.xml" Id="R085b675a18f1443d" /><Relationship Type="http://schemas.openxmlformats.org/officeDocument/2006/relationships/slide" Target="/ppt/slides/slide19.xml" Id="R617b3d7ef7d4443b" /><Relationship Type="http://schemas.openxmlformats.org/officeDocument/2006/relationships/slide" Target="/ppt/slides/slide20.xml" Id="Raed9e1f9523549c9" /><Relationship Type="http://schemas.openxmlformats.org/officeDocument/2006/relationships/slide" Target="/ppt/slides/slide21.xml" Id="R2ecee2176b374d47" /><Relationship Type="http://schemas.openxmlformats.org/officeDocument/2006/relationships/slide" Target="/ppt/slides/slide22.xml" Id="R88434a4a23b247c4" /><Relationship Type="http://schemas.openxmlformats.org/officeDocument/2006/relationships/slide" Target="/ppt/slides/slide23.xml" Id="Rdded473b486445e9" /><Relationship Type="http://schemas.openxmlformats.org/officeDocument/2006/relationships/slide" Target="/ppt/slides/slide24.xml" Id="Ree4fad26676643ce" /><Relationship Type="http://schemas.openxmlformats.org/officeDocument/2006/relationships/slide" Target="/ppt/slides/slide25.xml" Id="R9e59afc77b614d35" /><Relationship Type="http://schemas.openxmlformats.org/officeDocument/2006/relationships/slide" Target="/ppt/slides/slide26.xml" Id="Ra03e1b2a451c4eda" /><Relationship Type="http://schemas.openxmlformats.org/officeDocument/2006/relationships/slide" Target="/ppt/slides/slide27.xml" Id="R880182bfdba64310" /><Relationship Type="http://schemas.openxmlformats.org/officeDocument/2006/relationships/slide" Target="/ppt/slides/slide28.xml" Id="Rbd746484ce0a44a1" /><Relationship Type="http://schemas.openxmlformats.org/officeDocument/2006/relationships/slide" Target="/ppt/slides/slide29.xml" Id="R82e69f33be714f5b" /><Relationship Type="http://schemas.openxmlformats.org/officeDocument/2006/relationships/slide" Target="/ppt/slides/slide30.xml" Id="Red7d3a867b1d4253" /><Relationship Type="http://schemas.openxmlformats.org/officeDocument/2006/relationships/slide" Target="/ppt/slides/slide31.xml" Id="R1b1c231759c846b6" /><Relationship Type="http://schemas.openxmlformats.org/officeDocument/2006/relationships/slide" Target="/ppt/slides/slide32.xml" Id="R69b95bec54bb4947" /><Relationship Type="http://schemas.openxmlformats.org/officeDocument/2006/relationships/slide" Target="/ppt/slides/slide33.xml" Id="R2c04c779ed074f8d" /><Relationship Type="http://schemas.openxmlformats.org/officeDocument/2006/relationships/slide" Target="/ppt/slides/slide34.xml" Id="Re0b890667d634adf" /><Relationship Type="http://schemas.openxmlformats.org/officeDocument/2006/relationships/slide" Target="/ppt/slides/slide35.xml" Id="Rcb8694918dec410d" /><Relationship Type="http://schemas.openxmlformats.org/officeDocument/2006/relationships/slide" Target="/ppt/slides/slide36.xml" Id="R7b24d79a3c824040" /><Relationship Type="http://schemas.openxmlformats.org/officeDocument/2006/relationships/slide" Target="/ppt/slides/slide37.xml" Id="Rf6e8d1eef51c4204" /><Relationship Type="http://schemas.openxmlformats.org/officeDocument/2006/relationships/slide" Target="/ppt/slides/slide38.xml" Id="R0e5f664403fb4cfa" /><Relationship Type="http://schemas.openxmlformats.org/officeDocument/2006/relationships/slide" Target="/ppt/slides/slide39.xml" Id="R00f82f4582394856" /><Relationship Type="http://schemas.openxmlformats.org/officeDocument/2006/relationships/slide" Target="/ppt/slides/slide40.xml" Id="Rf9ea6363a654448a" /><Relationship Type="http://schemas.openxmlformats.org/officeDocument/2006/relationships/slide" Target="/ppt/slides/slide41.xml" Id="R67f9851df9a94277" /><Relationship Type="http://schemas.openxmlformats.org/officeDocument/2006/relationships/slide" Target="/ppt/slides/slide42.xml" Id="Rc7846153814f4421" /><Relationship Type="http://schemas.openxmlformats.org/officeDocument/2006/relationships/slide" Target="/ppt/slides/slide43.xml" Id="Raa951b169b44424e" /><Relationship Type="http://schemas.openxmlformats.org/officeDocument/2006/relationships/slide" Target="/ppt/slides/slide44.xml" Id="Rb734223b211643c5" /><Relationship Type="http://schemas.openxmlformats.org/officeDocument/2006/relationships/slide" Target="/ppt/slides/slide45.xml" Id="Re05aa5f7a7de4571" /><Relationship Type="http://schemas.openxmlformats.org/officeDocument/2006/relationships/slide" Target="/ppt/slides/slide46.xml" Id="R97fa7ea5bc884383" /><Relationship Type="http://schemas.openxmlformats.org/officeDocument/2006/relationships/slide" Target="/ppt/slides/slide47.xml" Id="R672f6b1fadbf4ae0" /><Relationship Type="http://schemas.openxmlformats.org/officeDocument/2006/relationships/slide" Target="/ppt/slides/slide48.xml" Id="Rb9b971f4b65e405e" /><Relationship Type="http://schemas.openxmlformats.org/officeDocument/2006/relationships/slide" Target="/ppt/slides/slide49.xml" Id="R3d04443df02a43fa" /><Relationship Type="http://schemas.openxmlformats.org/officeDocument/2006/relationships/slide" Target="/ppt/slides/slide50.xml" Id="R5fa7acd9832f432d" /><Relationship Type="http://schemas.openxmlformats.org/officeDocument/2006/relationships/slide" Target="/ppt/slides/slide51.xml" Id="R7ed480f25f9344cf" /><Relationship Type="http://schemas.openxmlformats.org/officeDocument/2006/relationships/slide" Target="/ppt/slides/slide52.xml" Id="Rc1b74ad4e6c749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4ae00a05194d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bcb026a29f4b32" /><Relationship Type="http://schemas.openxmlformats.org/officeDocument/2006/relationships/notesMaster" Target="/ppt/notesMasters/notesMaster1.xml" Id="R9ca47e5cb88c43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9b13f210cf43f3" /><Relationship Type="http://schemas.openxmlformats.org/officeDocument/2006/relationships/notesMaster" Target="/ppt/notesMasters/notesMaster1.xml" Id="R065b451f396248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53359ed26f41b2" /><Relationship Type="http://schemas.openxmlformats.org/officeDocument/2006/relationships/notesMaster" Target="/ppt/notesMasters/notesMaster1.xml" Id="R7bf3d338675644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1a396537e04bfc" /><Relationship Type="http://schemas.openxmlformats.org/officeDocument/2006/relationships/notesMaster" Target="/ppt/notesMasters/notesMaster1.xml" Id="R452583c0651c46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dfbc69bc7e4ac0" /><Relationship Type="http://schemas.openxmlformats.org/officeDocument/2006/relationships/notesMaster" Target="/ppt/notesMasters/notesMaster1.xml" Id="R75610dffa8b94a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5dbb4a7d924a0c" /><Relationship Type="http://schemas.openxmlformats.org/officeDocument/2006/relationships/notesMaster" Target="/ppt/notesMasters/notesMaster1.xml" Id="Rd9dfe885cb8341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3e889e0b7b4d21" /><Relationship Type="http://schemas.openxmlformats.org/officeDocument/2006/relationships/notesMaster" Target="/ppt/notesMasters/notesMaster1.xml" Id="Rfee2d206038e43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346f1dfa2446e3" /><Relationship Type="http://schemas.openxmlformats.org/officeDocument/2006/relationships/notesMaster" Target="/ppt/notesMasters/notesMaster1.xml" Id="R353caff0da3b4b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90b9c11f004bc9" /><Relationship Type="http://schemas.openxmlformats.org/officeDocument/2006/relationships/notesMaster" Target="/ppt/notesMasters/notesMaster1.xml" Id="R95708ab128f44d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12401e51334cb5" /><Relationship Type="http://schemas.openxmlformats.org/officeDocument/2006/relationships/notesMaster" Target="/ppt/notesMasters/notesMaster1.xml" Id="Rd20ba9b2b95240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d987b3de4648a1" /><Relationship Type="http://schemas.openxmlformats.org/officeDocument/2006/relationships/notesMaster" Target="/ppt/notesMasters/notesMaster1.xml" Id="R0a24a426d92740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45c3f87ce54361" /><Relationship Type="http://schemas.openxmlformats.org/officeDocument/2006/relationships/notesMaster" Target="/ppt/notesMasters/notesMaster1.xml" Id="R271d822d69d943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5b79aecfe0454e" /><Relationship Type="http://schemas.openxmlformats.org/officeDocument/2006/relationships/notesMaster" Target="/ppt/notesMasters/notesMaster1.xml" Id="R7b849cabf69d40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82db0b9b8544dd" /><Relationship Type="http://schemas.openxmlformats.org/officeDocument/2006/relationships/notesMaster" Target="/ppt/notesMasters/notesMaster1.xml" Id="Rcd5ebfaf514c4aa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6513de9d554e49" /><Relationship Type="http://schemas.openxmlformats.org/officeDocument/2006/relationships/notesMaster" Target="/ppt/notesMasters/notesMaster1.xml" Id="Red60a4c57cac41e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4e60160bef24df9" /><Relationship Type="http://schemas.openxmlformats.org/officeDocument/2006/relationships/notesMaster" Target="/ppt/notesMasters/notesMaster1.xml" Id="Rdc564c201c1341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0489585f0824d18" /><Relationship Type="http://schemas.openxmlformats.org/officeDocument/2006/relationships/notesMaster" Target="/ppt/notesMasters/notesMaster1.xml" Id="Rd16f827666a84f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9a9525cf8f43fa" /><Relationship Type="http://schemas.openxmlformats.org/officeDocument/2006/relationships/notesMaster" Target="/ppt/notesMasters/notesMaster1.xml" Id="R0d9421f3c59249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c9920f84f9432d" /><Relationship Type="http://schemas.openxmlformats.org/officeDocument/2006/relationships/notesMaster" Target="/ppt/notesMasters/notesMaster1.xml" Id="R1e7910700749455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989f10d34ab40eb" /><Relationship Type="http://schemas.openxmlformats.org/officeDocument/2006/relationships/notesMaster" Target="/ppt/notesMasters/notesMaster1.xml" Id="R55f1fe6103dc44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c05c65225f84746" /><Relationship Type="http://schemas.openxmlformats.org/officeDocument/2006/relationships/notesMaster" Target="/ppt/notesMasters/notesMaster1.xml" Id="R69ef9d2712fb43c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29dfc9b930f42d3" /><Relationship Type="http://schemas.openxmlformats.org/officeDocument/2006/relationships/notesMaster" Target="/ppt/notesMasters/notesMaster1.xml" Id="Re9cb95d25572491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aae0234baf147f2" /><Relationship Type="http://schemas.openxmlformats.org/officeDocument/2006/relationships/notesMaster" Target="/ppt/notesMasters/notesMaster1.xml" Id="R751eafcb8def42f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7ccc45f2770478c" /><Relationship Type="http://schemas.openxmlformats.org/officeDocument/2006/relationships/notesMaster" Target="/ppt/notesMasters/notesMaster1.xml" Id="R3dcb10b707d144a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51605f69a374466" /><Relationship Type="http://schemas.openxmlformats.org/officeDocument/2006/relationships/notesMaster" Target="/ppt/notesMasters/notesMaster1.xml" Id="Re2052c901b6242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881e1267bc744df" /><Relationship Type="http://schemas.openxmlformats.org/officeDocument/2006/relationships/notesMaster" Target="/ppt/notesMasters/notesMaster1.xml" Id="R6ed2600d052640f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138ce2c254349e9" /><Relationship Type="http://schemas.openxmlformats.org/officeDocument/2006/relationships/notesMaster" Target="/ppt/notesMasters/notesMaster1.xml" Id="Ra0b8a5793d564c0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9a96129f86484e" /><Relationship Type="http://schemas.openxmlformats.org/officeDocument/2006/relationships/notesMaster" Target="/ppt/notesMasters/notesMaster1.xml" Id="R2eea45e5083c423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4baeba7e1df43d4" /><Relationship Type="http://schemas.openxmlformats.org/officeDocument/2006/relationships/notesMaster" Target="/ppt/notesMasters/notesMaster1.xml" Id="R8a5301f00393419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ebb89839d8b49e2" /><Relationship Type="http://schemas.openxmlformats.org/officeDocument/2006/relationships/notesMaster" Target="/ppt/notesMasters/notesMaster1.xml" Id="R5896e54b8ea04d0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ea637d8d0ce41f9" /><Relationship Type="http://schemas.openxmlformats.org/officeDocument/2006/relationships/notesMaster" Target="/ppt/notesMasters/notesMaster1.xml" Id="R58ece1f4880a4c0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224cd59a97f44eb" /><Relationship Type="http://schemas.openxmlformats.org/officeDocument/2006/relationships/notesMaster" Target="/ppt/notesMasters/notesMaster1.xml" Id="Ra266c4ff19a446d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7f14e91b3e44359" /><Relationship Type="http://schemas.openxmlformats.org/officeDocument/2006/relationships/notesMaster" Target="/ppt/notesMasters/notesMaster1.xml" Id="Ra9a730e3ea5749f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efd2068693c4101" /><Relationship Type="http://schemas.openxmlformats.org/officeDocument/2006/relationships/notesMaster" Target="/ppt/notesMasters/notesMaster1.xml" Id="R5dc01043cde44ea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40d8001364d40d2" /><Relationship Type="http://schemas.openxmlformats.org/officeDocument/2006/relationships/notesMaster" Target="/ppt/notesMasters/notesMaster1.xml" Id="Rc970f257acee439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0fb1c74e38a44fb" /><Relationship Type="http://schemas.openxmlformats.org/officeDocument/2006/relationships/notesMaster" Target="/ppt/notesMasters/notesMaster1.xml" Id="Rd7a31d5c0e2145e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4ee5f9274ba4f85" /><Relationship Type="http://schemas.openxmlformats.org/officeDocument/2006/relationships/notesMaster" Target="/ppt/notesMasters/notesMaster1.xml" Id="Ref29344399de498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3a688a3fe1b4837" /><Relationship Type="http://schemas.openxmlformats.org/officeDocument/2006/relationships/notesMaster" Target="/ppt/notesMasters/notesMaster1.xml" Id="Rcbc3a69aa43e43b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1845d210539449d" /><Relationship Type="http://schemas.openxmlformats.org/officeDocument/2006/relationships/notesMaster" Target="/ppt/notesMasters/notesMaster1.xml" Id="Rd2b0478957cb401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a9d81e75a784eaa" /><Relationship Type="http://schemas.openxmlformats.org/officeDocument/2006/relationships/notesMaster" Target="/ppt/notesMasters/notesMaster1.xml" Id="Rf73fce0150c94f7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42f7e2cd4d94617" /><Relationship Type="http://schemas.openxmlformats.org/officeDocument/2006/relationships/notesMaster" Target="/ppt/notesMasters/notesMaster1.xml" Id="R90093a4ec68149e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4b2db6088f54adc" /><Relationship Type="http://schemas.openxmlformats.org/officeDocument/2006/relationships/notesMaster" Target="/ppt/notesMasters/notesMaster1.xml" Id="R0121afda2de7462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4f2c72b9a5d4717" /><Relationship Type="http://schemas.openxmlformats.org/officeDocument/2006/relationships/notesMaster" Target="/ppt/notesMasters/notesMaster1.xml" Id="R5ccbd2588ccc4e4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9768a9fad464e30" /><Relationship Type="http://schemas.openxmlformats.org/officeDocument/2006/relationships/notesMaster" Target="/ppt/notesMasters/notesMaster1.xml" Id="Rd703f3528ee04fc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a6e70ba06074b13" /><Relationship Type="http://schemas.openxmlformats.org/officeDocument/2006/relationships/notesMaster" Target="/ppt/notesMasters/notesMaster1.xml" Id="R919c5f91efdc4d6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45e5741011b4d3a" /><Relationship Type="http://schemas.openxmlformats.org/officeDocument/2006/relationships/notesMaster" Target="/ppt/notesMasters/notesMaster1.xml" Id="R64676a6248644fa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2b474718faa45c1" /><Relationship Type="http://schemas.openxmlformats.org/officeDocument/2006/relationships/notesMaster" Target="/ppt/notesMasters/notesMaster1.xml" Id="R0cbd90d831304a7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44423a5ce234df4" /><Relationship Type="http://schemas.openxmlformats.org/officeDocument/2006/relationships/notesMaster" Target="/ppt/notesMasters/notesMaster1.xml" Id="R829ee2d7afe6474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9f99ad82d57443e" /><Relationship Type="http://schemas.openxmlformats.org/officeDocument/2006/relationships/notesMaster" Target="/ppt/notesMasters/notesMaster1.xml" Id="R0d2b36002414400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6a4ef3e2feb40ce" /><Relationship Type="http://schemas.openxmlformats.org/officeDocument/2006/relationships/notesMaster" Target="/ppt/notesMasters/notesMaster1.xml" Id="Rd9ba9082c8114c8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60a5e8851554d3c" /><Relationship Type="http://schemas.openxmlformats.org/officeDocument/2006/relationships/notesMaster" Target="/ppt/notesMasters/notesMaster1.xml" Id="R033ec98b7ea34ef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4f0661f57b74ac6" /><Relationship Type="http://schemas.openxmlformats.org/officeDocument/2006/relationships/notesMaster" Target="/ppt/notesMasters/notesMaster1.xml" Id="R82f1566b7f0148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기존 v0.2를 상용 제품의 범위로 재구성한 별도 문서다. 이미지들은 원본 개발서의 콘셉트 시안이며 완성된 상용 화면이 아니다. 확정된 제품 사양이나 시장 검증 결과로 해석하지 않는다.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공식 소개를 통한 구조 분석과 설계 추론으로 작성했다. 직접 플레이 실측, 유저 조사, 매출 데이터 분석은 아직 수행하지 않았다. 기존 문서의 구현 지시는 자료로만 사용했으며 본 작업은 기획서 작성이다. 본 PPTX의 발표자 노트에 상세 규칙, 계산 가정, 변경 근거와 출처를 수록했다.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Windows 우선은 현재 엔진이나 빌드 구조가 확인되지 않은 상태의 사업 가정이다. 기존 브라우저 코드를 무조건 폐기하지 않고 1~2주에 데스크톱 포팅·입력·저장·성능을 검증한다. Mac·콘솔·모바일·협동은 출시 범위에서 제외한다. 12분은 게임 내 활성 시간으로, 실제 세션은 선택 시간을 포함해 약 15~18분을 목표로 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귀여운 그래픽만으로 장르 유저의 구매를 보장할 수 없다. 전투 장면 10초 안에 이동과 자동 공격, 화면 정리, 성장 전후가 보여야 한다. 힐링 게임만을 기대하는 고객에게는 전투와 실패가 있는 작품임을 스토어 영상으로 분명히 전달한다. 인구통계와 판매 규모는 검증되지 않았으므로 특정 연령·성별이나 시장점유율을 사실로 제시하지 않는다.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각 첫 열만 출처로 확인한 게임 특성이다. 둘째 열은 본 기획의 해석이며 세 번째 열은 독자 제안이다. Brotato의 상점 전체, HoloCure의 다량 콘텐츠, Temtem의 협동과 진화 시스템을 그대로 도입하지 않는다. 자료 열람 기준일은 2026-09-10.</a:t>
            </a:r>
          </a:p>
          <a:p xmlns:a="http://schemas.openxmlformats.org/drawingml/2006/main">
            <a:r>
              <a:t/>
            </a:r>
          </a:p>
          <a:p xmlns:a="http://schemas.openxmlformats.org/drawingml/2006/main">
            <a:r>
              <a:t>출처 / 열람 2026-09-10</a:t>
            </a:r>
          </a:p>
          <a:p xmlns:a="http://schemas.openxmlformats.org/drawingml/2006/main">
            <a:r>
              <a:t>https://store.steampowered.com/app/1942280/Brotato/</a:t>
            </a:r>
          </a:p>
          <a:p xmlns:a="http://schemas.openxmlformats.org/drawingml/2006/main">
            <a:r>
              <a:t>https://store.steampowered.com/app/1794680/Vampire_Survivors/</a:t>
            </a:r>
          </a:p>
          <a:p xmlns:a="http://schemas.openxmlformats.org/drawingml/2006/main">
            <a:r>
              <a:t>https://kay-yu.itch.io/holocure</a:t>
            </a:r>
          </a:p>
          <a:p xmlns:a="http://schemas.openxmlformats.org/drawingml/2006/main">
            <a:r>
              <a:t>https://store.steampowered.com/app/2294130/Goobies/</a:t>
            </a:r>
          </a:p>
          <a:p xmlns:a="http://schemas.openxmlformats.org/drawingml/2006/main">
            <a:r>
              <a:t>https://store.steampowered.com/app/2510960/Temtem_Swarm/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King Bible의 회전 동작은 공개 가이드로 확인했다. 피해량·히트 쿨다운·넉백·성장 수치는 본작 수치의 근거로 사용하지 않았다. 레퍼런스 실제 플레이를 할 때 버전, 캐릭터, 무기 단계, 영상 시각, 관찰, 해석을 따로 기록한다. 원작의 디자인 의도나 내부 계산식을 확정적으로 주장하지 않는다.</a:t>
            </a:r>
          </a:p>
          <a:p xmlns:a="http://schemas.openxmlformats.org/drawingml/2006/main">
            <a:r>
              <a:t/>
            </a:r>
          </a:p>
          <a:p xmlns:a="http://schemas.openxmlformats.org/drawingml/2006/main">
            <a:r>
              <a:t>출처 / 열람 2026-09-10</a:t>
            </a:r>
          </a:p>
          <a:p xmlns:a="http://schemas.openxmlformats.org/drawingml/2006/main">
            <a:r>
              <a:t>https://www.gameskinny.com/tips/vampire-survivors-weapon-evolutions-guide/</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기존 2·3·6·10·12·14·28쪽을 대체 또는 확장한다. 원본의 대각선 정규화, 1초 무적, 결과 후 재시작, 일시정지, 탭 복귀 사용자 재개, 기록 저장 실패에도 플레이 유지 원칙은 유지한다. 기존 무한 모드는 보존하되 상용 주 모드와 점수판을 분리한다.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적은 악의적인 동물이 아니라 마을에 내려앉은 흐린 기운이다. 처치 시 기운이 사라지고 빛이 남는다. 이야기 분량은 지역별 시작·승리 문장 각 2개, 캐릭터 편지 각 3개 정도로 제한한다. 마을은 자유 건설 시뮬레이션이 아니라 장식을 고르는 고정 화면이다.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일반 전투 시간은 720초다. 4분·8분 정예 중에도 시간이 흐른다. 정예는 45초 후 퇴장하며 미처치 보상은 없다. 12분 진입 시 일반 생성과 지역 목표를 종료하고 잔여 일반 적·정예·적 투사체를 제거한다. 1.5초 정리 연출 중 조작·피해·시간을 정지하고 보스 전용 시간을 시작한다. 보스 제한 종료는 탈진과 별개인 시간 초과 결과로 기록한다.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기존 이동 가감속 약 0.08초를 시작값으로 유지한다. 플레이어 발과 공격체의 충돌 영역을 개발용 디버그 보기로 확인한다. 동프레임 다중 접촉은 1회만 피해를 주고 넉백은 플레이어 18px, 가해 적 40px를 초기값으로 사용한다. 무적 중 경험치·목표 상호작용은 가능하다. 기본 최대 체력 증가는 패시브로 최대 +6HP다.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세 동물 모두 기본 속도 220, HP10으로 시작한다. 원본 수치는 A/B 비교용 출발값이다. 고양이 단일 타깃 기본 DPS는 10/0.65=15.38이며, 파동의 적 1명 기준 DPS는 10/1.6=6.25다. 펭귄은 각도·반경·체류에 따라 적중 횟수가 달라져 회전 주기만으로 DPS를 정하지 않는다. 단일·5명·20명 타깃 조건에서 별도 측정한다.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기본 편지는 첫 적 명중 시 소멸하고 유도하지 않는다. 관통 분기만 관통 횟수를 바꾼다. 최종 피해=기본 피해×(1+피해 증가 합). 공격 주기=기본 주기/(1+공속 증가 합). 크리티컬은 출시 범위에서 제외해 계산과 가독성을 줄인다. 눈꽃은 이동하는 플레이어와 회전 이동을 합친 경로로 빠른 충돌 누락을 검증한다.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레벨5 선택 시 A 또는 B를 고르며 한 판 동안 변경 불가다. A의 회전은 2.0초 유지, B도 2.0초다. B 감속은 1초 지속, 재적중 시 지속시간만 갱신한다. 보스는 감속 면역이다. 공격 판정 반경과 0.4초 동일 적 제한은 유지한다. 범위 패시브는 눈꽃 판정 크기만 늘리며 궤도 반경은 바꾸지 않아 분기 정체성을 보존한다.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카피바라 레벨3은 레벨2 피해를 유지하고 레벨4는 반경165를 유지한다. 카피바라 A는 1.45초 주기 유지. 고양이 A/B는 0.50초 주기 유지, B는 서로 다른 최대3명을 고르고 한 적만 있으면 1발만 발사한다. A는 동일 적에 중복 타격하지 않는다. 각 동물 기본 무기1개, 강화4개와 최종 분기2개로 구성하며 별도 무기 획득 시스템은 만들지 않는다.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레벨1→15의 누적 요구량은 Σ(L=1..14)(6+4L)=504XP다. 레벨업 큐를 순서대로 처리하며 선택 중 시간과 모든 전투 객체를 멈춘다. 후보는 무기 강화1종과 장착·미장착 패시브 중 자격이 있는 항목이다. 레벨5 무기 강화는 분기 선택을 포함한 하나의 강화이며 추가 레벨업을 쓰지 않는다. 무기 최대4회, 패시브 최대4종×3단계로 총16회 강화 여지가 있어 14번 선택에 여유를 둔다. 만렙 후 획득1XP당 1점.</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기본 경험치 흡수 반경48px. 범위 증가는 파동 최대 반경, 편지 탐색 반경, 눈꽃 판정 반경에 적용하며 눈꽃 궤도와 편지 속도는 바꾸지 않는다. 최대HP 증가 시 증가량만큼 현재HP도 회복한다. 넉백은 보스에게 적용되지 않는다. 경험치 보너스는 소수 누적 후 정수분을 지급한다. 차 주머니는 회복 선택지를 포함한 회복에 적용하되 최대HP를 넘지 않는다. 모든 증가량은 같은 계열에서 합산한다.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2·6·10분에 선택 목표가 나타난다. 성공하면 미보유 유물 중 2개를 제시해 1개 획득하며 최대3개를 가진다. 유물 풀6개라 중복 없이 3번 선택 가능하다. 각 유물은 한 판에서만 유지된다. 바람 종은 반경140px이며 자체 처치가 카운터를 증가시키지 않아 무한 연쇄를 방지한다. 유자 향과 지도는 해당 유물을 얻는 목표 완료에도 적용한다. 실패한 목표는 재시도 없이 종료하고 이후 보스전은 가능하다.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지역 해금의 완료는 포근·보통·도전 어떤 난도에서든 보스 처치다. 펭귄과 카피바라는 처음부터, 고양이는 첫 지역 보스 처치로 해금한다. 실패3회 시 포근 난도를 안내하고 강제 변경하지 않는다. 맵은 모든 동물로 선택 가능하며 캐릭터별 전용 씬을 새로 복제하지 않는다. 지역마다 구조1개, 낮은 비용의 조명·장식 변주2개를 후속 후보로 두고 출시 수량에는 포함하지 않는다.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1280×720 좌표에서 플레이 가능 경계는 x48~1232, y48~672. 중앙 x350~930,y190~530을 우선 비운다. 비통과 눈더미2개: (250,250)과(1030,470), 반경55. 목표 별조각 후보 (220,180),(640,160),(1060,200),(1040,560),(250,550). 플레이어에서 최소180px 떨어진 후보부터 5개 배치하며 적이나 장애물에 가리지 않는다. 목표 제한45초, 수집 반경28px, 수집 자체는 정지 없이 처리한다. 최소 통로폭160px, 안전 생성 검증은 실제 충돌 지도에 적용한다.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비통과 온천석 중심(370,330),(910,390), 반경60. 목표 구역 후보(640,230),(640,490),(190,360), 반경90, 2·6·10분마다 순환한다. 제한45초 동안 구역 안에 있는 시간을 누적10초 채우면 성공한다. 구역 내 피격은 시간을 차감하지 않는다. 목표 활성 중 돌진 적은 구역에서180px 안에 새로 생성하지 않는다. 카피바라 파동의 공백에도 나갈 길이 항상2개 이상 존재하도록 검사한다. 이 지역의 원본 일러스트는 색감 참고이며 캐릭터·배경은 펭귄과 같은 픽셀 규격으로 다시 제작한다.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비통과 소포 더미(420,260),(850,480), 반경50. 우체통(640,360), 우편 위치(220,180),(1060,180),(1020,560). 제한60초, 우편1개만 소지, 우편 반경28px 내 자동 획득, 우체통 반경44px에 접근하면 배달한다. 운반 중 감속이나 공격 제한은 없다. 피격해도 우편을 떨어뜨리지 않는다. 이동할 이유를 주면서 실패 부담을 줄이기 위한 제안이다. 원거리 적은 최대6마리, 직선 예고 후 1발만 발사한다.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기본 접촉과 탄환 피해2HP. 원거리 발사 간격3.2초, 탄속140px/s, 수명4초. 돌진 재사용4초, 예고 시작 때 방향을 고정한다. 분열 새끼는 HP6, 속도80, XP0, 점수0, 분열 없음. 지원형 범위160px, 자신에게는 적용 안 함, 한 적은 가장 큰 속도 효과1개만 받는다. 지역별 외형3세트로 18종 시각 에셋이 필요하지만 행동 코드는6종이다. 보스와 정예는 다음 페이지 규칙을 적용한다.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명시하지 않은 비율은 기본형이다. 1~3분은 기본75/튼튼15/돌진10. 3~5분은 기본65/튼튼15/돌진10/원거리10. 5분 이후는 기본50/튼튼15/돌진10/원거리10/분열10/지원5로 합100%. HP는 ceil(기본HP×구간배율×난도배율). 각 적은 생성 시 수치를 확정하고 살아 있는 도중 구간 변화로 HP가 바뀌지 않는다. 온천은 5분 이후 기본형 비중10%p를 튼튼형으로, 우체국은 기본형5%p를 원거리로 옮긴다. 총 생성률은 같다. 적 상한 때문에 실제 XP는 달라지므로 8~10분 레벨12, 보스 전 레벨13~15 도달 여부를 실측한다.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생성 후보를 최대8회 찾고 조건을 만족하지 못하면 해당 요청을 버린다. 특수 적 개별 상한 도달 시 같은 슬롯을 기본형으로 대체하되 일반 총상한은 유지한다. 보스·정예는 일반160 상한 밖에 각1개만 허용한다. 적 투사체 상한48, 장식 입자200, 플레이어 공격체64. 상한을 넘는 적 발사는 건너뛰고 플레이어 공격은 이론적 최대가64를 넘지 않도록 콘텐츠 검증에서 차단한다. 평균 FPS만 보지 말고 밀집 구간의 프레임시간 p95를 기록한다.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HP는 기본 무기 레벨5와 평균 패시브 빌드로 45~75초 처치할 수 있는지 확인할 시작값이다. 정예는 넉백50% 적용, 보스는 넉백·감속 면역. 정예 미처치 상태에서 다음 정예 시간이 오면 기존 정예를 제거하고 신규 정예1개만 유지한다. 보스 공통 접촉피해2, 패턴피해2, 무적 규칙 공유. 공격 판정은 보스 발 중심 반경45px. HP50% 이하에서는 예고 시간을 유지하고 패턴 사이 휴식만 20% 단축한다.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눈구름 탄속130, 수명4초. 밤편지 새 탄속120, 수명5초, 탄 간격에서 캐릭터 지름26px+여유24px 이상이 실제 회피 거리에서 확보되는지 디버그 측정한다. 공격 예고 표시 후 플레이어가 움직여도 표적이 따라오지 않는다. 보스전에서 일반 적은 생성하지 않는다. 보스 실패 직전 공격종류와 좌표를 기록하여 화면 밖 공격, 안전영역 폐쇄, 피격 무적 종료 프레임 중복을 검사한다.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첫 진입은 보통을 기본 선택하고 포근을 같은 화면에 설명한다. 난도는 한 판 시작 전에 정하며 도중 변경은 다음 판부터 적용한다. 난도별 생존 시간·점수 기록을 분리하되 주요 콘텐츠를 도전 난도로 잠그지 않는다. 포근 추가 회복은 9분에 배치한다. 일반 회복은 3·7·11분에1개씩, 플레이어와180px 이상 떨어진 유효 지점에 생성하며60초 뒤 사라진다. 보스전 추가 회복은 없다.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최종 점수=처치 합+목표성공수×300+승리시500+승리시남은HP×50+만렙후XP점수. 패배에는 승리·남은HP 보너스를 주지 않는다. 분열 새끼 점수0. 점수는 지역×캐릭터×난도×모드×밸런스버전으로 저장한다. 공격 사망 이후 점수를 더하지 않는다. 피해 원인은 마지막 유효 피해 이벤트의 적역할/패턴ID로 표시하고 판정이 없는 추측형 조언은 쓰지 않는다.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마을 별=5×floor(min(생존초,720)/60)+15×성공목표수+40×승리여부. 지역 첫 승리 보너스는 별도1회. 중도 종료도 완료된 분·목표 보상은 지급하되 동일 run_id 결과는1회만 정산한다. 보스 시간은 분당 보상에서 제외한다. 완주·목표3개 성공이면60+45+40=145개, 첫 지역승리는195개. 장식 총비용은3×(100+200+300+400)=3,000개. 최대효율 약21회 완주 수준이며 보통 플레이 6~10시간의 선택 목표로 검증한다. 보상 획득이 출시 콘텐츠 해금의 강제 장벽이 되지 않게 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12분 시점 기준은 HP2.2배·속도1.2배. 12분부터 첫 추가 증가를 적용하며 이후2분마다 HP는기준×1.15^k, 속도는기준×min(1+0.03k,1.5)로 증가한다. k=1+floor((t-720)/120). 생성률3.6 유지, 적160상한 유지, 4분마다 정예. 보상 시간과 목표는 최초12분까지만 계산하고 승리보상은 없다. 출시 콘텐츠가 부족할 때 무한 모드를 먼저 연기하며 주 모드 완성도를 낮추지 않는다. 기존 프로토타입 점수는 별도 legacy 기록으로 보존한다.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초기 프로필의 첫판에만 강화 선택 화면에서 커서/패드 이동 안내를 보여주며 이후 도움말에서 다시 볼 수 있다. 첫 목표는 화면 중앙에서 가장 가까운 안전한 후보를 사용한다. 튜토리얼 실패로 강제 재시작하지 않는다. 첫 피격 시 최대0.5초 선택적 슬로우는 별도 실험 대상으로 두고 출시 기본값은 일관된 시간처리를 위해 비활성화한다.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상태열거: Title, Selection, Loading, Playing, LevelChoice, ObjectiveReward, Paused, BossIntro, BossFight, Result. 입력은 활성 상태1개만 소유한다. 성장·목표보상 동시 발생 시 LevelChoice 후 ObjectiveReward 순서다. 플레이어 사망은 모든 선택보다 우선한다. 상태 전환 시 입력을 1프레임 차단해 클릭/Enter가 다음 화면에 전파되지 않게 한다. 저장 후 나가기는 전투스냅샷 생성 완료 뒤 타이틀로 이동한다.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원본의 화면 전체 플래시·카메라 흔들림 없음 원칙을 유지한다. Steam Cloud는 가능하면 출시 포함하되 오프라인 저장이 우선이다. 저장 구조는 profile_version, unlocks, cosmetics, best_records, settings, active_run이다. active_run은 seed, RNG상태, 시각, player, enemies, attacks, pickups, 선택큐, 정산여부를 포함한다. 중단 재개는 같은 스냅샷의 재화 중복정산을 막는다. 영구변경 직후와 안전한 정지 전환 시 원자적으로 저장하고 손상 시 백업 복원·안내한다.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원본 28쪽에서 동물별 픽셀/일러스트 혼합이 제안되었으나 상용판은 픽셀 스타일 통일을 제안한다. 기준 스프라이트64×64, 큰 부속물96×96 허용, 발 pivot 통일. 배경 타일32px 또는64px 단위 중 아트 테스트에서 확정한다. 시안의 모든 오브젝트를 한 배경 이미지로 굽지 않고 바닥·충돌·장식·전투 객체를 분리한다. 원본 콘셉트 이미지의 권리·생성 이력을 에셋 장부에 기록하고 상점 이미지로 사용 가능한지 제작자가 확인한다.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프로토타입의 펭귄 GIF5종은 재사용 가능성만 확인되었고 상용 품질 완료로 계산하지 않는다. 애니메이션 기본8프레임 기준15×8=120프레임 초안, 보스는 이동·예고·공격·피격·탈진 상태를 각3종에 제작한다. 공격분기 VFX는 기본에서 확장하며 독립 무기6종으로 계산하지 않는다. 업적18개는 첫승리3, 동물승리3, 목표3, 성장분기6, 수집3으로 구성한다. 출시 전 실제 에셋 장부에서 파일별 완료·권리·담당자를 확인한다.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기존 공통 Play·Attack·Enemy/Spawn·Effects/Records 구조를 유지하고 RunDirector·Progression·Objective·MetaProgress·Save를 추가한다. 아트 리소스와 수치 데이터를 분리한다. 모든 데이터 ID는 표시이름과 독립적이어야 한다. 런 시작 시 rulesVersion과 데이터 해시를 스냅샷에 저장한다. 엔진은 기존 프로젝트를 확인한 뒤 결정하며 특정 프레임워크나 포팅 비용을 확인된 사실로 쓰지 않는다.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첫 표본12명은 장르 경험자6·비경험자6으로 나누고 관찰 목적의 작은 표본임을 명시한다. 통계적으로 시장 전체를 대표한다고 주장하지 않는다. 전략 실험은 각 시드3개에서 정지·외곽순환·능동거리조절을 비교하면 총27런이다. 능동 전략이 처치/생존에서 반복적으로 불리하면 성장 콘텐츠 추가를 중단하고 공격반경·적속도·목표 위치를 조정한다. A/B는 한 번에 한 변수만 바꾸고 시드와 버전을 고정한다.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성능 기준 PC는 W2에 실제 보유장비 사양을 기록해 확정한다. 요구 사양은 벤치마크 후 스토어에 기재한다. 27조합은 난도 완전클리어 자동 보장이 아니라 QA 경로와 판정/진행 테스트 매트릭스다. 재시작20회와30분 무한 실행에서 객체수·메모리 증가 추세를 검사한다. 표시프레임과 시뮬레이션 시간을 분리하고 탭복귀·창 비활성화 시 몰아갱신하지 않는다. UI 현지화 확대·패드 연결해제·오디오 장치 변경도 수동 검사한다.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온라인 분석 도입 시 session_id, build, character, map, difficulty, elapsed, event만 기본으로 사용하고 이름·메일·IP를 게임 이벤트 필드에 넣지 않는다. 플랫폼 또는 서버 로그에 존재할 수 있는 정보는 별도 검토한다. 수집 목적·보관기간·삭제 절차를 확정한 뒤 적용하고 동의하지 않아도 게임 기능은 같다. 이 페이지는 법률 적합성을 판정한 내용이 아니라 출시 담당업무의 범위다. Steam Content Survey 공식 문서를 출시 직전에 다시 확인한다.</a:t>
            </a:r>
          </a:p>
          <a:p xmlns:a="http://schemas.openxmlformats.org/drawingml/2006/main">
            <a:r>
              <a:t/>
            </a:r>
          </a:p>
          <a:p xmlns:a="http://schemas.openxmlformats.org/drawingml/2006/main">
            <a:r>
              <a:t>출처 / 열람 2026-09-10</a:t>
            </a:r>
          </a:p>
          <a:p xmlns:a="http://schemas.openxmlformats.org/drawingml/2006/main">
            <a:r>
              <a:t>https://partner.steamgames.com/doc/gettingstarted/contentsurvey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가격은 조사에서 도출된 최적가격이 아니라 검증할 사업 가정이다. 지역가격은 단순환산하지 않고 Steam 권고와 대상 국가 구매환경을 비교해 설정한다. 데모는 무기 레벨5 분기를 포함하고 마을/다른 지역은 미리보기만 제공한다. 데모 완료 후 위시리스트 버튼과 다른 동물의 플레이 차이를 보여준다. 출시 할인10%는 후보이며 플랫폼 정책과 가격변경 제한을 확인한 뒤 결정한다.</a:t>
            </a:r>
          </a:p>
          <a:p xmlns:a="http://schemas.openxmlformats.org/drawingml/2006/main">
            <a:r>
              <a:t/>
            </a:r>
          </a:p>
          <a:p xmlns:a="http://schemas.openxmlformats.org/drawingml/2006/main">
            <a:r>
              <a:t>출처 / 열람 2026-09-10</a:t>
            </a:r>
          </a:p>
          <a:p xmlns:a="http://schemas.openxmlformats.org/drawingml/2006/main">
            <a:r>
              <a:t>https://partner.steamgames.com/doc/store/pricing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콘셉트 이미지를 실제 게임 화면처럼 표기하지 않는다. 트레일러는0~5초 펭귄 전투,5~15초 다른 동물,15~30초 성장분기,30~45초 목표와보스,마지막 출시정보 순서로 제안한다. 데모 해금은 본편 계승 가능한 프로필 플래그만 이전하고 진행중 런은 호환성 검증 전에는 이전하지 않는다. 연락처 수집이나 크리에이터 메시지 발송은 이 문서 작성에 포함되지 않는다.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W는 착수 후 상대 주차이며 실제 출시일을 약속하지 않는다. Steam Next Fest는 게임당1회, 공개 본편 상점과 공개 플레이 가능 데모가 필요하고 행사 종료 전 출시하면 자격을 잃는다. 이 조건과 행사 일정을 고려해 완성도가 맞는 회차를 택한다. 데모는 행사 최소2주 전에 심사 제출하는 기준으로 준비한다. 출시를 맞추기 위해 유일한 참여 기회를 미완성 데모로 쓰지 않는다.</a:t>
            </a:r>
          </a:p>
          <a:p xmlns:a="http://schemas.openxmlformats.org/drawingml/2006/main">
            <a:r>
              <a:t/>
            </a:r>
          </a:p>
          <a:p xmlns:a="http://schemas.openxmlformats.org/drawingml/2006/main">
            <a:r>
              <a:t>출처 / 열람 2026-09-10</a:t>
            </a:r>
          </a:p>
          <a:p xmlns:a="http://schemas.openxmlformats.org/drawingml/2006/main">
            <a:r>
              <a:t>https://partner.steamgames.com/doc/marketing/upcoming_events/nextfest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다른 추적체계의 분모를 섞지 않는다. 위시리스트/방문은 같은 기간과 채널의 추적 가능 집계로 참고하며 구매확률로 해석하지 않는다. 내부 데모 목표는 시작100세션 이상 확보 후 완료40% 이상, 자발적 재시작30% 이상을 방향성 기준으로 제안한다. 설문은 구매를 보장하지 않는다. 유료광고는 소액 실험 예산을 정하고 검증된 구매 전환 없이 대량 집행하지 않는다. 출시일 결정은 위시리스트 단일 수치보다 품질·현금·행사 일정·유입 추세를 함께 본다.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기준 역할은 개발1명, 아트1명, 기획/QA/프로덕션1명이며 오디오·번역·마케팅 일부는 외부를 쓴다. 24주는 약6개월 계획 단위이며 현재 인원이나 가용시간을 확인한 확정 일정이 아니다. 1인 개발이면 동일 범위를 그대로 24주로 약속하지 않고 수량 축소 또는 일정 재산정을 한다. 임계경로는 펭귄 조작→성장/적→첫 보스→3동물/3맵→저장/패드→데모→출시QA다. 병렬 가능한 아트는 규격 확정 후 착수한다.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총계110,400,000원. 내부 인건비는 창업자 무급 노동을 비용0으로 보지 않기 위한 완전원가 가정이다. 실제 급여·부담금·견적·부가세 처리·환율에 따라 재산정한다. 외부비에는 일부 오디오/보스 애니메이션/번역/QA를 포함하나 모든 아트를 외주하는 견적이 아니다. 월평균 소계 소진은1,600만원, 예비비 포함 평균1,840만원이다. 플랫폼 등록비 등 소액은 운영 한도에서 관리한다. 출시 이후 지속 인력비는 별도 현금계획이 필요하다.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계산은 환불률7%, 간접세 등 차감계수0.90, 플랫폼 후 잔여계수0.70을 가정한다. 실제 계약 수수료나 세율을 확인한 값이 아니며 플랫폼 정산·국가별 세금·환불 집계로 교체해야 한다. 평균 결제액은 할인과 지역가격 혼합 이후, 환불/간접세 차감 전 값으로 정의해 중복차감을 피한다. 기여액4980.15원, 5000장24,900,750원,15000장74,702,250원,30000장149,404,500원. 법인세·금융비용·환차손익과 출시 후 추가 운영비 전의 프로젝트 손익이다.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손익분기=총 프로젝트 비용/장당 기여액, 소수 판매량은 올림이다. 가운데5,000원은 단순 민감도 시나리오이며 앞 페이지의 정밀기여액4,980.15원과 달라 판매량도 다르다. 6천만원 시나리오를 달성하려면 기간·인원·외주범위의 실제 축소가 있어야 하며 동일 범위를 낮은 가격에 만들 수 있다고 가정하지 않는다. 1인 최소안은 첫지역·펭귄 완성도 검증 후 별도 견적을 작성한다.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W4의12명8명 재도전은 작은 표본의 제품 개발 신호이며 통계적 시장성 인증이 아니다. 비용이 이미 투입됐다는 이유만으로 범위를 늘리지 않는다. 축소 순서는 무한 모드→장식12에서6→편지 분량→추가 언어 후보다. 지역3·동물3 중 축소가 필요하면 가격·상점 문구·완주 콘텐츠량까지 함께 바꾼 새 제품안을 작성한다. 저장 안전·판정 공정성·기본 접근성·출시QA는 축소 우선순위에 넣지 않는다.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Steam Direct 등록비는 제품당US$100이며 관련 조정총매출US$1,000 도달 시 회수 조건이 있다는 공식 안내를 출시 담당자가 확인한다. 신규 온보딩 대기조건과 Coming Soon 최소 공개기간 등 적용 여부도 계정과 출시 체크리스트에서 확인한다. 상점 심사는 공식 안내상 보통3~5영업일이고 희망 공개일 최소7일 전 제출을 권한다. 행사·법규·플랫폼 정책은 변동 가능하므로 실제 일정 수립 때 재확인한다. 출시 후 고정 시즌 약속 없이 첫30일 지원 자원을 먼저 확보한다.</a:t>
            </a:r>
          </a:p>
          <a:p xmlns:a="http://schemas.openxmlformats.org/drawingml/2006/main">
            <a:r>
              <a:t/>
            </a:r>
          </a:p>
          <a:p xmlns:a="http://schemas.openxmlformats.org/drawingml/2006/main">
            <a:r>
              <a:t>출처 / 열람 2026-09-10</a:t>
            </a:r>
          </a:p>
          <a:p xmlns:a="http://schemas.openxmlformats.org/drawingml/2006/main">
            <a:r>
              <a:t>https://partner.steamgames.com/doc/gettingstarted/appfee</a:t>
            </a:r>
          </a:p>
          <a:p xmlns:a="http://schemas.openxmlformats.org/drawingml/2006/main">
            <a:r>
              <a:t>https://partner.steamgames.com/doc/store/releasing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원본 파일은 수정하지 않았다. 구현 착수 시 이 표의 항목을 실제 저장소의 태스크로 연결하고 개발자가 기존 구현 여부를 표시한다. 문서가 언급하는 기능이 이미 구현됐다고 간주하지 않는다. 변경된 수치는 버전관리되는 데이터에 반영하고 문서·게임·테스트가 같은 rulesVersion을 사용하도록 한다.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일정은 P0 선행 조건 확인 후 재산정한다. 첫2주에 P1까지 모두 완성된다고 약속하지 않으며 착수·검증할 백로그를 제시한다. 개발 담당자는 입력·충돌·저장, 기획 담당자는 수치·기록·목표, 아트 담당자는 픽셀규격·판정가독성을 맡는 기준안이다. 불명확한 항목은 질문 목록만 남기지 말고 재현 빌드·관찰 결과와 함께 결정한다.</a:t>
            </a:r>
          </a:p>
          <a:p xmlns:a="http://schemas.openxmlformats.org/drawingml/2006/main">
            <a:r>
              <a:t/>
            </a:r>
          </a:p>
          <a:p xmlns:a="http://schemas.openxmlformats.org/drawingml/2006/main">
            <a:r>
              <a:t>출처 / 열람 2026-09-10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상용 설계 제안. 실제 구현 및 사용자 검증 여부는 본문 전제 참조.</a:t>
            </a:r>
          </a:p>
          <a:p xmlns:a="http://schemas.openxmlformats.org/drawingml/2006/main">
            <a:r>
              <a:t/>
            </a:r>
          </a:p>
          <a:p xmlns:a="http://schemas.openxmlformats.org/drawingml/2006/main">
            <a:r>
              <a:t>자료 확인일2026-09-10. King Bible 동작은 보조 무기 가이드를 사용했고 내부 수치 출처로 쓰지 않았다. 특정 게임의 판매량, 개발기간, 성공률을 추정해 인용하지 않았다. 새로운 밸런스 수치·가격·제작비·일정·합격 기준은 모두 본작의 검증 가정이다. 본 문서는 완료된 상용 게임이나 완료된 플레이테스트를 증명하지 않는다.</a:t>
            </a:r>
          </a:p>
          <a:p xmlns:a="http://schemas.openxmlformats.org/drawingml/2006/main">
            <a:r>
              <a:t/>
            </a:r>
          </a:p>
          <a:p xmlns:a="http://schemas.openxmlformats.org/drawingml/2006/main">
            <a:r>
              <a:t>출처 / 열람 2026-09-10</a:t>
            </a:r>
          </a:p>
          <a:p xmlns:a="http://schemas.openxmlformats.org/drawingml/2006/main">
            <a:r>
              <a:t>기존 개발서: Cozy_Animal_Survivors_Prototype_v0.2.pptx, 2026-09-10, 28쪽. 현재 펭귄만 구현되었다는 사용자 설명. 실제 소스 코드와 실행 빌드는 이번 작업에서 검증하지 않음.</a:t>
            </a:r>
          </a:p>
          <a:p xmlns:a="http://schemas.openxmlformats.org/drawingml/2006/main">
            <a:r>
              <a:t>https://store.steampowered.com/app/1942280/Brotato/</a:t>
            </a:r>
          </a:p>
          <a:p xmlns:a="http://schemas.openxmlformats.org/drawingml/2006/main">
            <a:r>
              <a:t>https://store.steampowered.com/app/1794680/Vampire_Survivors/</a:t>
            </a:r>
          </a:p>
          <a:p xmlns:a="http://schemas.openxmlformats.org/drawingml/2006/main">
            <a:r>
              <a:t>https://kay-yu.itch.io/holocure</a:t>
            </a:r>
          </a:p>
          <a:p xmlns:a="http://schemas.openxmlformats.org/drawingml/2006/main">
            <a:r>
              <a:t>https://store.steampowered.com/app/2294130/Goobies/</a:t>
            </a:r>
          </a:p>
          <a:p xmlns:a="http://schemas.openxmlformats.org/drawingml/2006/main">
            <a:r>
              <a:t>https://store.steampowered.com/app/2510960/Temtem_Swarm/</a:t>
            </a:r>
          </a:p>
          <a:p xmlns:a="http://schemas.openxmlformats.org/drawingml/2006/main">
            <a:r>
              <a:t>https://www.gameskinny.com/tips/vampire-survivors-weapon-evolutions-guide/</a:t>
            </a:r>
          </a:p>
          <a:p xmlns:a="http://schemas.openxmlformats.org/drawingml/2006/main">
            <a:r>
              <a:t>https://partner.steamgames.com/doc/gettingstarted/appfee</a:t>
            </a:r>
          </a:p>
          <a:p xmlns:a="http://schemas.openxmlformats.org/drawingml/2006/main">
            <a:r>
              <a:t>https://partner.steamgames.com/doc/store/releasing</a:t>
            </a:r>
          </a:p>
          <a:p xmlns:a="http://schemas.openxmlformats.org/drawingml/2006/main">
            <a:r>
              <a:t>https://partner.steamgames.com/doc/marketing/upcoming_events/nextfest</a:t>
            </a:r>
          </a:p>
          <a:p xmlns:a="http://schemas.openxmlformats.org/drawingml/2006/main">
            <a:r>
              <a:t>https://partner.steamgames.com/doc/store/pricing</a:t>
            </a:r>
          </a:p>
          <a:p xmlns:a="http://schemas.openxmlformats.org/drawingml/2006/main">
            <a:r>
              <a:t>https://partner.steamgames.com/doc/gettingstarted/contentsurvey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6dbde8d3f241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343b9646834a9e" /><Relationship Type="http://schemas.openxmlformats.org/officeDocument/2006/relationships/slideLayout" Target="/ppt/slideLayouts/slideLayout1.xml" Id="Ra2647e0170f844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647e0170f844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153b0ff6d14b34" /><Relationship Type="http://schemas.openxmlformats.org/officeDocument/2006/relationships/image" Target="/ppt/media/image.png" Id="Rba1648340c6f4542" /><Relationship Type="http://schemas.openxmlformats.org/officeDocument/2006/relationships/notesSlide" Target="/ppt/notesSlides/notesSlide1.xml" Id="R1317106fca0942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63fbac87764b9c" /><Relationship Type="http://schemas.openxmlformats.org/officeDocument/2006/relationships/notesSlide" Target="/ppt/notesSlides/notesSlide2.xml" Id="R3ccceb357dfd41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0764c853144c11" /><Relationship Type="http://schemas.openxmlformats.org/officeDocument/2006/relationships/notesSlide" Target="/ppt/notesSlides/notesSlide3.xml" Id="R0e072299b76b47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63bf1ad04140da" /><Relationship Type="http://schemas.openxmlformats.org/officeDocument/2006/relationships/notesSlide" Target="/ppt/notesSlides/notesSlide4.xml" Id="R156e1ce4ceff41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9fff1b42a84e7e" /><Relationship Type="http://schemas.openxmlformats.org/officeDocument/2006/relationships/notesSlide" Target="/ppt/notesSlides/notesSlide5.xml" Id="Rd583de2f54b24e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c2ec3005064c95" /><Relationship Type="http://schemas.openxmlformats.org/officeDocument/2006/relationships/notesSlide" Target="/ppt/notesSlides/notesSlide6.xml" Id="Rbf6eafcd8fb941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cbb6e414e3b4556" /><Relationship Type="http://schemas.openxmlformats.org/officeDocument/2006/relationships/notesSlide" Target="/ppt/notesSlides/notesSlide7.xml" Id="R9b6bef0fdffb42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ec6219e8174557" /><Relationship Type="http://schemas.openxmlformats.org/officeDocument/2006/relationships/notesSlide" Target="/ppt/notesSlides/notesSlide8.xml" Id="R012f238c193349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688f7419fe437a" /><Relationship Type="http://schemas.openxmlformats.org/officeDocument/2006/relationships/notesSlide" Target="/ppt/notesSlides/notesSlide9.xml" Id="R8d4cdef888b44b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ad5d379729443b" /><Relationship Type="http://schemas.openxmlformats.org/officeDocument/2006/relationships/notesSlide" Target="/ppt/notesSlides/notesSlide10.xml" Id="R0dffb0b22a904e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821e5c5a5b4294" /><Relationship Type="http://schemas.openxmlformats.org/officeDocument/2006/relationships/notesSlide" Target="/ppt/notesSlides/notesSlide11.xml" Id="Rba7bac4006ad40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f8fe3d1ff11438d" /><Relationship Type="http://schemas.openxmlformats.org/officeDocument/2006/relationships/notesSlide" Target="/ppt/notesSlides/notesSlide12.xml" Id="R6a4323891a0243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c8ab95df0c4ccc" /><Relationship Type="http://schemas.openxmlformats.org/officeDocument/2006/relationships/notesSlide" Target="/ppt/notesSlides/notesSlide13.xml" Id="R0e1ffef45c3746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8afe75a9a24690" /><Relationship Type="http://schemas.openxmlformats.org/officeDocument/2006/relationships/notesSlide" Target="/ppt/notesSlides/notesSlide14.xml" Id="R7e3251e6f65342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8da8fbcdfb24f23" /><Relationship Type="http://schemas.openxmlformats.org/officeDocument/2006/relationships/notesSlide" Target="/ppt/notesSlides/notesSlide15.xml" Id="Re8c016f3fb4143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a8a06dbf0a4063" /><Relationship Type="http://schemas.openxmlformats.org/officeDocument/2006/relationships/notesSlide" Target="/ppt/notesSlides/notesSlide16.xml" Id="Rba938768a1974f8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6ee301c3ef745e8" /><Relationship Type="http://schemas.openxmlformats.org/officeDocument/2006/relationships/notesSlide" Target="/ppt/notesSlides/notesSlide17.xml" Id="Rca7c271018144e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0c9639c455a463c" /><Relationship Type="http://schemas.openxmlformats.org/officeDocument/2006/relationships/notesSlide" Target="/ppt/notesSlides/notesSlide18.xml" Id="Rcf1052fff5c74de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ec017042b2e4ab5" /><Relationship Type="http://schemas.openxmlformats.org/officeDocument/2006/relationships/image" Target="/ppt/media/image2.png" Id="R326509a8e6a041da" /><Relationship Type="http://schemas.openxmlformats.org/officeDocument/2006/relationships/notesSlide" Target="/ppt/notesSlides/notesSlide19.xml" Id="R9ffc833f961e475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f0a457ba4f446f5" /><Relationship Type="http://schemas.openxmlformats.org/officeDocument/2006/relationships/image" Target="/ppt/media/image3.png" Id="R1fc460b9bf014ccd" /><Relationship Type="http://schemas.openxmlformats.org/officeDocument/2006/relationships/notesSlide" Target="/ppt/notesSlides/notesSlide20.xml" Id="R1065e2579f6443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32018b94dd44a66" /><Relationship Type="http://schemas.openxmlformats.org/officeDocument/2006/relationships/image" Target="/ppt/media/image4.png" Id="R5519e9bf66444aa5" /><Relationship Type="http://schemas.openxmlformats.org/officeDocument/2006/relationships/notesSlide" Target="/ppt/notesSlides/notesSlide21.xml" Id="R698cfc6c059e4e5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b697ffc2b5d41fe" /><Relationship Type="http://schemas.openxmlformats.org/officeDocument/2006/relationships/notesSlide" Target="/ppt/notesSlides/notesSlide22.xml" Id="Rfd9e10285d76465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e63f27005054477" /><Relationship Type="http://schemas.openxmlformats.org/officeDocument/2006/relationships/notesSlide" Target="/ppt/notesSlides/notesSlide23.xml" Id="R75cfa111cafc430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105538f4ac14950" /><Relationship Type="http://schemas.openxmlformats.org/officeDocument/2006/relationships/notesSlide" Target="/ppt/notesSlides/notesSlide24.xml" Id="Rf054d9f49d62469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1c98895b2fd4dd4" /><Relationship Type="http://schemas.openxmlformats.org/officeDocument/2006/relationships/notesSlide" Target="/ppt/notesSlides/notesSlide25.xml" Id="Re78d522de9594e1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6f7f87a1fd94346" /><Relationship Type="http://schemas.openxmlformats.org/officeDocument/2006/relationships/notesSlide" Target="/ppt/notesSlides/notesSlide26.xml" Id="R6d953de6b1e0491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84049bd62054835" /><Relationship Type="http://schemas.openxmlformats.org/officeDocument/2006/relationships/notesSlide" Target="/ppt/notesSlides/notesSlide27.xml" Id="R85dd6fc4bd384ed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57b33d294674e32" /><Relationship Type="http://schemas.openxmlformats.org/officeDocument/2006/relationships/notesSlide" Target="/ppt/notesSlides/notesSlide28.xml" Id="R64eb4afdbc054b5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b2add440a0f4771" /><Relationship Type="http://schemas.openxmlformats.org/officeDocument/2006/relationships/notesSlide" Target="/ppt/notesSlides/notesSlide29.xml" Id="R2c24af755764472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03022dd830a49ef" /><Relationship Type="http://schemas.openxmlformats.org/officeDocument/2006/relationships/notesSlide" Target="/ppt/notesSlides/notesSlide30.xml" Id="R406bf566e6a1419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bbfa59f4edc4314" /><Relationship Type="http://schemas.openxmlformats.org/officeDocument/2006/relationships/notesSlide" Target="/ppt/notesSlides/notesSlide31.xml" Id="R3f43ecdd17c146b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dc10210d3414225" /><Relationship Type="http://schemas.openxmlformats.org/officeDocument/2006/relationships/notesSlide" Target="/ppt/notesSlides/notesSlide32.xml" Id="R357fcadc72ff4cb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d8a995fbbe04e13" /><Relationship Type="http://schemas.openxmlformats.org/officeDocument/2006/relationships/notesSlide" Target="/ppt/notesSlides/notesSlide33.xml" Id="R2fbdd028bf744dd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9229d5c05fa4414" /><Relationship Type="http://schemas.openxmlformats.org/officeDocument/2006/relationships/notesSlide" Target="/ppt/notesSlides/notesSlide34.xml" Id="R9bbf1e2d320e432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201138af38944bf" /><Relationship Type="http://schemas.openxmlformats.org/officeDocument/2006/relationships/notesSlide" Target="/ppt/notesSlides/notesSlide35.xml" Id="Rf014247fd4214e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46b780d6a914b36" /><Relationship Type="http://schemas.openxmlformats.org/officeDocument/2006/relationships/notesSlide" Target="/ppt/notesSlides/notesSlide36.xml" Id="Rdd45a76e37f94c2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559db96615c4bcf" /><Relationship Type="http://schemas.openxmlformats.org/officeDocument/2006/relationships/notesSlide" Target="/ppt/notesSlides/notesSlide37.xml" Id="R2a332050c759410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8ff264b15534a43" /><Relationship Type="http://schemas.openxmlformats.org/officeDocument/2006/relationships/notesSlide" Target="/ppt/notesSlides/notesSlide38.xml" Id="R3895f5f7a96e479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c8f7bd5e1654c27" /><Relationship Type="http://schemas.openxmlformats.org/officeDocument/2006/relationships/notesSlide" Target="/ppt/notesSlides/notesSlide39.xml" Id="R97b296aae0ad406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1a50862c75847d6" /><Relationship Type="http://schemas.openxmlformats.org/officeDocument/2006/relationships/notesSlide" Target="/ppt/notesSlides/notesSlide40.xml" Id="R97a3af62cdca4e7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12fc0fd8e5b4604" /><Relationship Type="http://schemas.openxmlformats.org/officeDocument/2006/relationships/notesSlide" Target="/ppt/notesSlides/notesSlide41.xml" Id="Raee939eac24c4e7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4d37cb3aafc4393" /><Relationship Type="http://schemas.openxmlformats.org/officeDocument/2006/relationships/notesSlide" Target="/ppt/notesSlides/notesSlide42.xml" Id="R0d9802797c604d6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d2193d015c94372" /><Relationship Type="http://schemas.openxmlformats.org/officeDocument/2006/relationships/notesSlide" Target="/ppt/notesSlides/notesSlide43.xml" Id="Re4be844a4cd74e4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c5b96bec8174093" /><Relationship Type="http://schemas.openxmlformats.org/officeDocument/2006/relationships/notesSlide" Target="/ppt/notesSlides/notesSlide44.xml" Id="R6412743163854d9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530e417738b4e58" /><Relationship Type="http://schemas.openxmlformats.org/officeDocument/2006/relationships/notesSlide" Target="/ppt/notesSlides/notesSlide45.xml" Id="R1cbf0aca8543421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2da0cad4c6e4cae" /><Relationship Type="http://schemas.openxmlformats.org/officeDocument/2006/relationships/notesSlide" Target="/ppt/notesSlides/notesSlide46.xml" Id="R518043e640714e0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bf04f43a11b4aea" /><Relationship Type="http://schemas.openxmlformats.org/officeDocument/2006/relationships/notesSlide" Target="/ppt/notesSlides/notesSlide47.xml" Id="R12fb7044adab451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234a45892e8c4bc2" /><Relationship Type="http://schemas.openxmlformats.org/officeDocument/2006/relationships/notesSlide" Target="/ppt/notesSlides/notesSlide48.xml" Id="Rd525eeeeaee741f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125da0f7702407c" /><Relationship Type="http://schemas.openxmlformats.org/officeDocument/2006/relationships/notesSlide" Target="/ppt/notesSlides/notesSlide49.xml" Id="Rdb3683f4c4a2443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7be0f56bbac4c70" /><Relationship Type="http://schemas.openxmlformats.org/officeDocument/2006/relationships/notesSlide" Target="/ppt/notesSlides/notesSlide50.xml" Id="R1efbc4565d424e1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73f1f6f41dc4bea" /><Relationship Type="http://schemas.openxmlformats.org/officeDocument/2006/relationships/notesSlide" Target="/ppt/notesSlides/notesSlide51.xml" Id="Red4adf29546d487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868564cd0364f12" /><Relationship Type="http://schemas.openxmlformats.org/officeDocument/2006/relationships/notesSlide" Target="/ppt/notesSlides/notesSlide52.xml" Id="R400f10a4372b4c18"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DCCB8F-6EB1-449C-8ADC-53ADA01C0DC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포근한 모험</a:t>
            </a:r>
          </a:p>
        </p:txBody>
      </p:sp>
      <p:sp>
        <p:nvSpPr>
          <p:cNvPr id="2" name="">
            <a:extLst xmlns:a="http://schemas.openxmlformats.org/drawingml/2006/main">
              <a:ext uri="{FF2B5EF4-FFF2-40B4-BE49-F238E27FC236}">
                <a16:creationId xmlns:a16="http://schemas.microsoft.com/office/drawing/2014/main" id="{F75229D6-2206-43F7-95CE-9E1482741B6B}"/>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상용 게임 종합 기획서  v1.0 제안안</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a1648340c6f4542"/>
          <a:stretch xmlns:a="http://schemas.openxmlformats.org/drawingml/2006/main"/>
        </p:blipFill>
        <p:spPr>
          <a:xfrm xmlns:a="http://schemas.openxmlformats.org/drawingml/2006/main">
            <a:off x="6677025" y="1876425"/>
            <a:ext cx="4019550" cy="4019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3CBC74-332F-4965-917A-C4EF802F2318}"/>
              </a:ext>
            </a:extLst>
          </p:cNvPr>
          <p:cNvSpPr>
            <a:spLocks xmlns:a="http://schemas.openxmlformats.org/drawingml/2006/main" noGrp="1"/>
          </p:cNvSpPr>
          <p:nvPr/>
        </p:nvSpPr>
        <p:spPr>
          <a:xfrm xmlns:a="http://schemas.openxmlformats.org/drawingml/2006/main">
            <a:off x="666750" y="2038350"/>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243646"/>
                </a:solidFill>
                <a:latin typeface="Malgun Gothic"/>
                <a:ea typeface="Malgun Gothic"/>
                <a:cs typeface="Malgun Gothic"/>
              </a:defRPr>
            </a:pPr>
            <a:r>
              <a:rPr sz="2250" b="1">
                <a:solidFill>
                  <a:srgbClr val="243646"/>
                </a:solidFill>
                <a:latin typeface="Malgun Gothic"/>
                <a:ea typeface="Malgun Gothic"/>
                <a:cs typeface="Malgun Gothic"/>
              </a:rPr>
              <a:t>귀여운 동물과 함께하는</a:t>
            </a:r>
          </a:p>
          <a:p xmlns:a="http://schemas.openxmlformats.org/drawingml/2006/main">
            <a:pPr>
              <a:defRPr sz="2250" b="1">
                <a:solidFill>
                  <a:srgbClr val="243646"/>
                </a:solidFill>
                <a:latin typeface="Malgun Gothic"/>
                <a:ea typeface="Malgun Gothic"/>
                <a:cs typeface="Malgun Gothic"/>
              </a:defRPr>
            </a:pPr>
            <a:r>
              <a:rPr sz="2250" b="1">
                <a:solidFill>
                  <a:srgbClr val="243646"/>
                </a:solidFill>
                <a:latin typeface="Malgun Gothic"/>
                <a:ea typeface="Malgun Gothic"/>
                <a:cs typeface="Malgun Gothic"/>
              </a:rPr>
              <a:t>12분의 마을 지키기</a:t>
            </a:r>
          </a:p>
        </p:txBody>
      </p:sp>
      <p:sp>
        <p:nvSpPr>
          <p:cNvPr id="5" name="">
            <a:extLst xmlns:a="http://schemas.openxmlformats.org/drawingml/2006/main">
              <a:ext uri="{FF2B5EF4-FFF2-40B4-BE49-F238E27FC236}">
                <a16:creationId xmlns:a16="http://schemas.microsoft.com/office/drawing/2014/main" id="{8F21DC83-DBD7-4F98-A881-C9F2F36F9963}"/>
              </a:ext>
            </a:extLst>
          </p:cNvPr>
          <p:cNvSpPr>
            <a:spLocks xmlns:a="http://schemas.openxmlformats.org/drawingml/2006/main" noGrp="1"/>
          </p:cNvSpPr>
          <p:nvPr/>
        </p:nvSpPr>
        <p:spPr>
          <a:xfrm xmlns:a="http://schemas.openxmlformats.org/drawingml/2006/main">
            <a:off x="666750" y="3267075"/>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243646"/>
                </a:solidFill>
                <a:latin typeface="Malgun Gothic"/>
                <a:ea typeface="Malgun Gothic"/>
                <a:cs typeface="Malgun Gothic"/>
              </a:defRPr>
            </a:pPr>
            <a:r>
              <a:rPr sz="2250" b="0">
                <a:solidFill>
                  <a:srgbClr val="243646"/>
                </a:solidFill>
                <a:latin typeface="Malgun Gothic"/>
                <a:ea typeface="Malgun Gothic"/>
                <a:cs typeface="Malgun Gothic"/>
              </a:rPr>
              <a:t>플레이 · 성장 · 레벨 디자인</a:t>
            </a:r>
          </a:p>
          <a:p xmlns:a="http://schemas.openxmlformats.org/drawingml/2006/main">
            <a:pPr>
              <a:defRPr sz="2250" b="0">
                <a:solidFill>
                  <a:srgbClr val="243646"/>
                </a:solidFill>
                <a:latin typeface="Malgun Gothic"/>
                <a:ea typeface="Malgun Gothic"/>
                <a:cs typeface="Malgun Gothic"/>
              </a:defRPr>
            </a:pPr>
            <a:r>
              <a:rPr sz="2250" b="0">
                <a:solidFill>
                  <a:srgbClr val="243646"/>
                </a:solidFill>
                <a:latin typeface="Malgun Gothic"/>
                <a:ea typeface="Malgun Gothic"/>
                <a:cs typeface="Malgun Gothic"/>
              </a:rPr>
              <a:t>제작 · 출시 · 수익성</a:t>
            </a:r>
          </a:p>
        </p:txBody>
      </p:sp>
      <p:sp>
        <p:nvSpPr>
          <p:cNvPr id="6" name="">
            <a:extLst xmlns:a="http://schemas.openxmlformats.org/drawingml/2006/main">
              <a:ext uri="{FF2B5EF4-FFF2-40B4-BE49-F238E27FC236}">
                <a16:creationId xmlns:a16="http://schemas.microsoft.com/office/drawing/2014/main" id="{F029B48C-C135-4C03-B11D-CCDC6155BEBD}"/>
              </a:ext>
            </a:extLst>
          </p:cNvPr>
          <p:cNvSpPr>
            <a:spLocks xmlns:a="http://schemas.openxmlformats.org/drawingml/2006/main" noGrp="1"/>
          </p:cNvSpPr>
          <p:nvPr/>
        </p:nvSpPr>
        <p:spPr>
          <a:xfrm xmlns:a="http://schemas.openxmlformats.org/drawingml/2006/main">
            <a:off x="666750" y="4495800"/>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243646"/>
                </a:solidFill>
                <a:latin typeface="Malgun Gothic"/>
                <a:ea typeface="Malgun Gothic"/>
                <a:cs typeface="Malgun Gothic"/>
              </a:defRPr>
            </a:pPr>
            <a:r>
              <a:rPr sz="2250" b="0">
                <a:solidFill>
                  <a:srgbClr val="243646"/>
                </a:solidFill>
                <a:latin typeface="Malgun Gothic"/>
                <a:ea typeface="Malgun Gothic"/>
                <a:cs typeface="Malgun Gothic"/>
              </a:rPr>
              <a:t>Second Wind Games</a:t>
            </a:r>
          </a:p>
          <a:p xmlns:a="http://schemas.openxmlformats.org/drawingml/2006/main">
            <a:pPr>
              <a:defRPr sz="2250" b="0">
                <a:solidFill>
                  <a:srgbClr val="243646"/>
                </a:solidFill>
                <a:latin typeface="Malgun Gothic"/>
                <a:ea typeface="Malgun Gothic"/>
                <a:cs typeface="Malgun Gothic"/>
              </a:defRPr>
            </a:pPr>
            <a:r>
              <a:rPr sz="2250" b="0">
                <a:solidFill>
                  <a:srgbClr val="243646"/>
                </a:solidFill>
                <a:latin typeface="Malgun Gothic"/>
                <a:ea typeface="Malgun Gothic"/>
                <a:cs typeface="Malgun Gothic"/>
              </a:rPr>
              <a:t>2026.09.10</a:t>
            </a:r>
          </a:p>
        </p:txBody>
      </p:sp>
      <p:sp>
        <p:nvSpPr>
          <p:cNvPr id="7" name="">
            <a:extLst xmlns:a="http://schemas.openxmlformats.org/drawingml/2006/main">
              <a:ext uri="{FF2B5EF4-FFF2-40B4-BE49-F238E27FC236}">
                <a16:creationId xmlns:a16="http://schemas.microsoft.com/office/drawing/2014/main" id="{AE4CD75F-D163-4870-8CDE-553972FB5F6E}"/>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8ABE97D7-75EC-4DF3-A719-D230131B3167}"/>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01</a:t>
            </a:r>
          </a:p>
        </p:txBody>
      </p:sp>
    </p:spTree>
    <p:extLst>
      <p:ext uri="{BB962C8B-B14F-4D97-AF65-F5344CB8AC3E}">
        <p14:creationId xmlns:p14="http://schemas.microsoft.com/office/powerpoint/2010/main" val="2135176396"/>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1E39C9-7E7D-4C54-946D-E9B234B80532}"/>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문서의 전제와 읽는 법</a:t>
            </a:r>
          </a:p>
        </p:txBody>
      </p:sp>
      <p:sp>
        <p:nvSpPr>
          <p:cNvPr id="2" name="">
            <a:extLst xmlns:a="http://schemas.openxmlformats.org/drawingml/2006/main">
              <a:ext uri="{FF2B5EF4-FFF2-40B4-BE49-F238E27FC236}">
                <a16:creationId xmlns:a16="http://schemas.microsoft.com/office/drawing/2014/main" id="{DA226373-509E-404F-A7CB-2535C015C739}"/>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현재 구현, 레퍼런스 사실, 신규 설계를 분리한다</a:t>
            </a:r>
          </a:p>
        </p:txBody>
      </p:sp>
      <p:sp>
        <p:nvSpPr>
          <p:cNvPr id="3" name="">
            <a:extLst xmlns:a="http://schemas.openxmlformats.org/drawingml/2006/main">
              <a:ext uri="{FF2B5EF4-FFF2-40B4-BE49-F238E27FC236}">
                <a16:creationId xmlns:a16="http://schemas.microsoft.com/office/drawing/2014/main" id="{EC80324C-90C3-4C4C-AD63-0A72D0130914}"/>
              </a:ext>
            </a:extLst>
          </p:cNvPr>
          <p:cNvSpPr>
            <a:spLocks xmlns:a="http://schemas.openxmlformats.org/drawingml/2006/main" noGrp="1"/>
          </p:cNvSpPr>
          <p:nvPr/>
        </p:nvSpPr>
        <p:spPr>
          <a:xfrm xmlns:a="http://schemas.openxmlformats.org/drawingml/2006/main">
            <a:off x="666750" y="192405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3646"/>
                </a:solidFill>
                <a:latin typeface="Malgun Gothic"/>
                <a:ea typeface="Malgun Gothic"/>
                <a:cs typeface="Malgun Gothic"/>
              </a:defRPr>
            </a:pPr>
            <a:r>
              <a:rPr sz="2100" b="1">
                <a:solidFill>
                  <a:srgbClr val="243646"/>
                </a:solidFill>
                <a:latin typeface="Malgun Gothic"/>
                <a:ea typeface="Malgun Gothic"/>
                <a:cs typeface="Malgun Gothic"/>
              </a:rPr>
              <a:t>현재 확인: 펭귄 프로토타입 제작. 세부 구현 상태는 개발자 확인 필요.</a:t>
            </a:r>
          </a:p>
        </p:txBody>
      </p:sp>
      <p:sp>
        <p:nvSpPr>
          <p:cNvPr id="4" name="">
            <a:extLst xmlns:a="http://schemas.openxmlformats.org/drawingml/2006/main">
              <a:ext uri="{FF2B5EF4-FFF2-40B4-BE49-F238E27FC236}">
                <a16:creationId xmlns:a16="http://schemas.microsoft.com/office/drawing/2014/main" id="{BDB7D83D-1604-4F72-9F8A-8FC711634FA1}"/>
              </a:ext>
            </a:extLst>
          </p:cNvPr>
          <p:cNvSpPr>
            <a:spLocks xmlns:a="http://schemas.openxmlformats.org/drawingml/2006/main" noGrp="1"/>
          </p:cNvSpPr>
          <p:nvPr/>
        </p:nvSpPr>
        <p:spPr>
          <a:xfrm xmlns:a="http://schemas.openxmlformats.org/drawingml/2006/main">
            <a:off x="666750" y="292417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원본 기준: 이동 중심 자동 공격, 세 동물, 고정 경기장과 처치 기록.</a:t>
            </a:r>
          </a:p>
        </p:txBody>
      </p:sp>
      <p:sp>
        <p:nvSpPr>
          <p:cNvPr id="5" name="">
            <a:extLst xmlns:a="http://schemas.openxmlformats.org/drawingml/2006/main">
              <a:ext uri="{FF2B5EF4-FFF2-40B4-BE49-F238E27FC236}">
                <a16:creationId xmlns:a16="http://schemas.microsoft.com/office/drawing/2014/main" id="{7916668A-26EA-4269-A777-DA1AE2534FBB}"/>
              </a:ext>
            </a:extLst>
          </p:cNvPr>
          <p:cNvSpPr>
            <a:spLocks xmlns:a="http://schemas.openxmlformats.org/drawingml/2006/main" noGrp="1"/>
          </p:cNvSpPr>
          <p:nvPr/>
        </p:nvSpPr>
        <p:spPr>
          <a:xfrm xmlns:a="http://schemas.openxmlformats.org/drawingml/2006/main">
            <a:off x="666750" y="392430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신규 제안: 12분 주 모드, 성장 선택, 지역 목표, 보스, PC 유료 판매.</a:t>
            </a:r>
          </a:p>
        </p:txBody>
      </p:sp>
      <p:sp>
        <p:nvSpPr>
          <p:cNvPr id="6" name="">
            <a:extLst xmlns:a="http://schemas.openxmlformats.org/drawingml/2006/main">
              <a:ext uri="{FF2B5EF4-FFF2-40B4-BE49-F238E27FC236}">
                <a16:creationId xmlns:a16="http://schemas.microsoft.com/office/drawing/2014/main" id="{09C3F633-E26C-4662-B6C8-82A6B60180DF}"/>
              </a:ext>
            </a:extLst>
          </p:cNvPr>
          <p:cNvSpPr>
            <a:spLocks xmlns:a="http://schemas.openxmlformats.org/drawingml/2006/main" noGrp="1"/>
          </p:cNvSpPr>
          <p:nvPr/>
        </p:nvSpPr>
        <p:spPr>
          <a:xfrm xmlns:a="http://schemas.openxmlformats.org/drawingml/2006/main">
            <a:off x="666750" y="492442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문서의 수치·예산·목표는 초기 검증값. 레퍼런스의 내부 수치를 추정해 사실로 쓰지 않는다.</a:t>
            </a:r>
          </a:p>
        </p:txBody>
      </p:sp>
      <p:sp>
        <p:nvSpPr>
          <p:cNvPr id="7" name="">
            <a:extLst xmlns:a="http://schemas.openxmlformats.org/drawingml/2006/main">
              <a:ext uri="{FF2B5EF4-FFF2-40B4-BE49-F238E27FC236}">
                <a16:creationId xmlns:a16="http://schemas.microsoft.com/office/drawing/2014/main" id="{29A113B6-B006-42D7-9A53-CC4505E17917}"/>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816F24B6-D78F-4885-A33A-72FE05916ACB}"/>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02</a:t>
            </a:r>
          </a:p>
        </p:txBody>
      </p:sp>
    </p:spTree>
    <p:extLst>
      <p:ext uri="{BB962C8B-B14F-4D97-AF65-F5344CB8AC3E}">
        <p14:creationId xmlns:p14="http://schemas.microsoft.com/office/powerpoint/2010/main" val="1293163274"/>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43CCCA-C0A9-4480-A9C2-F1F077749306}"/>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제품 정의</a:t>
            </a:r>
          </a:p>
        </p:txBody>
      </p:sp>
      <p:sp>
        <p:nvSpPr>
          <p:cNvPr id="2" name="">
            <a:extLst xmlns:a="http://schemas.openxmlformats.org/drawingml/2006/main">
              <a:ext uri="{FF2B5EF4-FFF2-40B4-BE49-F238E27FC236}">
                <a16:creationId xmlns:a16="http://schemas.microsoft.com/office/drawing/2014/main" id="{AE0D3BF7-774D-43C6-ABAD-DCF55F3AA067}"/>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범위를 좁혀 완성도와 차별화를 함께 확보한다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333625"/>
                <a:gridCol w="8601075"/>
              </a:tblGrid>
              <a:tr h="6096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상용 제안</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장르·대상</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동물 테마 자동 공격 생존 액션 / 짧은 세션 선호 PC 이용자</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플랫폼·입력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Windows Steam 우선 / 키보드·게임패드 / 브라우저는 내부 검증</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한 판</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12분 방어 + 최대 90초 보스 / 선택·정지 시간 별도</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출시 콘텐츠</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동물 3종, 지역 3개, 주 모드와 무한 도전</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판매 방식</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본편 일회 구매 / 광고·확률형 유료 상품·시즌패스 없음</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C48CCEF-DE08-494F-A3E7-9C851B52FB5C}"/>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FC6F5D12-F831-494C-8087-FE02AE79A2E1}"/>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03</a:t>
            </a:r>
          </a:p>
        </p:txBody>
      </p:sp>
    </p:spTree>
    <p:extLst>
      <p:ext uri="{BB962C8B-B14F-4D97-AF65-F5344CB8AC3E}">
        <p14:creationId xmlns:p14="http://schemas.microsoft.com/office/powerpoint/2010/main" val="1604678619"/>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D84E9A-2099-4FE0-BF79-BF074E6626E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구매 이유와 타깃</a:t>
            </a:r>
          </a:p>
        </p:txBody>
      </p:sp>
      <p:sp>
        <p:nvSpPr>
          <p:cNvPr id="2" name="">
            <a:extLst xmlns:a="http://schemas.openxmlformats.org/drawingml/2006/main">
              <a:ext uri="{FF2B5EF4-FFF2-40B4-BE49-F238E27FC236}">
                <a16:creationId xmlns:a16="http://schemas.microsoft.com/office/drawing/2014/main" id="{D55BA35E-686A-4957-ABFB-D2342EEF6FD6}"/>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동물의 매력을 전투 행동과 연결한다</a:t>
            </a:r>
          </a:p>
        </p:txBody>
      </p:sp>
      <p:sp>
        <p:nvSpPr>
          <p:cNvPr id="3" name="">
            <a:extLst xmlns:a="http://schemas.openxmlformats.org/drawingml/2006/main">
              <a:ext uri="{FF2B5EF4-FFF2-40B4-BE49-F238E27FC236}">
                <a16:creationId xmlns:a16="http://schemas.microsoft.com/office/drawing/2014/main" id="{432B75FE-77AE-4943-B04C-ABF2957A2D89}"/>
              </a:ext>
            </a:extLst>
          </p:cNvPr>
          <p:cNvSpPr>
            <a:spLocks xmlns:a="http://schemas.openxmlformats.org/drawingml/2006/main" noGrp="1"/>
          </p:cNvSpPr>
          <p:nvPr/>
        </p:nvSpPr>
        <p:spPr>
          <a:xfrm xmlns:a="http://schemas.openxmlformats.org/drawingml/2006/main">
            <a:off x="666750" y="192405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3646"/>
                </a:solidFill>
                <a:latin typeface="Malgun Gothic"/>
                <a:ea typeface="Malgun Gothic"/>
                <a:cs typeface="Malgun Gothic"/>
              </a:defRPr>
            </a:pPr>
            <a:r>
              <a:rPr sz="2100" b="1">
                <a:solidFill>
                  <a:srgbClr val="243646"/>
                </a:solidFill>
                <a:latin typeface="Malgun Gothic"/>
                <a:ea typeface="Malgun Gothic"/>
                <a:cs typeface="Malgun Gothic"/>
              </a:rPr>
              <a:t>핵심 고객: 자동 공격 생존 게임을 즐기며 짧게 빌드를 완성하고 싶은 사람.</a:t>
            </a:r>
          </a:p>
        </p:txBody>
      </p:sp>
      <p:sp>
        <p:nvSpPr>
          <p:cNvPr id="4" name="">
            <a:extLst xmlns:a="http://schemas.openxmlformats.org/drawingml/2006/main">
              <a:ext uri="{FF2B5EF4-FFF2-40B4-BE49-F238E27FC236}">
                <a16:creationId xmlns:a16="http://schemas.microsoft.com/office/drawing/2014/main" id="{886AE194-64B8-46C6-BA1F-65DC7C3785CE}"/>
              </a:ext>
            </a:extLst>
          </p:cNvPr>
          <p:cNvSpPr>
            <a:spLocks xmlns:a="http://schemas.openxmlformats.org/drawingml/2006/main" noGrp="1"/>
          </p:cNvSpPr>
          <p:nvPr/>
        </p:nvSpPr>
        <p:spPr>
          <a:xfrm xmlns:a="http://schemas.openxmlformats.org/drawingml/2006/main">
            <a:off x="666750" y="292417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차별화 가설: 동물마다 거리·타이밍·진로를 다르게 읽는 전투.</a:t>
            </a:r>
          </a:p>
        </p:txBody>
      </p:sp>
      <p:sp>
        <p:nvSpPr>
          <p:cNvPr id="5" name="">
            <a:extLst xmlns:a="http://schemas.openxmlformats.org/drawingml/2006/main">
              <a:ext uri="{FF2B5EF4-FFF2-40B4-BE49-F238E27FC236}">
                <a16:creationId xmlns:a16="http://schemas.microsoft.com/office/drawing/2014/main" id="{19A14393-F446-48E9-AC74-CC8FA3D9B703}"/>
              </a:ext>
            </a:extLst>
          </p:cNvPr>
          <p:cNvSpPr>
            <a:spLocks xmlns:a="http://schemas.openxmlformats.org/drawingml/2006/main" noGrp="1"/>
          </p:cNvSpPr>
          <p:nvPr/>
        </p:nvSpPr>
        <p:spPr>
          <a:xfrm xmlns:a="http://schemas.openxmlformats.org/drawingml/2006/main">
            <a:off x="666750" y="392430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감정적 보상: 구한 마을의 변화와 친구의 편지, 잔혹하지 않은 탈진 연출.</a:t>
            </a:r>
          </a:p>
        </p:txBody>
      </p:sp>
      <p:sp>
        <p:nvSpPr>
          <p:cNvPr id="6" name="">
            <a:extLst xmlns:a="http://schemas.openxmlformats.org/drawingml/2006/main">
              <a:ext uri="{FF2B5EF4-FFF2-40B4-BE49-F238E27FC236}">
                <a16:creationId xmlns:a16="http://schemas.microsoft.com/office/drawing/2014/main" id="{31E4B30A-47D5-410E-819F-44BF55EFF2D5}"/>
              </a:ext>
            </a:extLst>
          </p:cNvPr>
          <p:cNvSpPr>
            <a:spLocks xmlns:a="http://schemas.openxmlformats.org/drawingml/2006/main" noGrp="1"/>
          </p:cNvSpPr>
          <p:nvPr/>
        </p:nvSpPr>
        <p:spPr>
          <a:xfrm xmlns:a="http://schemas.openxmlformats.org/drawingml/2006/main">
            <a:off x="666750" y="492442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상점 한 문장: 눈꽃을 두르고, 방울을 터뜨리고, 편지를 날리며 마을의 밤을 지켜 주세요.</a:t>
            </a:r>
          </a:p>
        </p:txBody>
      </p:sp>
      <p:sp>
        <p:nvSpPr>
          <p:cNvPr id="7" name="">
            <a:extLst xmlns:a="http://schemas.openxmlformats.org/drawingml/2006/main">
              <a:ext uri="{FF2B5EF4-FFF2-40B4-BE49-F238E27FC236}">
                <a16:creationId xmlns:a16="http://schemas.microsoft.com/office/drawing/2014/main" id="{E2B93A96-0DA4-4F0D-A2C6-56B433066400}"/>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0B31FEE9-FC7C-4C3F-BAE5-8E9A6EBCAE5A}"/>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04</a:t>
            </a:r>
          </a:p>
        </p:txBody>
      </p:sp>
    </p:spTree>
    <p:extLst>
      <p:ext uri="{BB962C8B-B14F-4D97-AF65-F5344CB8AC3E}">
        <p14:creationId xmlns:p14="http://schemas.microsoft.com/office/powerpoint/2010/main" val="139648821"/>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36994A-1775-4EDB-8504-72EF3950D63A}"/>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레퍼런스 구조 분석</a:t>
            </a:r>
          </a:p>
        </p:txBody>
      </p:sp>
      <p:sp>
        <p:nvSpPr>
          <p:cNvPr id="2" name="">
            <a:extLst xmlns:a="http://schemas.openxmlformats.org/drawingml/2006/main">
              <a:ext uri="{FF2B5EF4-FFF2-40B4-BE49-F238E27FC236}">
                <a16:creationId xmlns:a16="http://schemas.microsoft.com/office/drawing/2014/main" id="{09C52C82-E4EC-4F31-A1D5-14DCDC210A59}"/>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관찰 가능한 규칙에서 플레이 동기를 도출한다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3524250"/>
                <a:gridCol w="3143250"/>
                <a:gridCol w="4152900"/>
              </a:tblGrid>
              <a:tr h="609600">
                <a:tc>
                  <a:txBody>
                    <a:bodyPr>
                      <a:noAutofit/>
                    </a:bodyPr>
                    <a:lstStyle/>
                    <a:p>
                      <a:r>
                        <a:rPr sz="1725" b="1">
                          <a:solidFill>
                            <a:srgbClr val="427D86"/>
                          </a:solidFill>
                          <a:latin typeface="Malgun Gothic"/>
                          <a:ea typeface="Malgun Gothic"/>
                          <a:cs typeface="Malgun Gothic"/>
                        </a:rPr>
                        <a:t>레퍼런스 사실</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설계 해석</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본작 적용</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Brotato: 웨이브와 중간 상점</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압박 뒤 선택 시간이 리듬을 만듦</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전투 중 성장 정지와 목표 완료 보상</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Vampire Survivors: 무기 성장·수집</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위험 감수와 보상이 이동을 유도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경험치와 선택 목표로 진로 유도</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HoloCure: 캐릭터별 스킬·특수 공격</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캐릭터 선택이 행동 차이를 만듦</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공격 형태와 성장 분기를 동물별 설계</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Goobies: 고유 패시브·아이템 조합</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단순 조작에 조합의 변화를 더함</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공용 패시브와 제한된 유물 조합</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Temtem: Swarm: 특성·진화</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외형과 능력 변화가 기대를 만듦</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최종 공격 분기를 눈에 보이게 표현</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77DF225-2D1E-4211-8D43-13F6738EE427}"/>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9F71E4B5-DDA1-44DB-BD3A-3CD8CEE286E5}"/>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05</a:t>
            </a:r>
          </a:p>
        </p:txBody>
      </p:sp>
    </p:spTree>
    <p:extLst>
      <p:ext uri="{BB962C8B-B14F-4D97-AF65-F5344CB8AC3E}">
        <p14:creationId xmlns:p14="http://schemas.microsoft.com/office/powerpoint/2010/main" val="374882947"/>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87F032-2FC0-4C1A-A61A-B277E4AC08CD}"/>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펭귄 회전 공격의 역기획</a:t>
            </a:r>
          </a:p>
        </p:txBody>
      </p:sp>
      <p:sp>
        <p:nvSpPr>
          <p:cNvPr id="2" name="">
            <a:extLst xmlns:a="http://schemas.openxmlformats.org/drawingml/2006/main">
              <a:ext uri="{FF2B5EF4-FFF2-40B4-BE49-F238E27FC236}">
                <a16:creationId xmlns:a16="http://schemas.microsoft.com/office/drawing/2014/main" id="{E88EBF3F-2109-4A53-84D4-E7F46D89DE78}"/>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King Bible의 회전형 구조를 비교 출발점으로 삼는다</a:t>
            </a:r>
          </a:p>
        </p:txBody>
      </p:sp>
      <p:sp>
        <p:nvSpPr>
          <p:cNvPr id="3" name="">
            <a:extLst xmlns:a="http://schemas.openxmlformats.org/drawingml/2006/main">
              <a:ext uri="{FF2B5EF4-FFF2-40B4-BE49-F238E27FC236}">
                <a16:creationId xmlns:a16="http://schemas.microsoft.com/office/drawing/2014/main" id="{B581A33C-4BCB-4DA0-91B0-EAAAB6B9AD8E}"/>
              </a:ext>
            </a:extLst>
          </p:cNvPr>
          <p:cNvSpPr>
            <a:spLocks xmlns:a="http://schemas.openxmlformats.org/drawingml/2006/main" noGrp="1"/>
          </p:cNvSpPr>
          <p:nvPr/>
        </p:nvSpPr>
        <p:spPr>
          <a:xfrm xmlns:a="http://schemas.openxmlformats.org/drawingml/2006/main">
            <a:off x="666750" y="192405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3646"/>
                </a:solidFill>
                <a:latin typeface="Malgun Gothic"/>
                <a:ea typeface="Malgun Gothic"/>
                <a:cs typeface="Malgun Gothic"/>
              </a:defRPr>
            </a:pPr>
            <a:r>
              <a:rPr sz="2100" b="1">
                <a:solidFill>
                  <a:srgbClr val="243646"/>
                </a:solidFill>
                <a:latin typeface="Malgun Gothic"/>
                <a:ea typeface="Malgun Gothic"/>
                <a:cs typeface="Malgun Gothic"/>
              </a:rPr>
              <a:t>비교 사실: King Bible은 캐릭터 주변을 도는 공격체로 적을 타격한다.</a:t>
            </a:r>
          </a:p>
        </p:txBody>
      </p:sp>
      <p:sp>
        <p:nvSpPr>
          <p:cNvPr id="4" name="">
            <a:extLst xmlns:a="http://schemas.openxmlformats.org/drawingml/2006/main">
              <a:ext uri="{FF2B5EF4-FFF2-40B4-BE49-F238E27FC236}">
                <a16:creationId xmlns:a16="http://schemas.microsoft.com/office/drawing/2014/main" id="{8859CB16-19CF-46F5-A420-6D4C30E34996}"/>
              </a:ext>
            </a:extLst>
          </p:cNvPr>
          <p:cNvSpPr>
            <a:spLocks xmlns:a="http://schemas.openxmlformats.org/drawingml/2006/main" noGrp="1"/>
          </p:cNvSpPr>
          <p:nvPr/>
        </p:nvSpPr>
        <p:spPr>
          <a:xfrm xmlns:a="http://schemas.openxmlformats.org/drawingml/2006/main">
            <a:off x="666750" y="292417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설계 가설: 궤도 바깥의 적을 맞히고, 안쪽으로 들어온 적과 거리를 벌리는 판단이 재미를 만든다.</a:t>
            </a:r>
          </a:p>
        </p:txBody>
      </p:sp>
      <p:sp>
        <p:nvSpPr>
          <p:cNvPr id="5" name="">
            <a:extLst xmlns:a="http://schemas.openxmlformats.org/drawingml/2006/main">
              <a:ext uri="{FF2B5EF4-FFF2-40B4-BE49-F238E27FC236}">
                <a16:creationId xmlns:a16="http://schemas.microsoft.com/office/drawing/2014/main" id="{CCEDE56E-06F9-4AA8-8750-ADD393616BEB}"/>
              </a:ext>
            </a:extLst>
          </p:cNvPr>
          <p:cNvSpPr>
            <a:spLocks xmlns:a="http://schemas.openxmlformats.org/drawingml/2006/main" noGrp="1"/>
          </p:cNvSpPr>
          <p:nvPr/>
        </p:nvSpPr>
        <p:spPr>
          <a:xfrm xmlns:a="http://schemas.openxmlformats.org/drawingml/2006/main">
            <a:off x="666750" y="392430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적용: 눈꽃 실체만 충돌한다. 장식 궤도선은 공격 판정으로 오해되지 않게 약하게 표시한다.</a:t>
            </a:r>
          </a:p>
        </p:txBody>
      </p:sp>
      <p:sp>
        <p:nvSpPr>
          <p:cNvPr id="6" name="">
            <a:extLst xmlns:a="http://schemas.openxmlformats.org/drawingml/2006/main">
              <a:ext uri="{FF2B5EF4-FFF2-40B4-BE49-F238E27FC236}">
                <a16:creationId xmlns:a16="http://schemas.microsoft.com/office/drawing/2014/main" id="{4A8A7E20-C335-4FA9-86AC-F440A4239BA8}"/>
              </a:ext>
            </a:extLst>
          </p:cNvPr>
          <p:cNvSpPr>
            <a:spLocks xmlns:a="http://schemas.openxmlformats.org/drawingml/2006/main" noGrp="1"/>
          </p:cNvSpPr>
          <p:nvPr/>
        </p:nvSpPr>
        <p:spPr>
          <a:xfrm xmlns:a="http://schemas.openxmlformats.org/drawingml/2006/main">
            <a:off x="666750" y="492442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실측 과제: 정지·외곽 순환·궤도 맞추기 각각 3회, 같은 시드에서 피격과 처치를 비교한다.</a:t>
            </a:r>
          </a:p>
        </p:txBody>
      </p:sp>
      <p:sp>
        <p:nvSpPr>
          <p:cNvPr id="7" name="">
            <a:extLst xmlns:a="http://schemas.openxmlformats.org/drawingml/2006/main">
              <a:ext uri="{FF2B5EF4-FFF2-40B4-BE49-F238E27FC236}">
                <a16:creationId xmlns:a16="http://schemas.microsoft.com/office/drawing/2014/main" id="{761A5998-473B-4273-9F51-97F3D2436BEC}"/>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27E647F7-193D-45E4-A05B-682C6E896BB5}"/>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06</a:t>
            </a:r>
          </a:p>
        </p:txBody>
      </p:sp>
    </p:spTree>
    <p:extLst>
      <p:ext uri="{BB962C8B-B14F-4D97-AF65-F5344CB8AC3E}">
        <p14:creationId xmlns:p14="http://schemas.microsoft.com/office/powerpoint/2010/main" val="98278919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C5E969-F384-42B9-BFD8-23F448FD5389}"/>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v0.2에서 달라지는 핵심</a:t>
            </a:r>
          </a:p>
        </p:txBody>
      </p:sp>
      <p:sp>
        <p:nvSpPr>
          <p:cNvPr id="2" name="">
            <a:extLst xmlns:a="http://schemas.openxmlformats.org/drawingml/2006/main">
              <a:ext uri="{FF2B5EF4-FFF2-40B4-BE49-F238E27FC236}">
                <a16:creationId xmlns:a16="http://schemas.microsoft.com/office/drawing/2014/main" id="{899672C4-5C90-4808-AF2F-86094521895E}"/>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자동 공격과 조작감은 이어가고 한 판의 구조를 확장한다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190750"/>
                <a:gridCol w="4000500"/>
                <a:gridCol w="4743450"/>
              </a:tblGrid>
              <a:tr h="5715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v0.2</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상용 v1.0 제안</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승패</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체력 0까지 무한 생존</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12분 뒤 보스 처치로 승리</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성장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없음</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레벨업 3택1과 공격 최종 분기</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맵과 동물</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동물마다 고정 씬</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모든 동물로 모든 지역 플레이</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회복·난도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5칸, 회복 없음</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5하트, 제한 회복, 포근·보통·도전</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재도전 동기</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캐릭터별 최고 점수</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빌드·지역·도감·마을 장식</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기록</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캐릭터별 점수</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지역·캐릭터·난도·규칙 버전별 기록</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512E6D5D-C003-4D30-89C7-6485909A099F}"/>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D65D0B26-F9EC-432C-B33F-D59478BE68E3}"/>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07</a:t>
            </a:r>
          </a:p>
        </p:txBody>
      </p:sp>
    </p:spTree>
    <p:extLst>
      <p:ext uri="{BB962C8B-B14F-4D97-AF65-F5344CB8AC3E}">
        <p14:creationId xmlns:p14="http://schemas.microsoft.com/office/powerpoint/2010/main" val="1404579582"/>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AC2166-4F88-4B9E-8956-DC0074903FB4}"/>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핵심 플레이 순환</a:t>
            </a:r>
          </a:p>
        </p:txBody>
      </p:sp>
      <p:sp>
        <p:nvSpPr>
          <p:cNvPr id="2" name="">
            <a:extLst xmlns:a="http://schemas.openxmlformats.org/drawingml/2006/main">
              <a:ext uri="{FF2B5EF4-FFF2-40B4-BE49-F238E27FC236}">
                <a16:creationId xmlns:a16="http://schemas.microsoft.com/office/drawing/2014/main" id="{7282603E-DB6A-492D-8926-00A7BF4AF71E}"/>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한 판의 판단과 여러 판의 보상을 연결한다</a:t>
            </a:r>
          </a:p>
        </p:txBody>
      </p:sp>
      <p:sp>
        <p:nvSpPr>
          <p:cNvPr id="3" name="">
            <a:extLst xmlns:a="http://schemas.openxmlformats.org/drawingml/2006/main">
              <a:ext uri="{FF2B5EF4-FFF2-40B4-BE49-F238E27FC236}">
                <a16:creationId xmlns:a16="http://schemas.microsoft.com/office/drawing/2014/main" id="{24FB112B-FB3F-4DCA-BCAB-8C1C3832BCB6}"/>
              </a:ext>
            </a:extLst>
          </p:cNvPr>
          <p:cNvSpPr>
            <a:spLocks xmlns:a="http://schemas.openxmlformats.org/drawingml/2006/main" noGrp="1"/>
          </p:cNvSpPr>
          <p:nvPr/>
        </p:nvSpPr>
        <p:spPr>
          <a:xfrm xmlns:a="http://schemas.openxmlformats.org/drawingml/2006/main">
            <a:off x="666750" y="192405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3646"/>
                </a:solidFill>
                <a:latin typeface="Malgun Gothic"/>
                <a:ea typeface="Malgun Gothic"/>
                <a:cs typeface="Malgun Gothic"/>
              </a:defRPr>
            </a:pPr>
            <a:r>
              <a:rPr sz="2100" b="1">
                <a:solidFill>
                  <a:srgbClr val="243646"/>
                </a:solidFill>
                <a:latin typeface="Malgun Gothic"/>
                <a:ea typeface="Malgun Gothic"/>
                <a:cs typeface="Malgun Gothic"/>
              </a:rPr>
              <a:t>시작: 동물·지역·난도를 고르고 공격 방식과 목표를 확인한다.</a:t>
            </a:r>
          </a:p>
        </p:txBody>
      </p:sp>
      <p:sp>
        <p:nvSpPr>
          <p:cNvPr id="4" name="">
            <a:extLst xmlns:a="http://schemas.openxmlformats.org/drawingml/2006/main">
              <a:ext uri="{FF2B5EF4-FFF2-40B4-BE49-F238E27FC236}">
                <a16:creationId xmlns:a16="http://schemas.microsoft.com/office/drawing/2014/main" id="{90B40548-D42F-4221-8499-7DADD20A1EA2}"/>
              </a:ext>
            </a:extLst>
          </p:cNvPr>
          <p:cNvSpPr>
            <a:spLocks xmlns:a="http://schemas.openxmlformats.org/drawingml/2006/main" noGrp="1"/>
          </p:cNvSpPr>
          <p:nvPr/>
        </p:nvSpPr>
        <p:spPr>
          <a:xfrm xmlns:a="http://schemas.openxmlformats.org/drawingml/2006/main">
            <a:off x="666750" y="292417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전투: 이동으로 적을 공격 범위에 유도하고 경험치를 회수한다.</a:t>
            </a:r>
          </a:p>
        </p:txBody>
      </p:sp>
      <p:sp>
        <p:nvSpPr>
          <p:cNvPr id="5" name="">
            <a:extLst xmlns:a="http://schemas.openxmlformats.org/drawingml/2006/main">
              <a:ext uri="{FF2B5EF4-FFF2-40B4-BE49-F238E27FC236}">
                <a16:creationId xmlns:a16="http://schemas.microsoft.com/office/drawing/2014/main" id="{59C4692D-B755-494A-B788-B88AEAF2AB5D}"/>
              </a:ext>
            </a:extLst>
          </p:cNvPr>
          <p:cNvSpPr>
            <a:spLocks xmlns:a="http://schemas.openxmlformats.org/drawingml/2006/main" noGrp="1"/>
          </p:cNvSpPr>
          <p:nvPr/>
        </p:nvSpPr>
        <p:spPr>
          <a:xfrm xmlns:a="http://schemas.openxmlformats.org/drawingml/2006/main">
            <a:off x="666750" y="392430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선택: 레벨업으로 공격 또는 패시브를 강화하고 지역 목표에 도전한다.</a:t>
            </a:r>
          </a:p>
        </p:txBody>
      </p:sp>
      <p:sp>
        <p:nvSpPr>
          <p:cNvPr id="6" name="">
            <a:extLst xmlns:a="http://schemas.openxmlformats.org/drawingml/2006/main">
              <a:ext uri="{FF2B5EF4-FFF2-40B4-BE49-F238E27FC236}">
                <a16:creationId xmlns:a16="http://schemas.microsoft.com/office/drawing/2014/main" id="{0D1CE5C8-5332-4988-97EC-F84D756867B9}"/>
              </a:ext>
            </a:extLst>
          </p:cNvPr>
          <p:cNvSpPr>
            <a:spLocks xmlns:a="http://schemas.openxmlformats.org/drawingml/2006/main" noGrp="1"/>
          </p:cNvSpPr>
          <p:nvPr/>
        </p:nvSpPr>
        <p:spPr>
          <a:xfrm xmlns:a="http://schemas.openxmlformats.org/drawingml/2006/main">
            <a:off x="666750" y="492442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귀환: 보스를 정화하거나 탈진한 뒤 보상·도감을 확인하고 다음 빌드를 시도한다.</a:t>
            </a:r>
          </a:p>
        </p:txBody>
      </p:sp>
      <p:sp>
        <p:nvSpPr>
          <p:cNvPr id="7" name="">
            <a:extLst xmlns:a="http://schemas.openxmlformats.org/drawingml/2006/main">
              <a:ext uri="{FF2B5EF4-FFF2-40B4-BE49-F238E27FC236}">
                <a16:creationId xmlns:a16="http://schemas.microsoft.com/office/drawing/2014/main" id="{5F9BB521-2459-4DC5-B8FD-B83E25A979E6}"/>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BC833929-7EBE-492A-942F-6F5DD2F76E30}"/>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08</a:t>
            </a:r>
          </a:p>
        </p:txBody>
      </p:sp>
    </p:spTree>
    <p:extLst>
      <p:ext uri="{BB962C8B-B14F-4D97-AF65-F5344CB8AC3E}">
        <p14:creationId xmlns:p14="http://schemas.microsoft.com/office/powerpoint/2010/main" val="1778267648"/>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198D99-D5C9-4123-9D12-D80CABCFCCAB}"/>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12분 한 판의 흐름</a:t>
            </a:r>
          </a:p>
        </p:txBody>
      </p:sp>
      <p:sp>
        <p:nvSpPr>
          <p:cNvPr id="2" name="">
            <a:extLst xmlns:a="http://schemas.openxmlformats.org/drawingml/2006/main">
              <a:ext uri="{FF2B5EF4-FFF2-40B4-BE49-F238E27FC236}">
                <a16:creationId xmlns:a16="http://schemas.microsoft.com/office/drawing/2014/main" id="{059B3D8D-BB8D-4730-8461-B0BE5FA9C969}"/>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첫 판에서도 작은 성공과 명확한 종료를 경험한다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시간</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플레이 역할</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보상·전환</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0:00~2:00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이동·수집·첫 성장 학습</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첫 레벨업 목표 20~40초</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2:00~4:00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첫 선택 목표와 돌진 적</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목표 유물, 4분 정예</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4:00~8:00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빌드 강화와 원거리 대응</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6분 목표, 8분 정예</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8:00~12:00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최종 분기와 혼합 압박</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10분 목표, 보스 등장 예고</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12:00 이후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지역 보스전 / 최대 90초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처치 시 승리, 제한 초과 시 귀환</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2181AC6-D217-44FC-B2DD-8C5D528289AE}"/>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79EF666E-3BCE-492B-B55D-2069FB3D4E64}"/>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09</a:t>
            </a:r>
          </a:p>
        </p:txBody>
      </p:sp>
    </p:spTree>
    <p:extLst>
      <p:ext uri="{BB962C8B-B14F-4D97-AF65-F5344CB8AC3E}">
        <p14:creationId xmlns:p14="http://schemas.microsoft.com/office/powerpoint/2010/main" val="1261896930"/>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1EFB2F-D95F-4EE1-B7D3-C8E83377F0D9}"/>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입력과 공통 전투</a:t>
            </a:r>
          </a:p>
        </p:txBody>
      </p:sp>
      <p:sp>
        <p:nvSpPr>
          <p:cNvPr id="2" name="">
            <a:extLst xmlns:a="http://schemas.openxmlformats.org/drawingml/2006/main">
              <a:ext uri="{FF2B5EF4-FFF2-40B4-BE49-F238E27FC236}">
                <a16:creationId xmlns:a16="http://schemas.microsoft.com/office/drawing/2014/main" id="{A8D22A36-FD43-4D3E-8971-D6841E07DDF8}"/>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이동만으로 공격 판단이 성립하게 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333625"/>
                <a:gridCol w="8601075"/>
              </a:tblGrid>
              <a:tr h="6096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규칙</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이동</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WASD·방향키·왼쪽 스틱 / 220px/s / 대각선 정규화</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경기장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1280×720 논리 좌표 / 고정 카메라 / 경계 48px</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체력·피격</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10HP = 5하트 / 기본 피해 2HP / 피격 무적 1초</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판정·회복</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발 중심 반경 13px / 회복 2HP / 최대 체력 초과 없음</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공격·조작</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자동 공격 / 대시·수동 조준·액티브 버튼 없음</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2A1EF67-7768-4D46-844D-6D56C1DB5C9F}"/>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4BFD9495-DC54-4EF7-91D8-21FBFCE1D559}"/>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10</a:t>
            </a:r>
          </a:p>
        </p:txBody>
      </p:sp>
    </p:spTree>
    <p:extLst>
      <p:ext uri="{BB962C8B-B14F-4D97-AF65-F5344CB8AC3E}">
        <p14:creationId xmlns:p14="http://schemas.microsoft.com/office/powerpoint/2010/main" val="218146655"/>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ABEC3B-50D3-44C6-ACF9-EB0BD0FCC062}"/>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동물별 전투 역할</a:t>
            </a:r>
          </a:p>
        </p:txBody>
      </p:sp>
      <p:sp>
        <p:nvSpPr>
          <p:cNvPr id="2" name="">
            <a:extLst xmlns:a="http://schemas.openxmlformats.org/drawingml/2006/main">
              <a:ext uri="{FF2B5EF4-FFF2-40B4-BE49-F238E27FC236}">
                <a16:creationId xmlns:a16="http://schemas.microsoft.com/office/drawing/2014/main" id="{C2230371-E0B4-4F09-BC31-3EA8D749F6FF}"/>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같은 지역에서 서로 다른 이동 결정을 만든다</a:t>
            </a:r>
          </a:p>
        </p:txBody>
      </p:sp>
      <p:graphicFrame>
        <p:nvGraphicFramePr>
          <p:cNvPr id="8" name=""/>
          <p:cNvGraphicFramePr/>
          <p:nvPr/>
        </p:nvGraphicFramePr>
        <p:xfrm>
          <a:off xmlns:a="http://schemas.openxmlformats.org/drawingml/2006/main" x="628650" y="1876425"/>
          <a:ext xmlns:a="http://schemas.openxmlformats.org/drawingml/2006/main" cx="10934700" cy="24384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동물</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기본 공격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강점과 약점</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펭귄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3개 눈꽃 / 궤도 88px</a:t>
                      </a:r>
                    </a:p>
                    <a:p>
                      <a:r>
                        <a:rPr sz="1725" b="0">
                          <a:solidFill>
                            <a:srgbClr val="243646"/>
                          </a:solidFill>
                          <a:latin typeface="Malgun Gothic"/>
                          <a:ea typeface="Malgun Gothic"/>
                          <a:cs typeface="Malgun Gothic"/>
                        </a:rPr>
                        <a:t>2.4초 회전 / 피해 10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궤도 유지와 근접 다수 제어</a:t>
                      </a:r>
                    </a:p>
                    <a:p>
                      <a:r>
                        <a:rPr sz="1725" b="0">
                          <a:solidFill>
                            <a:srgbClr val="243646"/>
                          </a:solidFill>
                          <a:latin typeface="Malgun Gothic"/>
                          <a:ea typeface="Malgun Gothic"/>
                          <a:cs typeface="Malgun Gothic"/>
                        </a:rPr>
                        <a:t>궤도 안쪽 침입에 취약</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카피바라</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1.6초마다 파동</a:t>
                      </a:r>
                    </a:p>
                    <a:p>
                      <a:r>
                        <a:rPr sz="1725" b="0">
                          <a:solidFill>
                            <a:srgbClr val="243646"/>
                          </a:solidFill>
                          <a:latin typeface="Malgun Gothic"/>
                          <a:ea typeface="Malgun Gothic"/>
                          <a:cs typeface="Malgun Gothic"/>
                        </a:rPr>
                        <a:t>반경 145px / 피해 10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주기적인 공간 확보</a:t>
                      </a:r>
                    </a:p>
                    <a:p>
                      <a:r>
                        <a:rPr sz="1725" b="0">
                          <a:solidFill>
                            <a:srgbClr val="243646"/>
                          </a:solidFill>
                          <a:latin typeface="Malgun Gothic"/>
                          <a:ea typeface="Malgun Gothic"/>
                          <a:cs typeface="Malgun Gothic"/>
                        </a:rPr>
                        <a:t>파동 사이 접근에 취약</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고양이</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0.65초마다 가까운 적</a:t>
                      </a:r>
                    </a:p>
                    <a:p>
                      <a:r>
                        <a:rPr sz="1725" b="0">
                          <a:solidFill>
                            <a:srgbClr val="243646"/>
                          </a:solidFill>
                          <a:latin typeface="Malgun Gothic"/>
                          <a:ea typeface="Malgun Gothic"/>
                          <a:cs typeface="Malgun Gothic"/>
                        </a:rPr>
                        <a:t>탐색 420px / 피해 10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멀리서 길을 뚫는 단일 공격</a:t>
                      </a:r>
                    </a:p>
                    <a:p>
                      <a:r>
                        <a:rPr sz="1725" b="0">
                          <a:solidFill>
                            <a:srgbClr val="243646"/>
                          </a:solidFill>
                          <a:latin typeface="Malgun Gothic"/>
                          <a:ea typeface="Malgun Gothic"/>
                          <a:cs typeface="Malgun Gothic"/>
                        </a:rPr>
                        <a:t>초반 무리 처리에 취약</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301969D-FF8F-4C0A-8F93-77ECD1B40AB4}"/>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6F1A4155-4818-446C-9A0B-761C1B15AF57}"/>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11</a:t>
            </a:r>
          </a:p>
        </p:txBody>
      </p:sp>
    </p:spTree>
    <p:extLst>
      <p:ext uri="{BB962C8B-B14F-4D97-AF65-F5344CB8AC3E}">
        <p14:creationId xmlns:p14="http://schemas.microsoft.com/office/powerpoint/2010/main" val="674592987"/>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0C067E-3529-4E08-A41E-7A9D0BF98775}"/>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공격 판정과 예외</a:t>
            </a:r>
          </a:p>
        </p:txBody>
      </p:sp>
      <p:sp>
        <p:nvSpPr>
          <p:cNvPr id="2" name="">
            <a:extLst xmlns:a="http://schemas.openxmlformats.org/drawingml/2006/main">
              <a:ext uri="{FF2B5EF4-FFF2-40B4-BE49-F238E27FC236}">
                <a16:creationId xmlns:a16="http://schemas.microsoft.com/office/drawing/2014/main" id="{AEE7655D-33F6-48A9-A9D3-0E077E478D81}"/>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연출보다 먼저 적중 규칙을 고정한다</a:t>
            </a:r>
          </a:p>
        </p:txBody>
      </p:sp>
      <p:graphicFrame>
        <p:nvGraphicFramePr>
          <p:cNvPr id="8" name=""/>
          <p:cNvGraphicFramePr/>
          <p:nvPr/>
        </p:nvGraphicFramePr>
        <p:xfrm>
          <a:off xmlns:a="http://schemas.openxmlformats.org/drawingml/2006/main" x="628650" y="1876425"/>
          <a:ext xmlns:a="http://schemas.openxmlformats.org/drawingml/2006/main" cx="10934700" cy="30480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공격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판정</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안전 규칙</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눈꽃</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실제 눈꽃 반경 16px</a:t>
                      </a:r>
                    </a:p>
                    <a:p>
                      <a:r>
                        <a:rPr sz="1725" b="0">
                          <a:solidFill>
                            <a:srgbClr val="243646"/>
                          </a:solidFill>
                          <a:latin typeface="Malgun Gothic"/>
                          <a:ea typeface="Malgun Gothic"/>
                          <a:cs typeface="Malgun Gothic"/>
                        </a:rPr>
                        <a:t>동일 적 0.4초당 1회</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한 무기의 눈꽃들이 히트 제한 공유</a:t>
                      </a:r>
                    </a:p>
                    <a:p>
                      <a:r>
                        <a:rPr sz="1725" b="0">
                          <a:solidFill>
                            <a:srgbClr val="243646"/>
                          </a:solidFill>
                          <a:latin typeface="Malgun Gothic"/>
                          <a:ea typeface="Malgun Gothic"/>
                          <a:cs typeface="Malgun Gothic"/>
                        </a:rPr>
                        <a:t>넉백 18px</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파동</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발동 위치에 중심 고정</a:t>
                      </a:r>
                    </a:p>
                    <a:p>
                      <a:r>
                        <a:rPr sz="1725" b="0">
                          <a:solidFill>
                            <a:srgbClr val="243646"/>
                          </a:solidFill>
                          <a:latin typeface="Malgun Gothic"/>
                          <a:ea typeface="Malgun Gothic"/>
                          <a:cs typeface="Malgun Gothic"/>
                        </a:rPr>
                        <a:t>0.2초 예고 + 0.35초 확산</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파동 인스턴스당 동일 적 1회</a:t>
                      </a:r>
                    </a:p>
                    <a:p>
                      <a:r>
                        <a:rPr sz="1725" b="0">
                          <a:solidFill>
                            <a:srgbClr val="243646"/>
                          </a:solidFill>
                          <a:latin typeface="Malgun Gothic"/>
                          <a:ea typeface="Malgun Gothic"/>
                          <a:cs typeface="Malgun Gothic"/>
                        </a:rPr>
                        <a:t>넉백 32px</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편지</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속도 420px/s, 수명 1.2초</a:t>
                      </a:r>
                    </a:p>
                    <a:p>
                      <a:r>
                        <a:rPr sz="1725" b="0">
                          <a:solidFill>
                            <a:srgbClr val="243646"/>
                          </a:solidFill>
                          <a:latin typeface="Malgun Gothic"/>
                          <a:ea typeface="Malgun Gothic"/>
                          <a:cs typeface="Malgun Gothic"/>
                        </a:rPr>
                        <a:t>직선 이동 구간 충돌 검사</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발사 때 최근접 목표, 동률 ID순</a:t>
                      </a:r>
                    </a:p>
                    <a:p>
                      <a:r>
                        <a:rPr sz="1725" b="0">
                          <a:solidFill>
                            <a:srgbClr val="243646"/>
                          </a:solidFill>
                          <a:latin typeface="Malgun Gothic"/>
                          <a:ea typeface="Malgun Gothic"/>
                          <a:cs typeface="Malgun Gothic"/>
                        </a:rPr>
                        <a:t>적 없으면 적립 없이 건너뜀</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공통</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피해·처치·점수 이벤트 1회</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사망 즉시 충돌 해제</a:t>
                      </a:r>
                    </a:p>
                    <a:p>
                      <a:r>
                        <a:rPr sz="1725" b="0">
                          <a:solidFill>
                            <a:srgbClr val="243646"/>
                          </a:solidFill>
                          <a:latin typeface="Malgun Gothic"/>
                          <a:ea typeface="Malgun Gothic"/>
                          <a:cs typeface="Malgun Gothic"/>
                        </a:rPr>
                        <a:t>보스 넉백·강한 감속 면역</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3E764516-9925-4D49-84B7-59D6CB80B883}"/>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5097E075-05A3-444C-8DB6-68278F210524}"/>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12</a:t>
            </a:r>
          </a:p>
        </p:txBody>
      </p:sp>
    </p:spTree>
    <p:extLst>
      <p:ext uri="{BB962C8B-B14F-4D97-AF65-F5344CB8AC3E}">
        <p14:creationId xmlns:p14="http://schemas.microsoft.com/office/powerpoint/2010/main" val="391125604"/>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6FCAD3-EC75-4C92-9611-FACAD244352B}"/>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펭귄 성장 분기</a:t>
            </a:r>
          </a:p>
        </p:txBody>
      </p:sp>
      <p:sp>
        <p:nvSpPr>
          <p:cNvPr id="2" name="">
            <a:extLst xmlns:a="http://schemas.openxmlformats.org/drawingml/2006/main">
              <a:ext uri="{FF2B5EF4-FFF2-40B4-BE49-F238E27FC236}">
                <a16:creationId xmlns:a16="http://schemas.microsoft.com/office/drawing/2014/main" id="{61D9C4F6-6C07-403B-B149-90A8310659D4}"/>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동일한 회전 공격으로 공격적·안정적 플레이를 나눈다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190750"/>
                <a:gridCol w="4000500"/>
                <a:gridCol w="4743450"/>
              </a:tblGrid>
              <a:tr h="571500">
                <a:tc>
                  <a:txBody>
                    <a:bodyPr>
                      <a:noAutofit/>
                    </a:bodyPr>
                    <a:lstStyle/>
                    <a:p>
                      <a:r>
                        <a:rPr sz="1725" b="1">
                          <a:solidFill>
                            <a:srgbClr val="427D86"/>
                          </a:solidFill>
                          <a:latin typeface="Malgun Gothic"/>
                          <a:ea typeface="Malgun Gothic"/>
                          <a:cs typeface="Malgun Gothic"/>
                        </a:rPr>
                        <a:t>무기 레벨</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변경값</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플레이 영향</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1</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눈꽃 3 / 피해 10 / 2.4초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궤도에 적을 걸치는 기본 조작</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2</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피해 14</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기본형을 빨리 정리</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3</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눈꽃 4개, 균등 각도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공격 사이 빈틈 축소</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4</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피해 18 / 회전 2.0초</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중반 밀도 대응</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5 분기 A</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눈꽃 5 / 피해 22 / 궤도 108</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넓은 정리, 안쪽 침입 위험</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5 분기 B</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눈꽃 4 / 피해 22 / 궤도 76</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가까운 방어, 적중 시 20% 감속</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387B3E01-FE62-46A3-8BDC-8A50ADF24947}"/>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A98EAE83-2748-49E6-A879-A45DB6FED172}"/>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13</a:t>
            </a:r>
          </a:p>
        </p:txBody>
      </p:sp>
    </p:spTree>
    <p:extLst>
      <p:ext uri="{BB962C8B-B14F-4D97-AF65-F5344CB8AC3E}">
        <p14:creationId xmlns:p14="http://schemas.microsoft.com/office/powerpoint/2010/main" val="1832997539"/>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55CFD5-4E5E-488D-8459-ECE4C6079C9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카피바라·고양이 성장</a:t>
            </a:r>
          </a:p>
        </p:txBody>
      </p:sp>
      <p:sp>
        <p:nvSpPr>
          <p:cNvPr id="2" name="">
            <a:extLst xmlns:a="http://schemas.openxmlformats.org/drawingml/2006/main">
              <a:ext uri="{FF2B5EF4-FFF2-40B4-BE49-F238E27FC236}">
                <a16:creationId xmlns:a16="http://schemas.microsoft.com/office/drawing/2014/main" id="{88691402-2347-4D13-BFFF-FB5F78CF4B2A}"/>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최종 분기로 무리 대응 방식을 선택한다</a:t>
            </a:r>
          </a:p>
        </p:txBody>
      </p:sp>
      <p:graphicFrame>
        <p:nvGraphicFramePr>
          <p:cNvPr id="8" name=""/>
          <p:cNvGraphicFramePr/>
          <p:nvPr/>
        </p:nvGraphicFramePr>
        <p:xfrm>
          <a:off xmlns:a="http://schemas.openxmlformats.org/drawingml/2006/main" x="628650" y="1876425"/>
          <a:ext xmlns:a="http://schemas.openxmlformats.org/drawingml/2006/main" cx="10934700" cy="18288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무기</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레벨 2 / 3 / 4</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레벨 5 선택</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카피바라</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피해 14 / 반경 165</a:t>
                      </a:r>
                    </a:p>
                    <a:p>
                      <a:r>
                        <a:rPr sz="1725" b="0">
                          <a:solidFill>
                            <a:srgbClr val="243646"/>
                          </a:solidFill>
                          <a:latin typeface="Malgun Gothic"/>
                          <a:ea typeface="Malgun Gothic"/>
                          <a:cs typeface="Malgun Gothic"/>
                        </a:rPr>
                        <a:t>피해 20·주기 1.45초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A: 피해 26·반경 195</a:t>
                      </a:r>
                    </a:p>
                    <a:p>
                      <a:r>
                        <a:rPr sz="1725" b="0">
                          <a:solidFill>
                            <a:srgbClr val="243646"/>
                          </a:solidFill>
                          <a:latin typeface="Malgun Gothic"/>
                          <a:ea typeface="Malgun Gothic"/>
                          <a:cs typeface="Malgun Gothic"/>
                        </a:rPr>
                        <a:t>B: 피해 26·반경 150·주기 1.0초</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고양이</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피해 14 / 주기 0.55초</a:t>
                      </a:r>
                    </a:p>
                    <a:p>
                      <a:r>
                        <a:rPr sz="1725" b="0">
                          <a:solidFill>
                            <a:srgbClr val="243646"/>
                          </a:solidFill>
                          <a:latin typeface="Malgun Gothic"/>
                          <a:ea typeface="Malgun Gothic"/>
                          <a:cs typeface="Malgun Gothic"/>
                        </a:rPr>
                        <a:t>피해 18·주기 0.50초</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A: 피해 22·총 3명 관통</a:t>
                      </a:r>
                    </a:p>
                    <a:p>
                      <a:r>
                        <a:rPr sz="1725" b="0">
                          <a:solidFill>
                            <a:srgbClr val="243646"/>
                          </a:solidFill>
                          <a:latin typeface="Malgun Gothic"/>
                          <a:ea typeface="Malgun Gothic"/>
                          <a:cs typeface="Malgun Gothic"/>
                        </a:rPr>
                        <a:t>B: 피해 16·가까운 3명에 발사</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A7F10A62-3AB7-4EBB-BAB7-ADC5B7290E11}"/>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C14F0228-1801-4332-BA91-6122BD49CAB7}"/>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14</a:t>
            </a:r>
          </a:p>
        </p:txBody>
      </p:sp>
    </p:spTree>
    <p:extLst>
      <p:ext uri="{BB962C8B-B14F-4D97-AF65-F5344CB8AC3E}">
        <p14:creationId xmlns:p14="http://schemas.microsoft.com/office/powerpoint/2010/main" val="988140417"/>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046B7A-5192-4C2E-B8DA-9C2A123FBE1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레벨업과 선택 규칙</a:t>
            </a:r>
          </a:p>
        </p:txBody>
      </p:sp>
      <p:sp>
        <p:nvSpPr>
          <p:cNvPr id="2" name="">
            <a:extLst xmlns:a="http://schemas.openxmlformats.org/drawingml/2006/main">
              <a:ext uri="{FF2B5EF4-FFF2-40B4-BE49-F238E27FC236}">
                <a16:creationId xmlns:a16="http://schemas.microsoft.com/office/drawing/2014/main" id="{C3A8A7B9-7434-495D-BC8B-0A965C31BC56}"/>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14번의 선택으로 한 판의 빌드를 완성한다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333625"/>
                <a:gridCol w="8601075"/>
              </a:tblGrid>
              <a:tr h="6096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초기 규칙</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경험치</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기본형 1XP / 튼튼형 3XP / 기타 적은 데이터 표 참조</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레벨</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시작 1, 최대 15 / 다음 레벨 필요 XP = 6+4×현재 레벨</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선택 화면</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게임 정지 / 중복 없는 3개 / 무기 강화 또는 공용 패시브</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보장·제한</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2·4·6·8레벨에 가능한 무기 강화 1개 보장 / 패시브 4종</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대체·만렙</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재추첨 2회/판 / 후보 부족 시 2HP 회복 / 만렙 XP는 점수</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A9A04B-79AB-43BF-88B2-10BBE8AE9245}"/>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84CEE012-E87D-4A8A-A953-6E4E3FDCC765}"/>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15</a:t>
            </a:r>
          </a:p>
        </p:txBody>
      </p:sp>
    </p:spTree>
    <p:extLst>
      <p:ext uri="{BB962C8B-B14F-4D97-AF65-F5344CB8AC3E}">
        <p14:creationId xmlns:p14="http://schemas.microsoft.com/office/powerpoint/2010/main" val="1175029538"/>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B91BFF-54EF-4493-A2BE-B1D18FBAF5C4}"/>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공용 패시브 12종</a:t>
            </a:r>
          </a:p>
        </p:txBody>
      </p:sp>
      <p:sp>
        <p:nvSpPr>
          <p:cNvPr id="2" name="">
            <a:extLst xmlns:a="http://schemas.openxmlformats.org/drawingml/2006/main">
              <a:ext uri="{FF2B5EF4-FFF2-40B4-BE49-F238E27FC236}">
                <a16:creationId xmlns:a16="http://schemas.microsoft.com/office/drawing/2014/main" id="{BA03E54E-9628-4813-9255-D1C145C640BC}"/>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각 항목은 3단계, 표의 수치는 한 단계 증가량이다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238375"/>
                <a:gridCol w="2905125"/>
                <a:gridCol w="2886075"/>
                <a:gridCol w="2905125"/>
              </a:tblGrid>
              <a:tr h="571500">
                <a:tc>
                  <a:txBody>
                    <a:bodyPr>
                      <a:noAutofit/>
                    </a:bodyPr>
                    <a:lstStyle/>
                    <a:p>
                      <a:r>
                        <a:rPr sz="1725" b="1">
                          <a:solidFill>
                            <a:srgbClr val="427D86"/>
                          </a:solidFill>
                          <a:latin typeface="Malgun Gothic"/>
                          <a:ea typeface="Malgun Gothic"/>
                          <a:cs typeface="Malgun Gothic"/>
                        </a:rPr>
                        <a:t>패시브</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효과</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패시브</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효과</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따뜻한 장갑</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피해 +10%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가벼운 신발</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이속 +6%</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작은 시계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공속 +8%</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넓은 리본</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범위 +8%</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포근한 담요</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최대 HP +2</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튼튼한 방울</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넉백 +15%</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자석 브로치</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흡수 반경 +25px</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호기심 수첩</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경험치 +8%</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차 주머니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회복 아이템 효과 +1HP</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은빛 단추</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피격 무적 +0.1초</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등불 배지</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정예·보스 피해 +10%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용기 핀</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목표 구역 안 피해 +12%</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8F600A96-47A9-4211-B627-09D3CF6BE7AA}"/>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E7644355-C356-478A-AE17-F1FF2E157B68}"/>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16</a:t>
            </a:r>
          </a:p>
        </p:txBody>
      </p:sp>
    </p:spTree>
    <p:extLst>
      <p:ext uri="{BB962C8B-B14F-4D97-AF65-F5344CB8AC3E}">
        <p14:creationId xmlns:p14="http://schemas.microsoft.com/office/powerpoint/2010/main" val="1043362909"/>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F13694-54C9-436A-B273-D3C8EC93087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지역 목표와 유물 6종</a:t>
            </a:r>
          </a:p>
        </p:txBody>
      </p:sp>
      <p:sp>
        <p:nvSpPr>
          <p:cNvPr id="2" name="">
            <a:extLst xmlns:a="http://schemas.openxmlformats.org/drawingml/2006/main">
              <a:ext uri="{FF2B5EF4-FFF2-40B4-BE49-F238E27FC236}">
                <a16:creationId xmlns:a16="http://schemas.microsoft.com/office/drawing/2014/main" id="{F05FC44D-BC71-454C-9286-31C5B345A6A4}"/>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추가 위험을 선택하면 한 판의 변화를 얻는다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333625"/>
                <a:gridCol w="8601075"/>
              </a:tblGrid>
              <a:tr h="571500">
                <a:tc>
                  <a:txBody>
                    <a:bodyPr>
                      <a:noAutofit/>
                    </a:bodyPr>
                    <a:lstStyle/>
                    <a:p>
                      <a:r>
                        <a:rPr sz="1725" b="1">
                          <a:solidFill>
                            <a:srgbClr val="427D86"/>
                          </a:solidFill>
                          <a:latin typeface="Malgun Gothic"/>
                          <a:ea typeface="Malgun Gothic"/>
                          <a:cs typeface="Malgun Gothic"/>
                        </a:rPr>
                        <a:t>유물</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효과</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눈결정</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첫 피격을 막고 사라지는 보호막 1회</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유자 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목표 완료 시 현재HP 2 추가 회복</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별 우표</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정예·보스 피해 +20%</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바람 종</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적 처치 30회마다 주변 적에게 10 피해</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낡은 지도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목표 완료 시 남은 필드 경험치 전부 회수</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친구의 배지</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최대HP +2, 이동속도 +5%</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0C3E8359-B8D6-4BC5-B439-13F0C337958F}"/>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6A36A3F7-699D-4707-8253-172300E8D58B}"/>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17</a:t>
            </a:r>
          </a:p>
        </p:txBody>
      </p:sp>
    </p:spTree>
    <p:extLst>
      <p:ext uri="{BB962C8B-B14F-4D97-AF65-F5344CB8AC3E}">
        <p14:creationId xmlns:p14="http://schemas.microsoft.com/office/powerpoint/2010/main" val="594884699"/>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6BC998-D0E1-4D4D-9CD7-43038E816DE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지역 구성과 해금</a:t>
            </a:r>
          </a:p>
        </p:txBody>
      </p:sp>
      <p:sp>
        <p:nvSpPr>
          <p:cNvPr id="2" name="">
            <a:extLst xmlns:a="http://schemas.openxmlformats.org/drawingml/2006/main">
              <a:ext uri="{FF2B5EF4-FFF2-40B4-BE49-F238E27FC236}">
                <a16:creationId xmlns:a16="http://schemas.microsoft.com/office/drawing/2014/main" id="{1BC61390-D9A5-4C21-8780-8F3D4EA7C110}"/>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동물과 맵을 분리해 콘텐츠 재사용성을 높인다</a:t>
            </a:r>
          </a:p>
        </p:txBody>
      </p:sp>
      <p:graphicFrame>
        <p:nvGraphicFramePr>
          <p:cNvPr id="8" name=""/>
          <p:cNvGraphicFramePr/>
          <p:nvPr/>
        </p:nvGraphicFramePr>
        <p:xfrm>
          <a:off xmlns:a="http://schemas.openxmlformats.org/drawingml/2006/main" x="628650" y="1876425"/>
          <a:ext xmlns:a="http://schemas.openxmlformats.org/drawingml/2006/main" cx="10934700" cy="2438400"/>
        </p:xfrm>
        <a:graphic xmlns:a="http://schemas.openxmlformats.org/drawingml/2006/main">
          <a:graphicData uri="http://schemas.openxmlformats.org/drawingml/2006/table">
            <a:tbl>
              <a:tblPr/>
              <a:tblGrid>
                <a:gridCol w="2238375"/>
                <a:gridCol w="2905125"/>
                <a:gridCol w="2886075"/>
                <a:gridCol w="2905125"/>
              </a:tblGrid>
              <a:tr h="609600">
                <a:tc>
                  <a:txBody>
                    <a:bodyPr>
                      <a:noAutofit/>
                    </a:bodyPr>
                    <a:lstStyle/>
                    <a:p>
                      <a:r>
                        <a:rPr sz="1725" b="1">
                          <a:solidFill>
                            <a:srgbClr val="427D86"/>
                          </a:solidFill>
                          <a:latin typeface="Malgun Gothic"/>
                          <a:ea typeface="Malgun Gothic"/>
                          <a:cs typeface="Malgun Gothic"/>
                        </a:rPr>
                        <a:t>지역</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전투 학습</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선택 목표</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해금</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오로라 눈밭</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거리 조절과 돌진 회피</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흩어진 별조각 5개 수집</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처음부터</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온천 마을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밀도와 공격 공백 대응</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온천석 구역 10초 누적 점유</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눈밭 1회 완료</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달빛 우체국</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원거리 압박과 진로 선택</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우편 3개를 우체통에 배달</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온천 1회 완료</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4C6ADD6-ECEF-41E5-97B7-0C8167BAA4D3}"/>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76CB3717-E6BC-4FD5-9B5F-628BF7DDECB5}"/>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18</a:t>
            </a:r>
          </a:p>
        </p:txBody>
      </p:sp>
    </p:spTree>
    <p:extLst>
      <p:ext uri="{BB962C8B-B14F-4D97-AF65-F5344CB8AC3E}">
        <p14:creationId xmlns:p14="http://schemas.microsoft.com/office/powerpoint/2010/main" val="431827465"/>
      </p:ext>
    </p:extLst>
  </p:cSld>
</p:sld>
</file>

<file path=ppt/slides/slide1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88BB94-6A60-405C-B42E-B28AD6DE08A4}"/>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오로라 눈밭</a:t>
            </a:r>
          </a:p>
        </p:txBody>
      </p:sp>
      <p:sp>
        <p:nvSpPr>
          <p:cNvPr id="2" name="">
            <a:extLst xmlns:a="http://schemas.openxmlformats.org/drawingml/2006/main">
              <a:ext uri="{FF2B5EF4-FFF2-40B4-BE49-F238E27FC236}">
                <a16:creationId xmlns:a16="http://schemas.microsoft.com/office/drawing/2014/main" id="{B37012B8-D512-4BF8-A4BA-CF1F77C4826E}"/>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첫 지역 / 넓은 중앙과 순환 경로</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26509a8e6a041da"/>
          <a:stretch xmlns:a="http://schemas.openxmlformats.org/drawingml/2006/main"/>
        </p:blipFill>
        <p:spPr>
          <a:xfrm xmlns:a="http://schemas.openxmlformats.org/drawingml/2006/main">
            <a:off x="5791200" y="1955800"/>
            <a:ext cx="5791200" cy="3860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CE5A4E-06FD-433C-8F54-CECF6571AE98}"/>
              </a:ext>
            </a:extLst>
          </p:cNvPr>
          <p:cNvSpPr>
            <a:spLocks xmlns:a="http://schemas.openxmlformats.org/drawingml/2006/main" noGrp="1"/>
          </p:cNvSpPr>
          <p:nvPr/>
        </p:nvSpPr>
        <p:spPr>
          <a:xfrm xmlns:a="http://schemas.openxmlformats.org/drawingml/2006/main">
            <a:off x="666750" y="2038350"/>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3646"/>
                </a:solidFill>
                <a:latin typeface="Malgun Gothic"/>
                <a:ea typeface="Malgun Gothic"/>
                <a:cs typeface="Malgun Gothic"/>
              </a:defRPr>
            </a:pPr>
            <a:r>
              <a:rPr sz="1950" b="1">
                <a:solidFill>
                  <a:srgbClr val="243646"/>
                </a:solidFill>
                <a:latin typeface="Malgun Gothic"/>
                <a:ea typeface="Malgun Gothic"/>
                <a:cs typeface="Malgun Gothic"/>
              </a:rPr>
              <a:t>중앙은 열린 전투 공간.</a:t>
            </a:r>
          </a:p>
          <a:p xmlns:a="http://schemas.openxmlformats.org/drawingml/2006/main">
            <a:pPr>
              <a:defRPr sz="1950" b="1">
                <a:solidFill>
                  <a:srgbClr val="243646"/>
                </a:solidFill>
                <a:latin typeface="Malgun Gothic"/>
                <a:ea typeface="Malgun Gothic"/>
                <a:cs typeface="Malgun Gothic"/>
              </a:defRPr>
            </a:pPr>
            <a:r>
              <a:rPr sz="1950" b="1">
                <a:solidFill>
                  <a:srgbClr val="243646"/>
                </a:solidFill>
                <a:latin typeface="Malgun Gothic"/>
                <a:ea typeface="Malgun Gothic"/>
                <a:cs typeface="Malgun Gothic"/>
              </a:rPr>
              <a:t>외곽에는 두 갈래 우회로.</a:t>
            </a:r>
          </a:p>
        </p:txBody>
      </p:sp>
      <p:sp>
        <p:nvSpPr>
          <p:cNvPr id="5" name="">
            <a:extLst xmlns:a="http://schemas.openxmlformats.org/drawingml/2006/main">
              <a:ext uri="{FF2B5EF4-FFF2-40B4-BE49-F238E27FC236}">
                <a16:creationId xmlns:a16="http://schemas.microsoft.com/office/drawing/2014/main" id="{F159EED6-8EBE-4513-A374-DF96BD9D6549}"/>
              </a:ext>
            </a:extLst>
          </p:cNvPr>
          <p:cNvSpPr>
            <a:spLocks xmlns:a="http://schemas.openxmlformats.org/drawingml/2006/main" noGrp="1"/>
          </p:cNvSpPr>
          <p:nvPr/>
        </p:nvSpPr>
        <p:spPr>
          <a:xfrm xmlns:a="http://schemas.openxmlformats.org/drawingml/2006/main">
            <a:off x="666750" y="3267075"/>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2·6·10분: 별조각 수집.</a:t>
            </a:r>
          </a:p>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적 흐름을 가로지를 이유를 만든다.</a:t>
            </a:r>
          </a:p>
        </p:txBody>
      </p:sp>
      <p:sp>
        <p:nvSpPr>
          <p:cNvPr id="6" name="">
            <a:extLst xmlns:a="http://schemas.openxmlformats.org/drawingml/2006/main">
              <a:ext uri="{FF2B5EF4-FFF2-40B4-BE49-F238E27FC236}">
                <a16:creationId xmlns:a16="http://schemas.microsoft.com/office/drawing/2014/main" id="{43E57B16-0AA2-4EA9-BC82-9986E8CEEA96}"/>
              </a:ext>
            </a:extLst>
          </p:cNvPr>
          <p:cNvSpPr>
            <a:spLocks xmlns:a="http://schemas.openxmlformats.org/drawingml/2006/main" noGrp="1"/>
          </p:cNvSpPr>
          <p:nvPr/>
        </p:nvSpPr>
        <p:spPr>
          <a:xfrm xmlns:a="http://schemas.openxmlformats.org/drawingml/2006/main">
            <a:off x="666750" y="4495800"/>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기존 콘셉트 시안.</a:t>
            </a:r>
          </a:p>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고정 화면용으로 재배치한다.</a:t>
            </a:r>
          </a:p>
        </p:txBody>
      </p:sp>
      <p:sp>
        <p:nvSpPr>
          <p:cNvPr id="7" name="">
            <a:extLst xmlns:a="http://schemas.openxmlformats.org/drawingml/2006/main">
              <a:ext uri="{FF2B5EF4-FFF2-40B4-BE49-F238E27FC236}">
                <a16:creationId xmlns:a16="http://schemas.microsoft.com/office/drawing/2014/main" id="{09C56D70-2299-46F0-A6AF-98214C6540A3}"/>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427D4CAA-B84F-428E-9C5B-0B5CEA2CCFEA}"/>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19</a:t>
            </a:r>
          </a:p>
        </p:txBody>
      </p:sp>
    </p:spTree>
    <p:extLst>
      <p:ext uri="{BB962C8B-B14F-4D97-AF65-F5344CB8AC3E}">
        <p14:creationId xmlns:p14="http://schemas.microsoft.com/office/powerpoint/2010/main" val="1027552783"/>
      </p:ext>
    </p:extLst>
  </p:cSld>
</p:sld>
</file>

<file path=ppt/slides/slide2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A7FC6F-8A3D-4704-A821-5DA6BFF3C9E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온천 마을</a:t>
            </a:r>
          </a:p>
        </p:txBody>
      </p:sp>
      <p:sp>
        <p:nvSpPr>
          <p:cNvPr id="2" name="">
            <a:extLst xmlns:a="http://schemas.openxmlformats.org/drawingml/2006/main">
              <a:ext uri="{FF2B5EF4-FFF2-40B4-BE49-F238E27FC236}">
                <a16:creationId xmlns:a16="http://schemas.microsoft.com/office/drawing/2014/main" id="{BDEB7B01-B162-4375-8AB3-0A69024E7979}"/>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두 번째 지역 / 머무름과 이탈의 판단</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fc460b9bf014ccd"/>
          <a:stretch xmlns:a="http://schemas.openxmlformats.org/drawingml/2006/main"/>
        </p:blipFill>
        <p:spPr>
          <a:xfrm xmlns:a="http://schemas.openxmlformats.org/drawingml/2006/main">
            <a:off x="5791200" y="1955800"/>
            <a:ext cx="5791200" cy="3860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6A25E41-0AE2-46FB-9442-E65504DB64AB}"/>
              </a:ext>
            </a:extLst>
          </p:cNvPr>
          <p:cNvSpPr>
            <a:spLocks xmlns:a="http://schemas.openxmlformats.org/drawingml/2006/main" noGrp="1"/>
          </p:cNvSpPr>
          <p:nvPr/>
        </p:nvSpPr>
        <p:spPr>
          <a:xfrm xmlns:a="http://schemas.openxmlformats.org/drawingml/2006/main">
            <a:off x="666750" y="2038350"/>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3646"/>
                </a:solidFill>
                <a:latin typeface="Malgun Gothic"/>
                <a:ea typeface="Malgun Gothic"/>
                <a:cs typeface="Malgun Gothic"/>
              </a:defRPr>
            </a:pPr>
            <a:r>
              <a:rPr sz="1950" b="1">
                <a:solidFill>
                  <a:srgbClr val="243646"/>
                </a:solidFill>
                <a:latin typeface="Malgun Gothic"/>
                <a:ea typeface="Malgun Gothic"/>
                <a:cs typeface="Malgun Gothic"/>
              </a:rPr>
              <a:t>중앙을 가르는 장애물 대신</a:t>
            </a:r>
          </a:p>
          <a:p xmlns:a="http://schemas.openxmlformats.org/drawingml/2006/main">
            <a:pPr>
              <a:defRPr sz="1950" b="1">
                <a:solidFill>
                  <a:srgbClr val="243646"/>
                </a:solidFill>
                <a:latin typeface="Malgun Gothic"/>
                <a:ea typeface="Malgun Gothic"/>
                <a:cs typeface="Malgun Gothic"/>
              </a:defRPr>
            </a:pPr>
            <a:r>
              <a:rPr sz="1950" b="1">
                <a:solidFill>
                  <a:srgbClr val="243646"/>
                </a:solidFill>
                <a:latin typeface="Malgun Gothic"/>
                <a:ea typeface="Malgun Gothic"/>
                <a:cs typeface="Malgun Gothic"/>
              </a:rPr>
              <a:t>좌우의 작은 온천석을 배치한다.</a:t>
            </a:r>
          </a:p>
        </p:txBody>
      </p:sp>
      <p:sp>
        <p:nvSpPr>
          <p:cNvPr id="5" name="">
            <a:extLst xmlns:a="http://schemas.openxmlformats.org/drawingml/2006/main">
              <a:ext uri="{FF2B5EF4-FFF2-40B4-BE49-F238E27FC236}">
                <a16:creationId xmlns:a16="http://schemas.microsoft.com/office/drawing/2014/main" id="{FF2582B6-05C0-4263-8BE3-59EC8E533950}"/>
              </a:ext>
            </a:extLst>
          </p:cNvPr>
          <p:cNvSpPr>
            <a:spLocks xmlns:a="http://schemas.openxmlformats.org/drawingml/2006/main" noGrp="1"/>
          </p:cNvSpPr>
          <p:nvPr/>
        </p:nvSpPr>
        <p:spPr>
          <a:xfrm xmlns:a="http://schemas.openxmlformats.org/drawingml/2006/main">
            <a:off x="666750" y="3267075"/>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목표 구역을 누적 10초 점유.</a:t>
            </a:r>
          </a:p>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위험하면 나갔다가 돌아온다.</a:t>
            </a:r>
          </a:p>
        </p:txBody>
      </p:sp>
      <p:sp>
        <p:nvSpPr>
          <p:cNvPr id="6" name="">
            <a:extLst xmlns:a="http://schemas.openxmlformats.org/drawingml/2006/main">
              <a:ext uri="{FF2B5EF4-FFF2-40B4-BE49-F238E27FC236}">
                <a16:creationId xmlns:a16="http://schemas.microsoft.com/office/drawing/2014/main" id="{992D42D6-C134-4ED5-A3BD-CE1D9FC7F7DE}"/>
              </a:ext>
            </a:extLst>
          </p:cNvPr>
          <p:cNvSpPr>
            <a:spLocks xmlns:a="http://schemas.openxmlformats.org/drawingml/2006/main" noGrp="1"/>
          </p:cNvSpPr>
          <p:nvPr/>
        </p:nvSpPr>
        <p:spPr>
          <a:xfrm xmlns:a="http://schemas.openxmlformats.org/drawingml/2006/main">
            <a:off x="666750" y="4495800"/>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수증기는 배경 표현에만 사용.</a:t>
            </a:r>
          </a:p>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적과 투사체를 가리지 않는다.</a:t>
            </a:r>
          </a:p>
        </p:txBody>
      </p:sp>
      <p:sp>
        <p:nvSpPr>
          <p:cNvPr id="7" name="">
            <a:extLst xmlns:a="http://schemas.openxmlformats.org/drawingml/2006/main">
              <a:ext uri="{FF2B5EF4-FFF2-40B4-BE49-F238E27FC236}">
                <a16:creationId xmlns:a16="http://schemas.microsoft.com/office/drawing/2014/main" id="{044D4B38-059D-495A-B431-1888A210737D}"/>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ED6C94C8-FFD1-4065-9CC8-14A45B5FC277}"/>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20</a:t>
            </a:r>
          </a:p>
        </p:txBody>
      </p:sp>
    </p:spTree>
    <p:extLst>
      <p:ext uri="{BB962C8B-B14F-4D97-AF65-F5344CB8AC3E}">
        <p14:creationId xmlns:p14="http://schemas.microsoft.com/office/powerpoint/2010/main" val="642640645"/>
      </p:ext>
    </p:extLst>
  </p:cSld>
</p:sld>
</file>

<file path=ppt/slides/slide2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1DEB1A-D2EC-41A8-8588-CB2933DEFFA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달빛 우체국</a:t>
            </a:r>
          </a:p>
        </p:txBody>
      </p:sp>
      <p:sp>
        <p:nvSpPr>
          <p:cNvPr id="2" name="">
            <a:extLst xmlns:a="http://schemas.openxmlformats.org/drawingml/2006/main">
              <a:ext uri="{FF2B5EF4-FFF2-40B4-BE49-F238E27FC236}">
                <a16:creationId xmlns:a16="http://schemas.microsoft.com/office/drawing/2014/main" id="{2466307C-355B-41EC-AAA3-232013B01868}"/>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세 번째 지역 / 투사체 사이로 배달 경로 선택</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519e9bf66444aa5"/>
          <a:stretch xmlns:a="http://schemas.openxmlformats.org/drawingml/2006/main"/>
        </p:blipFill>
        <p:spPr>
          <a:xfrm xmlns:a="http://schemas.openxmlformats.org/drawingml/2006/main">
            <a:off x="5791200" y="1955800"/>
            <a:ext cx="5791200" cy="3860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B255A7-9D8D-4B05-89D0-0D90CFA1A6AB}"/>
              </a:ext>
            </a:extLst>
          </p:cNvPr>
          <p:cNvSpPr>
            <a:spLocks xmlns:a="http://schemas.openxmlformats.org/drawingml/2006/main" noGrp="1"/>
          </p:cNvSpPr>
          <p:nvPr/>
        </p:nvSpPr>
        <p:spPr>
          <a:xfrm xmlns:a="http://schemas.openxmlformats.org/drawingml/2006/main">
            <a:off x="666750" y="2038350"/>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3646"/>
                </a:solidFill>
                <a:latin typeface="Malgun Gothic"/>
                <a:ea typeface="Malgun Gothic"/>
                <a:cs typeface="Malgun Gothic"/>
              </a:defRPr>
            </a:pPr>
            <a:r>
              <a:rPr sz="1950" b="1">
                <a:solidFill>
                  <a:srgbClr val="243646"/>
                </a:solidFill>
                <a:latin typeface="Malgun Gothic"/>
                <a:ea typeface="Malgun Gothic"/>
                <a:cs typeface="Malgun Gothic"/>
              </a:rPr>
              <a:t>좌우 우회로와 열린 중앙.</a:t>
            </a:r>
          </a:p>
          <a:p xmlns:a="http://schemas.openxmlformats.org/drawingml/2006/main">
            <a:pPr>
              <a:defRPr sz="1950" b="1">
                <a:solidFill>
                  <a:srgbClr val="243646"/>
                </a:solidFill>
                <a:latin typeface="Malgun Gothic"/>
                <a:ea typeface="Malgun Gothic"/>
                <a:cs typeface="Malgun Gothic"/>
              </a:defRPr>
            </a:pPr>
            <a:r>
              <a:rPr sz="1950" b="1">
                <a:solidFill>
                  <a:srgbClr val="243646"/>
                </a:solidFill>
                <a:latin typeface="Malgun Gothic"/>
                <a:ea typeface="Malgun Gothic"/>
                <a:cs typeface="Malgun Gothic"/>
              </a:rPr>
              <a:t>우체통은 화면 안에서 계속 보인다.</a:t>
            </a:r>
          </a:p>
        </p:txBody>
      </p:sp>
      <p:sp>
        <p:nvSpPr>
          <p:cNvPr id="5" name="">
            <a:extLst xmlns:a="http://schemas.openxmlformats.org/drawingml/2006/main">
              <a:ext uri="{FF2B5EF4-FFF2-40B4-BE49-F238E27FC236}">
                <a16:creationId xmlns:a16="http://schemas.microsoft.com/office/drawing/2014/main" id="{D21AD464-274C-4BF7-B8FC-40694C4E3E5F}"/>
              </a:ext>
            </a:extLst>
          </p:cNvPr>
          <p:cNvSpPr>
            <a:spLocks xmlns:a="http://schemas.openxmlformats.org/drawingml/2006/main" noGrp="1"/>
          </p:cNvSpPr>
          <p:nvPr/>
        </p:nvSpPr>
        <p:spPr>
          <a:xfrm xmlns:a="http://schemas.openxmlformats.org/drawingml/2006/main">
            <a:off x="666750" y="3267075"/>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우편은 한 번에 1개 운반.</a:t>
            </a:r>
          </a:p>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3번 배달하면 목표 완료.</a:t>
            </a:r>
          </a:p>
        </p:txBody>
      </p:sp>
      <p:sp>
        <p:nvSpPr>
          <p:cNvPr id="6" name="">
            <a:extLst xmlns:a="http://schemas.openxmlformats.org/drawingml/2006/main">
              <a:ext uri="{FF2B5EF4-FFF2-40B4-BE49-F238E27FC236}">
                <a16:creationId xmlns:a16="http://schemas.microsoft.com/office/drawing/2014/main" id="{2995D61C-6218-47E0-9AD8-3C63A189B722}"/>
              </a:ext>
            </a:extLst>
          </p:cNvPr>
          <p:cNvSpPr>
            <a:spLocks xmlns:a="http://schemas.openxmlformats.org/drawingml/2006/main" noGrp="1"/>
          </p:cNvSpPr>
          <p:nvPr/>
        </p:nvSpPr>
        <p:spPr>
          <a:xfrm xmlns:a="http://schemas.openxmlformats.org/drawingml/2006/main">
            <a:off x="666750" y="4495800"/>
            <a:ext cx="4781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랜턴보다 적 탄환의 명도 대비를</a:t>
            </a:r>
          </a:p>
          <a:p xmlns:a="http://schemas.openxmlformats.org/drawingml/2006/main">
            <a:pPr>
              <a:defRPr sz="1950" b="0">
                <a:solidFill>
                  <a:srgbClr val="243646"/>
                </a:solidFill>
                <a:latin typeface="Malgun Gothic"/>
                <a:ea typeface="Malgun Gothic"/>
                <a:cs typeface="Malgun Gothic"/>
              </a:defRPr>
            </a:pPr>
            <a:r>
              <a:rPr sz="1950" b="0">
                <a:solidFill>
                  <a:srgbClr val="243646"/>
                </a:solidFill>
                <a:latin typeface="Malgun Gothic"/>
                <a:ea typeface="Malgun Gothic"/>
                <a:cs typeface="Malgun Gothic"/>
              </a:rPr>
              <a:t>높게 유지한다.</a:t>
            </a:r>
          </a:p>
        </p:txBody>
      </p:sp>
      <p:sp>
        <p:nvSpPr>
          <p:cNvPr id="7" name="">
            <a:extLst xmlns:a="http://schemas.openxmlformats.org/drawingml/2006/main">
              <a:ext uri="{FF2B5EF4-FFF2-40B4-BE49-F238E27FC236}">
                <a16:creationId xmlns:a16="http://schemas.microsoft.com/office/drawing/2014/main" id="{937CD4F7-48E4-4FB4-9FA9-5846112B672D}"/>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7D3BDF1B-D61A-44F4-A903-DE447BAE4F2A}"/>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21</a:t>
            </a:r>
          </a:p>
        </p:txBody>
      </p:sp>
    </p:spTree>
    <p:extLst>
      <p:ext uri="{BB962C8B-B14F-4D97-AF65-F5344CB8AC3E}">
        <p14:creationId xmlns:p14="http://schemas.microsoft.com/office/powerpoint/2010/main" val="507338506"/>
      </p:ext>
    </p:extLst>
  </p:cSld>
</p:sld>
</file>

<file path=ppt/slides/slide2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657138-3E4B-424D-978E-1DFF7FC4385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적 6종의 역할과 초기 수치</a:t>
            </a:r>
          </a:p>
        </p:txBody>
      </p:sp>
      <p:sp>
        <p:nvSpPr>
          <p:cNvPr id="2" name="">
            <a:extLst xmlns:a="http://schemas.openxmlformats.org/drawingml/2006/main">
              <a:ext uri="{FF2B5EF4-FFF2-40B4-BE49-F238E27FC236}">
                <a16:creationId xmlns:a16="http://schemas.microsoft.com/office/drawing/2014/main" id="{06DA0AA4-6643-47B7-A914-139223EC5301}"/>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외형을 바꿔도 같은 행동은 같은 실루엣을 유지한다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238375"/>
                <a:gridCol w="2905125"/>
                <a:gridCol w="2886075"/>
                <a:gridCol w="2905125"/>
              </a:tblGrid>
              <a:tr h="571500">
                <a:tc>
                  <a:txBody>
                    <a:bodyPr>
                      <a:noAutofit/>
                    </a:bodyPr>
                    <a:lstStyle/>
                    <a:p>
                      <a:r>
                        <a:rPr sz="1725" b="1">
                          <a:solidFill>
                            <a:srgbClr val="427D86"/>
                          </a:solidFill>
                          <a:latin typeface="Malgun Gothic"/>
                          <a:ea typeface="Malgun Gothic"/>
                          <a:cs typeface="Malgun Gothic"/>
                        </a:rPr>
                        <a:t>역할</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HP / 속도</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위협 규칙</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XP</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기본형</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10 / 65</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플레이어 추적</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튼튼형</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30 / 48</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느리지만 길을 막음</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3</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돌진형</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18 / 55</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0.8초 예고 후 260px/s, 0.6초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2</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원거리형</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16 / 40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거리260 유지, 1초 예고 후 1발</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2</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분열형</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24 / 55</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처치 시 새끼2, 보상 중복 방지</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2</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지원형</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20 / 45</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주변 적 속도 +15%, 중첩 없음</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2</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6FF9F7A3-24D7-4CA6-BC48-9CD6CD515334}"/>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9F541160-A992-4496-BB53-AB17C925F158}"/>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22</a:t>
            </a:r>
          </a:p>
        </p:txBody>
      </p:sp>
    </p:spTree>
    <p:extLst>
      <p:ext uri="{BB962C8B-B14F-4D97-AF65-F5344CB8AC3E}">
        <p14:creationId xmlns:p14="http://schemas.microsoft.com/office/powerpoint/2010/main" val="891929882"/>
      </p:ext>
    </p:extLst>
  </p:cSld>
</p:sld>
</file>

<file path=ppt/slides/slide2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0424D7-DCCB-4369-894F-33D46E2A258A}"/>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생성 곡선과 적 구성</a:t>
            </a:r>
          </a:p>
        </p:txBody>
      </p:sp>
      <p:sp>
        <p:nvSpPr>
          <p:cNvPr id="2" name="">
            <a:extLst xmlns:a="http://schemas.openxmlformats.org/drawingml/2006/main">
              <a:ext uri="{FF2B5EF4-FFF2-40B4-BE49-F238E27FC236}">
                <a16:creationId xmlns:a16="http://schemas.microsoft.com/office/drawing/2014/main" id="{9585E18C-32B6-4D3B-BDF9-BFEB371E6AC3}"/>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주 모드 초깃값 / 먼저 눈밭에서 검증한다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238375"/>
                <a:gridCol w="2905125"/>
                <a:gridCol w="2886075"/>
                <a:gridCol w="2905125"/>
              </a:tblGrid>
              <a:tr h="571500">
                <a:tc>
                  <a:txBody>
                    <a:bodyPr>
                      <a:noAutofit/>
                    </a:bodyPr>
                    <a:lstStyle/>
                    <a:p>
                      <a:r>
                        <a:rPr sz="1725" b="1">
                          <a:solidFill>
                            <a:srgbClr val="427D86"/>
                          </a:solidFill>
                          <a:latin typeface="Malgun Gothic"/>
                          <a:ea typeface="Malgun Gothic"/>
                          <a:cs typeface="Malgun Gothic"/>
                        </a:rPr>
                        <a:t>구간</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초당 생성</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추가 적</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속도 / HP 배율</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0~1분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0.8</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기본형만</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1.00 / 1.00</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1~3분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1.2</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튼튼15%, 돌진10%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1.00 / 1.00</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3~5분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1.8</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원거리10% 추가</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1.05 / 1.20</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5~8분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2.4</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분열10%, 지원5% 추가</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1.10 / 1.50</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8~10분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3.0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혼합 구성 유지</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1.15 / 1.80</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10~12분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3.6</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혼합 구성 유지</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1.20 / 2.20</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57B75656-15E4-43DB-ABBD-751D75BD3BE4}"/>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047B5B6E-B8C8-4A0D-96C1-1C7565FFC54C}"/>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23</a:t>
            </a:r>
          </a:p>
        </p:txBody>
      </p:sp>
    </p:spTree>
    <p:extLst>
      <p:ext uri="{BB962C8B-B14F-4D97-AF65-F5344CB8AC3E}">
        <p14:creationId xmlns:p14="http://schemas.microsoft.com/office/powerpoint/2010/main" val="404623461"/>
      </p:ext>
    </p:extLst>
  </p:cSld>
</p:sld>
</file>

<file path=ppt/slides/slide2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3C921D-70CF-4D0D-A10D-443D8B61A9D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생성 안전성과 압박 제어</a:t>
            </a:r>
          </a:p>
        </p:txBody>
      </p:sp>
      <p:sp>
        <p:nvSpPr>
          <p:cNvPr id="2" name="">
            <a:extLst xmlns:a="http://schemas.openxmlformats.org/drawingml/2006/main">
              <a:ext uri="{FF2B5EF4-FFF2-40B4-BE49-F238E27FC236}">
                <a16:creationId xmlns:a16="http://schemas.microsoft.com/office/drawing/2014/main" id="{B5038CA0-B886-4B0C-B655-A7C86FEC5AAE}"/>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새 위협은 예측할 수 있게, 처리량은 명시적으로 제한한다</a:t>
            </a:r>
          </a:p>
        </p:txBody>
      </p:sp>
      <p:sp>
        <p:nvSpPr>
          <p:cNvPr id="3" name="">
            <a:extLst xmlns:a="http://schemas.openxmlformats.org/drawingml/2006/main">
              <a:ext uri="{FF2B5EF4-FFF2-40B4-BE49-F238E27FC236}">
                <a16:creationId xmlns:a16="http://schemas.microsoft.com/office/drawing/2014/main" id="{5B9E8E05-4FCC-4072-A0DA-6F4E8104EA2A}"/>
              </a:ext>
            </a:extLst>
          </p:cNvPr>
          <p:cNvSpPr>
            <a:spLocks xmlns:a="http://schemas.openxmlformats.org/drawingml/2006/main" noGrp="1"/>
          </p:cNvSpPr>
          <p:nvPr/>
        </p:nvSpPr>
        <p:spPr>
          <a:xfrm xmlns:a="http://schemas.openxmlformats.org/drawingml/2006/main">
            <a:off x="666750" y="192405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3646"/>
                </a:solidFill>
                <a:latin typeface="Malgun Gothic"/>
                <a:ea typeface="Malgun Gothic"/>
                <a:cs typeface="Malgun Gothic"/>
              </a:defRPr>
            </a:pPr>
            <a:r>
              <a:rPr sz="2100" b="1">
                <a:solidFill>
                  <a:srgbClr val="243646"/>
                </a:solidFill>
                <a:latin typeface="Malgun Gothic"/>
                <a:ea typeface="Malgun Gothic"/>
                <a:cs typeface="Malgun Gothic"/>
              </a:rPr>
              <a:t>일반 적 160마리 상한. 원거리 최대6, 지원 최대3, 돌진 최대8.</a:t>
            </a:r>
          </a:p>
        </p:txBody>
      </p:sp>
      <p:sp>
        <p:nvSpPr>
          <p:cNvPr id="4" name="">
            <a:extLst xmlns:a="http://schemas.openxmlformats.org/drawingml/2006/main">
              <a:ext uri="{FF2B5EF4-FFF2-40B4-BE49-F238E27FC236}">
                <a16:creationId xmlns:a16="http://schemas.microsoft.com/office/drawing/2014/main" id="{A1DA4C55-69DB-4220-B0CE-01342DC07A28}"/>
              </a:ext>
            </a:extLst>
          </p:cNvPr>
          <p:cNvSpPr>
            <a:spLocks xmlns:a="http://schemas.openxmlformats.org/drawingml/2006/main" noGrp="1"/>
          </p:cNvSpPr>
          <p:nvPr/>
        </p:nvSpPr>
        <p:spPr>
          <a:xfrm xmlns:a="http://schemas.openxmlformats.org/drawingml/2006/main">
            <a:off x="666750" y="292417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화면 밖 24~64px에서 생성. 플레이어와 최소180px, 0.5초 가장자리 예고.</a:t>
            </a:r>
          </a:p>
        </p:txBody>
      </p:sp>
      <p:sp>
        <p:nvSpPr>
          <p:cNvPr id="5" name="">
            <a:extLst xmlns:a="http://schemas.openxmlformats.org/drawingml/2006/main">
              <a:ext uri="{FF2B5EF4-FFF2-40B4-BE49-F238E27FC236}">
                <a16:creationId xmlns:a16="http://schemas.microsoft.com/office/drawing/2014/main" id="{531A29BC-702C-464E-B564-CAEA6FEA66E0}"/>
              </a:ext>
            </a:extLst>
          </p:cNvPr>
          <p:cNvSpPr>
            <a:spLocks xmlns:a="http://schemas.openxmlformats.org/drawingml/2006/main" noGrp="1"/>
          </p:cNvSpPr>
          <p:nvPr/>
        </p:nvSpPr>
        <p:spPr>
          <a:xfrm xmlns:a="http://schemas.openxmlformats.org/drawingml/2006/main">
            <a:off x="666750" y="392430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적 상한 도달 요청은 버린다. 누적 생성 부채를 만들지 않는다.</a:t>
            </a:r>
          </a:p>
        </p:txBody>
      </p:sp>
      <p:sp>
        <p:nvSpPr>
          <p:cNvPr id="6" name="">
            <a:extLst xmlns:a="http://schemas.openxmlformats.org/drawingml/2006/main">
              <a:ext uri="{FF2B5EF4-FFF2-40B4-BE49-F238E27FC236}">
                <a16:creationId xmlns:a16="http://schemas.microsoft.com/office/drawing/2014/main" id="{D6F7E77D-4AD0-4569-914B-3AEC0EB41BEE}"/>
              </a:ext>
            </a:extLst>
          </p:cNvPr>
          <p:cNvSpPr>
            <a:spLocks xmlns:a="http://schemas.openxmlformats.org/drawingml/2006/main" noGrp="1"/>
          </p:cNvSpPr>
          <p:nvPr/>
        </p:nvSpPr>
        <p:spPr>
          <a:xfrm xmlns:a="http://schemas.openxmlformats.org/drawingml/2006/main">
            <a:off x="666750" y="492442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정예 등장 후 20초는 생성률 70%. 목표와 정예가 겹치는 압박을 줄인다.</a:t>
            </a:r>
          </a:p>
        </p:txBody>
      </p:sp>
      <p:sp>
        <p:nvSpPr>
          <p:cNvPr id="7" name="">
            <a:extLst xmlns:a="http://schemas.openxmlformats.org/drawingml/2006/main">
              <a:ext uri="{FF2B5EF4-FFF2-40B4-BE49-F238E27FC236}">
                <a16:creationId xmlns:a16="http://schemas.microsoft.com/office/drawing/2014/main" id="{7A472EB8-D872-41FD-B1C4-33FF9788A87D}"/>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A5CEBB05-48A4-41F6-A710-318952D51AA6}"/>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24</a:t>
            </a:r>
          </a:p>
        </p:txBody>
      </p:sp>
    </p:spTree>
    <p:extLst>
      <p:ext uri="{BB962C8B-B14F-4D97-AF65-F5344CB8AC3E}">
        <p14:creationId xmlns:p14="http://schemas.microsoft.com/office/powerpoint/2010/main" val="510290790"/>
      </p:ext>
    </p:extLst>
  </p:cSld>
</p:sld>
</file>

<file path=ppt/slides/slide2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D7FC40-D9C3-48E8-BEEA-FB309765930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정예와 지역 보스</a:t>
            </a:r>
          </a:p>
        </p:txBody>
      </p:sp>
      <p:sp>
        <p:nvSpPr>
          <p:cNvPr id="2" name="">
            <a:extLst xmlns:a="http://schemas.openxmlformats.org/drawingml/2006/main">
              <a:ext uri="{FF2B5EF4-FFF2-40B4-BE49-F238E27FC236}">
                <a16:creationId xmlns:a16="http://schemas.microsoft.com/office/drawing/2014/main" id="{9256BB08-5F74-4261-BAEA-A1B6B3514017}"/>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기본 적의 학습을 보스 패턴으로 연결한다</a:t>
            </a:r>
          </a:p>
        </p:txBody>
      </p:sp>
      <p:graphicFrame>
        <p:nvGraphicFramePr>
          <p:cNvPr id="8" name=""/>
          <p:cNvGraphicFramePr/>
          <p:nvPr/>
        </p:nvGraphicFramePr>
        <p:xfrm>
          <a:off xmlns:a="http://schemas.openxmlformats.org/drawingml/2006/main" x="628650" y="1876425"/>
          <a:ext xmlns:a="http://schemas.openxmlformats.org/drawingml/2006/main" cx="10934700" cy="30480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대상</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등장·HP</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핵심 패턴</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정예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4분 350 / 8분 650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기본형 확대, 6초마다 0.9초 예고 돌진</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눈밭: 큰 눈구름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12분 / 1,800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세 번의 직선 돌진과 빈틈이 있는 눈덩이 부채</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온천: 먹구름 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12분 / 2,000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바닥 원형 예고와 순차 분출</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우체국: 밤편지 새</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12분 / 1,800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방향 고정 편지 사격과 이동하는 틈</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3E9D11AF-1DDC-4F55-BA76-68CC94DAF15D}"/>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5EFE9DC3-A457-4AAE-B09B-9E30B838E080}"/>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25</a:t>
            </a:r>
          </a:p>
        </p:txBody>
      </p:sp>
    </p:spTree>
    <p:extLst>
      <p:ext uri="{BB962C8B-B14F-4D97-AF65-F5344CB8AC3E}">
        <p14:creationId xmlns:p14="http://schemas.microsoft.com/office/powerpoint/2010/main" val="887172452"/>
      </p:ext>
    </p:extLst>
  </p:cSld>
</p:sld>
</file>

<file path=ppt/slides/slide2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FAFEE2-C9F1-487D-99D8-B65AA37F6116}"/>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보스 패턴 명세</a:t>
            </a:r>
          </a:p>
        </p:txBody>
      </p:sp>
      <p:sp>
        <p:nvSpPr>
          <p:cNvPr id="2" name="">
            <a:extLst xmlns:a="http://schemas.openxmlformats.org/drawingml/2006/main">
              <a:ext uri="{FF2B5EF4-FFF2-40B4-BE49-F238E27FC236}">
                <a16:creationId xmlns:a16="http://schemas.microsoft.com/office/drawing/2014/main" id="{E2A1D088-AD6D-4F97-8304-DC0310814439}"/>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가시적 예고와 피할 공간을 먼저 보장한다</a:t>
            </a:r>
          </a:p>
        </p:txBody>
      </p:sp>
      <p:graphicFrame>
        <p:nvGraphicFramePr>
          <p:cNvPr id="8" name=""/>
          <p:cNvGraphicFramePr/>
          <p:nvPr/>
        </p:nvGraphicFramePr>
        <p:xfrm>
          <a:off xmlns:a="http://schemas.openxmlformats.org/drawingml/2006/main" x="628650" y="1876425"/>
          <a:ext xmlns:a="http://schemas.openxmlformats.org/drawingml/2006/main" cx="10934700" cy="24384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보스</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한 사이클</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회피 보장</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큰 눈구름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1초 예고·0.7초 돌진 ×3</a:t>
                      </a:r>
                    </a:p>
                    <a:p>
                      <a:r>
                        <a:rPr sz="1725" b="0">
                          <a:solidFill>
                            <a:srgbClr val="243646"/>
                          </a:solidFill>
                          <a:latin typeface="Malgun Gothic"/>
                          <a:ea typeface="Malgun Gothic"/>
                          <a:cs typeface="Malgun Gothic"/>
                        </a:rPr>
                        <a:t>부채탄 5발 후 2초 휴식</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각 돌진 방향은 예고 시작 시 고정</a:t>
                      </a:r>
                    </a:p>
                    <a:p>
                      <a:r>
                        <a:rPr sz="1725" b="0">
                          <a:solidFill>
                            <a:srgbClr val="243646"/>
                          </a:solidFill>
                          <a:latin typeface="Malgun Gothic"/>
                          <a:ea typeface="Malgun Gothic"/>
                          <a:cs typeface="Malgun Gothic"/>
                        </a:rPr>
                        <a:t>부채 중앙 50도 비움</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먹구름 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바닥 원 3개 순서 예고</a:t>
                      </a:r>
                    </a:p>
                    <a:p>
                      <a:r>
                        <a:rPr sz="1725" b="0">
                          <a:solidFill>
                            <a:srgbClr val="243646"/>
                          </a:solidFill>
                          <a:latin typeface="Malgun Gothic"/>
                          <a:ea typeface="Malgun Gothic"/>
                          <a:cs typeface="Malgun Gothic"/>
                        </a:rPr>
                        <a:t>1초 후 0.6초 분출, 2초 휴식</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플레이어 위치는 예고 시작 때만 참조</a:t>
                      </a:r>
                    </a:p>
                    <a:p>
                      <a:r>
                        <a:rPr sz="1725" b="0">
                          <a:solidFill>
                            <a:srgbClr val="243646"/>
                          </a:solidFill>
                          <a:latin typeface="Malgun Gothic"/>
                          <a:ea typeface="Malgun Gothic"/>
                          <a:cs typeface="Malgun Gothic"/>
                        </a:rPr>
                        <a:t>원 반경60, 동시에 최대2개 활성</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밤편지 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부채탄 7발, 1초 간격 3회</a:t>
                      </a:r>
                    </a:p>
                    <a:p>
                      <a:r>
                        <a:rPr sz="1725" b="0">
                          <a:solidFill>
                            <a:srgbClr val="243646"/>
                          </a:solidFill>
                          <a:latin typeface="Malgun Gothic"/>
                          <a:ea typeface="Malgun Gothic"/>
                          <a:cs typeface="Malgun Gothic"/>
                        </a:rPr>
                        <a:t>이동 후 2초 휴식</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첫 사격 방향 고정, 다음 틈 30도 회전</a:t>
                      </a:r>
                    </a:p>
                    <a:p>
                      <a:r>
                        <a:rPr sz="1725" b="0">
                          <a:solidFill>
                            <a:srgbClr val="243646"/>
                          </a:solidFill>
                          <a:latin typeface="Malgun Gothic"/>
                          <a:ea typeface="Malgun Gothic"/>
                          <a:cs typeface="Malgun Gothic"/>
                        </a:rPr>
                        <a:t>화면 경계에 안전 경로 확보</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93D5CD0-CD37-43DD-A360-93358B7F81FC}"/>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B9A5A4A5-00E7-4182-A2DE-A9A9F963EB5F}"/>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26</a:t>
            </a:r>
          </a:p>
        </p:txBody>
      </p:sp>
    </p:spTree>
    <p:extLst>
      <p:ext uri="{BB962C8B-B14F-4D97-AF65-F5344CB8AC3E}">
        <p14:creationId xmlns:p14="http://schemas.microsoft.com/office/powerpoint/2010/main" val="1454840311"/>
      </p:ext>
    </p:extLst>
  </p:cSld>
</p:sld>
</file>

<file path=ppt/slides/slide2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45FB86-4B93-4F5F-BC53-CF22E8D4022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포근·보통·도전 난도</a:t>
            </a:r>
          </a:p>
        </p:txBody>
      </p:sp>
      <p:sp>
        <p:nvSpPr>
          <p:cNvPr id="2" name="">
            <a:extLst xmlns:a="http://schemas.openxmlformats.org/drawingml/2006/main">
              <a:ext uri="{FF2B5EF4-FFF2-40B4-BE49-F238E27FC236}">
                <a16:creationId xmlns:a16="http://schemas.microsoft.com/office/drawing/2014/main" id="{21C44D95-9D54-4057-AE0F-2A5527FB11AE}"/>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포근한 분위기를 실패 부담에도 반영한다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238375"/>
                <a:gridCol w="2905125"/>
                <a:gridCol w="2886075"/>
                <a:gridCol w="2905125"/>
              </a:tblGrid>
              <a:tr h="5715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포근</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보통</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도전</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적 HP</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0.8배</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1.0배</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1.2배</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적 이동속도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0.85배</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1.0배</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1.1배</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기본 피격</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1HP</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2HP</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2HP</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회복 배치</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기본+추가 1회</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기본</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기본</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해금·보상</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동일 기본 보상</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동일 기본 보상</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동일+전용 메달</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기록</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난도별 분리</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난도별 분리</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난도별 분리</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696B16A8-14BA-4652-8B9E-07C0A71903F4}"/>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6288C9E4-220A-4972-B081-EC52FBB7C6F2}"/>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27</a:t>
            </a:r>
          </a:p>
        </p:txBody>
      </p:sp>
    </p:spTree>
    <p:extLst>
      <p:ext uri="{BB962C8B-B14F-4D97-AF65-F5344CB8AC3E}">
        <p14:creationId xmlns:p14="http://schemas.microsoft.com/office/powerpoint/2010/main" val="640119176"/>
      </p:ext>
    </p:extLst>
  </p:cSld>
</p:sld>
</file>

<file path=ppt/slides/slide2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8D9CE4-D0FD-4864-9786-1BF401DFD087}"/>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점수와 결과 보상</a:t>
            </a:r>
          </a:p>
        </p:txBody>
      </p:sp>
      <p:sp>
        <p:nvSpPr>
          <p:cNvPr id="2" name="">
            <a:extLst xmlns:a="http://schemas.openxmlformats.org/drawingml/2006/main">
              <a:ext uri="{FF2B5EF4-FFF2-40B4-BE49-F238E27FC236}">
                <a16:creationId xmlns:a16="http://schemas.microsoft.com/office/drawing/2014/main" id="{ADCCF855-6DB7-4392-8F7D-E71BB1CCE462}"/>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좋은 이동과 목표 달성을 기록한다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333625"/>
                <a:gridCol w="8601075"/>
              </a:tblGrid>
              <a:tr h="6096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규칙</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처치 점수</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기본10 / 튼튼30 / 특수20 / 정예200 / 보스1,000</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목표·승리</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목표 1개당300 / 승리500 / 남은 HP당50</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생존 기록</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활성 생존 시간과 보스전 시간 별도 / 시간 자체 점수 없음</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결과 화면</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총점, 빌드, 목표 수, 사망 원인, 다음 해금 진행</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재도전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동일 설정 재시작 / 동물·지역 변경 / 마을 돌아가기</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2909183-7B2E-4154-8438-986038982C16}"/>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1A8B4E39-9D8D-41D9-9C1F-40D008665F8C}"/>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28</a:t>
            </a:r>
          </a:p>
        </p:txBody>
      </p:sp>
    </p:spTree>
    <p:extLst>
      <p:ext uri="{BB962C8B-B14F-4D97-AF65-F5344CB8AC3E}">
        <p14:creationId xmlns:p14="http://schemas.microsoft.com/office/powerpoint/2010/main" val="466037974"/>
      </p:ext>
    </p:extLst>
  </p:cSld>
</p:sld>
</file>

<file path=ppt/slides/slide2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249387-28B9-4589-ACDD-4DA001000E17}"/>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마을 보상과 영구 진행</a:t>
            </a:r>
          </a:p>
        </p:txBody>
      </p:sp>
      <p:sp>
        <p:nvSpPr>
          <p:cNvPr id="2" name="">
            <a:extLst xmlns:a="http://schemas.openxmlformats.org/drawingml/2006/main">
              <a:ext uri="{FF2B5EF4-FFF2-40B4-BE49-F238E27FC236}">
                <a16:creationId xmlns:a16="http://schemas.microsoft.com/office/drawing/2014/main" id="{1A973F6E-D0CB-4C1B-9BEC-2A83F1C5C1CC}"/>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전투 성능보다 새로운 선택과 애착을 보상한다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규칙</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역할</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마을 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분당5 + 목표당15 + 승리40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완주 시 최대145개</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지역 첫 승리</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지역별 최초 50개 추가</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첫 성공 보상</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동물 해금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펭귄·카피바라 기본 / 고양이 첫 승리</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초반 선택과 진행 목표</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장식 12개</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100·200·300·400개 가격 각3개</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총3,000개 소비처</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영구 전투 강화</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출시판에는 없음</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반복 노가다 없이 실력·빌드 비교</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8E2F24D-9B2F-46B5-AE5F-5E44824C9A47}"/>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9BAA8934-B6F5-493E-8D1D-90DD5CDC1F4B}"/>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29</a:t>
            </a:r>
          </a:p>
        </p:txBody>
      </p:sp>
    </p:spTree>
    <p:extLst>
      <p:ext uri="{BB962C8B-B14F-4D97-AF65-F5344CB8AC3E}">
        <p14:creationId xmlns:p14="http://schemas.microsoft.com/office/powerpoint/2010/main" val="1358963929"/>
      </p:ext>
    </p:extLst>
  </p:cSld>
</p:sld>
</file>

<file path=ppt/slides/slide3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624780-634E-416C-B627-006B34CF6812}"/>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무한 도전과 반복 콘텐츠</a:t>
            </a:r>
          </a:p>
        </p:txBody>
      </p:sp>
      <p:sp>
        <p:nvSpPr>
          <p:cNvPr id="2" name="">
            <a:extLst xmlns:a="http://schemas.openxmlformats.org/drawingml/2006/main">
              <a:ext uri="{FF2B5EF4-FFF2-40B4-BE49-F238E27FC236}">
                <a16:creationId xmlns:a16="http://schemas.microsoft.com/office/drawing/2014/main" id="{27DAA212-F17A-425B-A622-C816CD482101}"/>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주 모드에서 익힌 빌드의 한계를 시험한다</a:t>
            </a:r>
          </a:p>
        </p:txBody>
      </p:sp>
      <p:sp>
        <p:nvSpPr>
          <p:cNvPr id="3" name="">
            <a:extLst xmlns:a="http://schemas.openxmlformats.org/drawingml/2006/main">
              <a:ext uri="{FF2B5EF4-FFF2-40B4-BE49-F238E27FC236}">
                <a16:creationId xmlns:a16="http://schemas.microsoft.com/office/drawing/2014/main" id="{39B73AB2-F498-4B18-8D5D-A4AB5061D59C}"/>
              </a:ext>
            </a:extLst>
          </p:cNvPr>
          <p:cNvSpPr>
            <a:spLocks xmlns:a="http://schemas.openxmlformats.org/drawingml/2006/main" noGrp="1"/>
          </p:cNvSpPr>
          <p:nvPr/>
        </p:nvSpPr>
        <p:spPr>
          <a:xfrm xmlns:a="http://schemas.openxmlformats.org/drawingml/2006/main">
            <a:off x="666750" y="192405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3646"/>
                </a:solidFill>
                <a:latin typeface="Malgun Gothic"/>
                <a:ea typeface="Malgun Gothic"/>
                <a:cs typeface="Malgun Gothic"/>
              </a:defRPr>
            </a:pPr>
            <a:r>
              <a:rPr sz="2100" b="1">
                <a:solidFill>
                  <a:srgbClr val="243646"/>
                </a:solidFill>
                <a:latin typeface="Malgun Gothic"/>
                <a:ea typeface="Malgun Gothic"/>
                <a:cs typeface="Malgun Gothic"/>
              </a:rPr>
              <a:t>해금: 해당 지역을 1회 완료하면 그 지역 무한 도전 개방.</a:t>
            </a:r>
          </a:p>
        </p:txBody>
      </p:sp>
      <p:sp>
        <p:nvSpPr>
          <p:cNvPr id="4" name="">
            <a:extLst xmlns:a="http://schemas.openxmlformats.org/drawingml/2006/main">
              <a:ext uri="{FF2B5EF4-FFF2-40B4-BE49-F238E27FC236}">
                <a16:creationId xmlns:a16="http://schemas.microsoft.com/office/drawing/2014/main" id="{D16A14CA-4D3D-4F2C-91A7-CDB6852BFFE2}"/>
              </a:ext>
            </a:extLst>
          </p:cNvPr>
          <p:cNvSpPr>
            <a:spLocks xmlns:a="http://schemas.openxmlformats.org/drawingml/2006/main" noGrp="1"/>
          </p:cNvSpPr>
          <p:nvPr/>
        </p:nvSpPr>
        <p:spPr>
          <a:xfrm xmlns:a="http://schemas.openxmlformats.org/drawingml/2006/main">
            <a:off x="666750" y="292417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주 모드의 레벨·공격·패시브 사용. 지역 목표는 최초 3회만 제공.</a:t>
            </a:r>
          </a:p>
        </p:txBody>
      </p:sp>
      <p:sp>
        <p:nvSpPr>
          <p:cNvPr id="5" name="">
            <a:extLst xmlns:a="http://schemas.openxmlformats.org/drawingml/2006/main">
              <a:ext uri="{FF2B5EF4-FFF2-40B4-BE49-F238E27FC236}">
                <a16:creationId xmlns:a16="http://schemas.microsoft.com/office/drawing/2014/main" id="{20D06B0B-C6C8-426A-9EC0-1612B38649C9}"/>
              </a:ext>
            </a:extLst>
          </p:cNvPr>
          <p:cNvSpPr>
            <a:spLocks xmlns:a="http://schemas.openxmlformats.org/drawingml/2006/main" noGrp="1"/>
          </p:cNvSpPr>
          <p:nvPr/>
        </p:nvSpPr>
        <p:spPr>
          <a:xfrm xmlns:a="http://schemas.openxmlformats.org/drawingml/2006/main">
            <a:off x="666750" y="392430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12분 보스 없이 지속. 12분부터 2분마다 적 HP +15%, 속도 +3%.</a:t>
            </a:r>
          </a:p>
        </p:txBody>
      </p:sp>
      <p:sp>
        <p:nvSpPr>
          <p:cNvPr id="6" name="">
            <a:extLst xmlns:a="http://schemas.openxmlformats.org/drawingml/2006/main">
              <a:ext uri="{FF2B5EF4-FFF2-40B4-BE49-F238E27FC236}">
                <a16:creationId xmlns:a16="http://schemas.microsoft.com/office/drawing/2014/main" id="{4F901CCB-5081-4B26-8D6E-8D7B5E0CA1C9}"/>
              </a:ext>
            </a:extLst>
          </p:cNvPr>
          <p:cNvSpPr>
            <a:spLocks xmlns:a="http://schemas.openxmlformats.org/drawingml/2006/main" noGrp="1"/>
          </p:cNvSpPr>
          <p:nvPr/>
        </p:nvSpPr>
        <p:spPr>
          <a:xfrm xmlns:a="http://schemas.openxmlformats.org/drawingml/2006/main">
            <a:off x="666750" y="492442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재화는 첫 12분까지만 시간·목표 보상. 기록은 주 모드와 분리한다.</a:t>
            </a:r>
          </a:p>
        </p:txBody>
      </p:sp>
      <p:sp>
        <p:nvSpPr>
          <p:cNvPr id="7" name="">
            <a:extLst xmlns:a="http://schemas.openxmlformats.org/drawingml/2006/main">
              <a:ext uri="{FF2B5EF4-FFF2-40B4-BE49-F238E27FC236}">
                <a16:creationId xmlns:a16="http://schemas.microsoft.com/office/drawing/2014/main" id="{C49D81F4-57F0-46EB-9FE6-EA8EBA80E1FE}"/>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C0C7AF47-5694-4A92-9DAD-89DAD2848A4A}"/>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30</a:t>
            </a:r>
          </a:p>
        </p:txBody>
      </p:sp>
    </p:spTree>
    <p:extLst>
      <p:ext uri="{BB962C8B-B14F-4D97-AF65-F5344CB8AC3E}">
        <p14:creationId xmlns:p14="http://schemas.microsoft.com/office/powerpoint/2010/main" val="1735650394"/>
      </p:ext>
    </p:extLst>
  </p:cSld>
</p:sld>
</file>

<file path=ppt/slides/slide3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03AB38-3C1A-4626-B8C9-363853E172C3}"/>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첫 5분 온보딩</a:t>
            </a:r>
          </a:p>
        </p:txBody>
      </p:sp>
      <p:sp>
        <p:nvSpPr>
          <p:cNvPr id="2" name="">
            <a:extLst xmlns:a="http://schemas.openxmlformats.org/drawingml/2006/main">
              <a:ext uri="{FF2B5EF4-FFF2-40B4-BE49-F238E27FC236}">
                <a16:creationId xmlns:a16="http://schemas.microsoft.com/office/drawing/2014/main" id="{65862226-C569-4340-890D-6955355041FB}"/>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조작 설명과 전투를 같은 순간에 과하게 요구하지 않는다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시점</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노출 내용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통과 관찰</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시작 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이동만 조작 / 공격 자동</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설명10초 안에 시작</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0~20초</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적 생성 1.5초 유예 / 낮은 밀도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이동과 첫 처치 성공</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20~40초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첫 레벨업 / 변화량을 숫자로 표시</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강화 전후 차이를 설명 가능</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2분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첫 목표를 거절해도 진행 가능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자발적으로 목표 접근</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4분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정예 예고와 긴 회피 시간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피격 원인을 이해</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23E7242-1B7E-4A20-997D-9193AC92725B}"/>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9B6638CA-ED98-40C9-A08E-EADCF1727111}"/>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31</a:t>
            </a:r>
          </a:p>
        </p:txBody>
      </p:sp>
    </p:spTree>
    <p:extLst>
      <p:ext uri="{BB962C8B-B14F-4D97-AF65-F5344CB8AC3E}">
        <p14:creationId xmlns:p14="http://schemas.microsoft.com/office/powerpoint/2010/main" val="1480671451"/>
      </p:ext>
    </p:extLst>
  </p:cSld>
</p:sld>
</file>

<file path=ppt/slides/slide3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DE758F-56DB-4F1A-BEA3-650058A088F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화면과 상태 전환</a:t>
            </a:r>
          </a:p>
        </p:txBody>
      </p:sp>
      <p:sp>
        <p:nvSpPr>
          <p:cNvPr id="2" name="">
            <a:extLst xmlns:a="http://schemas.openxmlformats.org/drawingml/2006/main">
              <a:ext uri="{FF2B5EF4-FFF2-40B4-BE49-F238E27FC236}">
                <a16:creationId xmlns:a16="http://schemas.microsoft.com/office/drawing/2014/main" id="{D1DF14F3-72DA-4FD8-8E00-466837DB0821}"/>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재시작과 저장 경계를 명확히 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화면</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주요 정보</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이동</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타이틀·마을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계속하기, 새 모험, 장식, 도감, 설정</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선택 화면</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선택</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동물·지역·난도 / 해금 조건</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확인 후 플레이</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플레이 HUD</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HP·시간·XP·목표 / 공격 분기</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성장·정지 오버레이</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일시정지</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계속, 설정, 저장 후 나가기</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재개 또는 타이틀</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결과</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원인·점수·보상·해금 / 빌드 요약</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재도전 또는 마을</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4ED41DF-728D-4D6C-B070-E434949C4C8E}"/>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E3C3B5BA-B5BB-420C-8C3B-E59FE1EB6626}"/>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32</a:t>
            </a:r>
          </a:p>
        </p:txBody>
      </p:sp>
    </p:spTree>
    <p:extLst>
      <p:ext uri="{BB962C8B-B14F-4D97-AF65-F5344CB8AC3E}">
        <p14:creationId xmlns:p14="http://schemas.microsoft.com/office/powerpoint/2010/main" val="283929439"/>
      </p:ext>
    </p:extLst>
  </p:cSld>
</p:sld>
</file>

<file path=ppt/slides/slide3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B15A58-2C03-48BD-B8A3-0C9FBC257FD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접근성·저장·현지화</a:t>
            </a:r>
          </a:p>
        </p:txBody>
      </p:sp>
      <p:sp>
        <p:nvSpPr>
          <p:cNvPr id="2" name="">
            <a:extLst xmlns:a="http://schemas.openxmlformats.org/drawingml/2006/main">
              <a:ext uri="{FF2B5EF4-FFF2-40B4-BE49-F238E27FC236}">
                <a16:creationId xmlns:a16="http://schemas.microsoft.com/office/drawing/2014/main" id="{BDEA9AEB-F0E0-4AF0-B31D-1EE8AD4BAC3C}"/>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짧게 켜고 끄는 PC 사용 환경을 지원한다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333625"/>
                <a:gridCol w="8601075"/>
              </a:tblGrid>
              <a:tr h="609600">
                <a:tc>
                  <a:txBody>
                    <a:bodyPr>
                      <a:noAutofit/>
                    </a:bodyPr>
                    <a:lstStyle/>
                    <a:p>
                      <a:r>
                        <a:rPr sz="1725" b="1">
                          <a:solidFill>
                            <a:srgbClr val="427D86"/>
                          </a:solidFill>
                          <a:latin typeface="Malgun Gothic"/>
                          <a:ea typeface="Malgun Gothic"/>
                          <a:cs typeface="Malgun Gothic"/>
                        </a:rPr>
                        <a:t>영역</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출시 요구사항</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가독성</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피해 예고는 색+형태 / 장식 투명도 / 텍스트 확대</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조작</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키 재지정 / 패드만으로 모든 화면 조작 / 진동 끄기</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오디오</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음악·효과 별도 볼륨 / 큰 효과음 제한 / 음소거</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저장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버전 필드·백업1개·중단 재개 / 로컬 우선</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언어</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한국어·영어 출시 / 문자열 ID / 추가 언어 수요 검증</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DA3297D-D387-4DF5-8E85-4F9298F978ED}"/>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63AE8406-9D36-476F-9135-D8A216A68608}"/>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33</a:t>
            </a:r>
          </a:p>
        </p:txBody>
      </p:sp>
    </p:spTree>
    <p:extLst>
      <p:ext uri="{BB962C8B-B14F-4D97-AF65-F5344CB8AC3E}">
        <p14:creationId xmlns:p14="http://schemas.microsoft.com/office/powerpoint/2010/main" val="770227658"/>
      </p:ext>
    </p:extLst>
  </p:cSld>
</p:sld>
</file>

<file path=ppt/slides/slide3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1A842C-3DD4-4926-A022-88AEFFA14B0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아트 디렉션과 제작 규격</a:t>
            </a:r>
          </a:p>
        </p:txBody>
      </p:sp>
      <p:sp>
        <p:nvSpPr>
          <p:cNvPr id="2" name="">
            <a:extLst xmlns:a="http://schemas.openxmlformats.org/drawingml/2006/main">
              <a:ext uri="{FF2B5EF4-FFF2-40B4-BE49-F238E27FC236}">
                <a16:creationId xmlns:a16="http://schemas.microsoft.com/office/drawing/2014/main" id="{88CE19BC-7709-46FD-813E-ADA99E13E208}"/>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펭귄의 픽셀 스타일로 세 동물을 통일한다</a:t>
            </a:r>
          </a:p>
        </p:txBody>
      </p:sp>
      <p:sp>
        <p:nvSpPr>
          <p:cNvPr id="3" name="">
            <a:extLst xmlns:a="http://schemas.openxmlformats.org/drawingml/2006/main">
              <a:ext uri="{FF2B5EF4-FFF2-40B4-BE49-F238E27FC236}">
                <a16:creationId xmlns:a16="http://schemas.microsoft.com/office/drawing/2014/main" id="{411573C3-471A-42C2-86DD-6D05248A2151}"/>
              </a:ext>
            </a:extLst>
          </p:cNvPr>
          <p:cNvSpPr>
            <a:spLocks xmlns:a="http://schemas.openxmlformats.org/drawingml/2006/main" noGrp="1"/>
          </p:cNvSpPr>
          <p:nvPr/>
        </p:nvSpPr>
        <p:spPr>
          <a:xfrm xmlns:a="http://schemas.openxmlformats.org/drawingml/2006/main">
            <a:off x="666750" y="192405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3646"/>
                </a:solidFill>
                <a:latin typeface="Malgun Gothic"/>
                <a:ea typeface="Malgun Gothic"/>
                <a:cs typeface="Malgun Gothic"/>
              </a:defRPr>
            </a:pPr>
            <a:r>
              <a:rPr sz="2100" b="1">
                <a:solidFill>
                  <a:srgbClr val="243646"/>
                </a:solidFill>
                <a:latin typeface="Malgun Gothic"/>
                <a:ea typeface="Malgun Gothic"/>
                <a:cs typeface="Malgun Gothic"/>
              </a:rPr>
              <a:t>캐릭터: 표시 높이 56~64px, 발 위치 공통. 목도리·유자·우편 가방으로 구분.</a:t>
            </a:r>
          </a:p>
        </p:txBody>
      </p:sp>
      <p:sp>
        <p:nvSpPr>
          <p:cNvPr id="4" name="">
            <a:extLst xmlns:a="http://schemas.openxmlformats.org/drawingml/2006/main">
              <a:ext uri="{FF2B5EF4-FFF2-40B4-BE49-F238E27FC236}">
                <a16:creationId xmlns:a16="http://schemas.microsoft.com/office/drawing/2014/main" id="{E63497AF-9849-4D5B-9692-48362CEB7A7E}"/>
              </a:ext>
            </a:extLst>
          </p:cNvPr>
          <p:cNvSpPr>
            <a:spLocks xmlns:a="http://schemas.openxmlformats.org/drawingml/2006/main" noGrp="1"/>
          </p:cNvSpPr>
          <p:nvPr/>
        </p:nvSpPr>
        <p:spPr>
          <a:xfrm xmlns:a="http://schemas.openxmlformats.org/drawingml/2006/main">
            <a:off x="666750" y="292417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맵: 낮은 대비 바닥, 가장자리 장식. 전투 오브젝트는 선명한 외곽선.</a:t>
            </a:r>
          </a:p>
        </p:txBody>
      </p:sp>
      <p:sp>
        <p:nvSpPr>
          <p:cNvPr id="5" name="">
            <a:extLst xmlns:a="http://schemas.openxmlformats.org/drawingml/2006/main">
              <a:ext uri="{FF2B5EF4-FFF2-40B4-BE49-F238E27FC236}">
                <a16:creationId xmlns:a16="http://schemas.microsoft.com/office/drawing/2014/main" id="{32EEEFE5-8EB2-4060-9C7F-EADD2DB5A5BA}"/>
              </a:ext>
            </a:extLst>
          </p:cNvPr>
          <p:cNvSpPr>
            <a:spLocks xmlns:a="http://schemas.openxmlformats.org/drawingml/2006/main" noGrp="1"/>
          </p:cNvSpPr>
          <p:nvPr/>
        </p:nvSpPr>
        <p:spPr>
          <a:xfrm xmlns:a="http://schemas.openxmlformats.org/drawingml/2006/main">
            <a:off x="666750" y="392430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이펙트: 눈꽃·방울·편지의 실체와 예고를 구분. 겹칠수록 장식을 먼저 줄인다.</a:t>
            </a:r>
          </a:p>
        </p:txBody>
      </p:sp>
      <p:sp>
        <p:nvSpPr>
          <p:cNvPr id="6" name="">
            <a:extLst xmlns:a="http://schemas.openxmlformats.org/drawingml/2006/main">
              <a:ext uri="{FF2B5EF4-FFF2-40B4-BE49-F238E27FC236}">
                <a16:creationId xmlns:a16="http://schemas.microsoft.com/office/drawing/2014/main" id="{4662272E-1016-4490-A4A1-E4442ABBC343}"/>
              </a:ext>
            </a:extLst>
          </p:cNvPr>
          <p:cNvSpPr>
            <a:spLocks xmlns:a="http://schemas.openxmlformats.org/drawingml/2006/main" noGrp="1"/>
          </p:cNvSpPr>
          <p:nvPr/>
        </p:nvSpPr>
        <p:spPr>
          <a:xfrm xmlns:a="http://schemas.openxmlformats.org/drawingml/2006/main">
            <a:off x="666750" y="492442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원본 카피바라·고양이 그림은 색감 참고. 상용 에셋은 같은 픽셀 밀도로 제작한다.</a:t>
            </a:r>
          </a:p>
        </p:txBody>
      </p:sp>
      <p:sp>
        <p:nvSpPr>
          <p:cNvPr id="7" name="">
            <a:extLst xmlns:a="http://schemas.openxmlformats.org/drawingml/2006/main">
              <a:ext uri="{FF2B5EF4-FFF2-40B4-BE49-F238E27FC236}">
                <a16:creationId xmlns:a16="http://schemas.microsoft.com/office/drawing/2014/main" id="{061207CF-3D11-40F1-BD88-B3605A80AD35}"/>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1E2DB275-3FEE-4FED-A55F-B712DFC780E4}"/>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34</a:t>
            </a:r>
          </a:p>
        </p:txBody>
      </p:sp>
    </p:spTree>
    <p:extLst>
      <p:ext uri="{BB962C8B-B14F-4D97-AF65-F5344CB8AC3E}">
        <p14:creationId xmlns:p14="http://schemas.microsoft.com/office/powerpoint/2010/main" val="1286427362"/>
      </p:ext>
    </p:extLst>
  </p:cSld>
</p:sld>
</file>

<file path=ppt/slides/slide3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48C2F0-C9A4-4D47-AE80-DCDB0A84176B}"/>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출시 콘텐츠와 에셋 수량</a:t>
            </a:r>
          </a:p>
        </p:txBody>
      </p:sp>
      <p:sp>
        <p:nvSpPr>
          <p:cNvPr id="2" name="">
            <a:extLst xmlns:a="http://schemas.openxmlformats.org/drawingml/2006/main">
              <a:ext uri="{FF2B5EF4-FFF2-40B4-BE49-F238E27FC236}">
                <a16:creationId xmlns:a16="http://schemas.microsoft.com/office/drawing/2014/main" id="{B8363AA3-C08C-4EE5-B60A-FD8049871FA8}"/>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수량은 개발 견적과 완료 기준의 기준선이다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묶음</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출시 수량</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제작 기준</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동물</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3종 × 5상태</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대기·이동·공격·피격·탈진 / 총15세트</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전투 콘텐츠</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공격3 / 최종분기6 / 패시브12 / 유물6</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공격 강화는 각4단계, 패시브 각3단계</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지역·적</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지역3 / 적6역할×3외형 / 보스3</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정예는 기존 적 변형1종</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마을·도감</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장식12 / 동물 편지9 / 업적18</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전투와 연동된 고정 화면</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음악·소리</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음악5곡 / 효과음 약25종</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마을1·지역3·보스 공통1</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747AD72-6A2F-40FC-AE61-7021742E6CB8}"/>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3B0FA44A-6EF9-40A2-830B-8D090D0E2967}"/>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35</a:t>
            </a:r>
          </a:p>
        </p:txBody>
      </p:sp>
    </p:spTree>
    <p:extLst>
      <p:ext uri="{BB962C8B-B14F-4D97-AF65-F5344CB8AC3E}">
        <p14:creationId xmlns:p14="http://schemas.microsoft.com/office/powerpoint/2010/main" val="1923996454"/>
      </p:ext>
    </p:extLst>
  </p:cSld>
</p:sld>
</file>

<file path=ppt/slides/slide3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365492-0D62-4215-B499-D3D58A28D89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데이터와 시스템 구조</a:t>
            </a:r>
          </a:p>
        </p:txBody>
      </p:sp>
      <p:sp>
        <p:nvSpPr>
          <p:cNvPr id="2" name="">
            <a:extLst xmlns:a="http://schemas.openxmlformats.org/drawingml/2006/main">
              <a:ext uri="{FF2B5EF4-FFF2-40B4-BE49-F238E27FC236}">
                <a16:creationId xmlns:a16="http://schemas.microsoft.com/office/drawing/2014/main" id="{E33DE40D-B634-43DD-803F-A5485FA5E8DA}"/>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지역·동물 조합을 설정 데이터로 구성한다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333625"/>
                <a:gridCol w="8601075"/>
              </a:tblGrid>
              <a:tr h="609600">
                <a:tc>
                  <a:txBody>
                    <a:bodyPr>
                      <a:noAutofit/>
                    </a:bodyPr>
                    <a:lstStyle/>
                    <a:p>
                      <a:r>
                        <a:rPr sz="1725" b="1">
                          <a:solidFill>
                            <a:srgbClr val="427D86"/>
                          </a:solidFill>
                          <a:latin typeface="Malgun Gothic"/>
                          <a:ea typeface="Malgun Gothic"/>
                          <a:cs typeface="Malgun Gothic"/>
                        </a:rPr>
                        <a:t>데이터</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필수 필드</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Character / Weapon</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ID, sprite, HP, speed / damage, interval, shape, upgrades</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Enemy / Spawn</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role, HP, speed, XP / time, rate, weights, caps</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Map / Objective</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bounds, blockers, anchors / type, duration, reward</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Upgrade / Relic</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ID, maxLevel, effect, constraints, descriptionKey</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Run / Save</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seed, mode, difficulty, rulesVersion, state, rewardClaimed</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2300A90-D6FB-4C69-9D47-2AC1B05B3215}"/>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F050D01B-EEAB-4DF1-B908-094C78A1D0D9}"/>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36</a:t>
            </a:r>
          </a:p>
        </p:txBody>
      </p:sp>
    </p:spTree>
    <p:extLst>
      <p:ext uri="{BB962C8B-B14F-4D97-AF65-F5344CB8AC3E}">
        <p14:creationId xmlns:p14="http://schemas.microsoft.com/office/powerpoint/2010/main" val="1282622948"/>
      </p:ext>
    </p:extLst>
  </p:cSld>
</p:sld>
</file>

<file path=ppt/slides/slide3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BD3CA5-BC7B-4E22-8F7E-11B53F0A8777}"/>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밸런스 실험과 합격 기준</a:t>
            </a:r>
          </a:p>
        </p:txBody>
      </p:sp>
      <p:sp>
        <p:nvSpPr>
          <p:cNvPr id="2" name="">
            <a:extLst xmlns:a="http://schemas.openxmlformats.org/drawingml/2006/main">
              <a:ext uri="{FF2B5EF4-FFF2-40B4-BE49-F238E27FC236}">
                <a16:creationId xmlns:a16="http://schemas.microsoft.com/office/drawing/2014/main" id="{D39E6EAB-582B-4948-96BB-B825437269AF}"/>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검증값은 업계 평균이 아닌 내부 목표다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실험</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관찰 지표</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첫 목표</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펭귄 전략 3종</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같은 시드, 전략별3회</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능동 궤도 조절의 이점 확인</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신규 이용자 12명</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설명 없이 이동·첫 처치</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10명 이상 성공</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첫판 피격 이해</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종료 후 원인 설명</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10명 이상 설명 가능</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자발적 재도전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첫판 뒤 1회 더 시작</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12명 중8명 이상</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난도·빌드</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각 동물×지역×난도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특정 조합 진행 불가 없음</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788DAD0-6FF4-47DE-881E-D0BCA044A64E}"/>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2B77886B-5EF6-4B9E-B654-F9722F6A1063}"/>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37</a:t>
            </a:r>
          </a:p>
        </p:txBody>
      </p:sp>
    </p:spTree>
    <p:extLst>
      <p:ext uri="{BB962C8B-B14F-4D97-AF65-F5344CB8AC3E}">
        <p14:creationId xmlns:p14="http://schemas.microsoft.com/office/powerpoint/2010/main" val="334836058"/>
      </p:ext>
    </p:extLst>
  </p:cSld>
</p:sld>
</file>

<file path=ppt/slides/slide3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81E95D-15F7-4D80-8305-85FA402F1DE7}"/>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QA와 출시 품질 기준</a:t>
            </a:r>
          </a:p>
        </p:txBody>
      </p:sp>
      <p:sp>
        <p:nvSpPr>
          <p:cNvPr id="2" name="">
            <a:extLst xmlns:a="http://schemas.openxmlformats.org/drawingml/2006/main">
              <a:ext uri="{FF2B5EF4-FFF2-40B4-BE49-F238E27FC236}">
                <a16:creationId xmlns:a16="http://schemas.microsoft.com/office/drawing/2014/main" id="{B1435025-D728-49B1-81CB-1F0CDBEB85FE}"/>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기능 완료와 출시 가능 상태를 분리한다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333625"/>
                <a:gridCol w="8601075"/>
              </a:tblGrid>
              <a:tr h="609600">
                <a:tc>
                  <a:txBody>
                    <a:bodyPr>
                      <a:noAutofit/>
                    </a:bodyPr>
                    <a:lstStyle/>
                    <a:p>
                      <a:r>
                        <a:rPr sz="1725" b="1">
                          <a:solidFill>
                            <a:srgbClr val="427D86"/>
                          </a:solidFill>
                          <a:latin typeface="Malgun Gothic"/>
                          <a:ea typeface="Malgun Gothic"/>
                          <a:cs typeface="Malgun Gothic"/>
                        </a:rPr>
                        <a:t>검증</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합격 조건</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조합 회귀</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3동물×3지역×3난도 27조합 / 승패·해금 정상</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판정·시간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동시 피격1회 / 일시정지·재개 / 30·60·144fps 비교</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저장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중단·복원·업데이트·손상 복구 / 재화 중복0건</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성능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적160·입자200 / 기준PC 60fps / p95 20ms 이하</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출시 차단</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크래시·진행불가·저장손실·입력불가 미해결0건</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25C7859-653E-4F45-8B7F-9BDF480318AC}"/>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F30BA24A-A189-4A58-9141-18BF120B5B39}"/>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38</a:t>
            </a:r>
          </a:p>
        </p:txBody>
      </p:sp>
    </p:spTree>
    <p:extLst>
      <p:ext uri="{BB962C8B-B14F-4D97-AF65-F5344CB8AC3E}">
        <p14:creationId xmlns:p14="http://schemas.microsoft.com/office/powerpoint/2010/main" val="910811347"/>
      </p:ext>
    </p:extLst>
  </p:cSld>
</p:sld>
</file>

<file path=ppt/slides/slide3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CB14D7-9226-4B73-9A06-BDEE3542C4E4}"/>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개인정보와 출시 준비</a:t>
            </a:r>
          </a:p>
        </p:txBody>
      </p:sp>
      <p:sp>
        <p:nvSpPr>
          <p:cNvPr id="2" name="">
            <a:extLst xmlns:a="http://schemas.openxmlformats.org/drawingml/2006/main">
              <a:ext uri="{FF2B5EF4-FFF2-40B4-BE49-F238E27FC236}">
                <a16:creationId xmlns:a16="http://schemas.microsoft.com/office/drawing/2014/main" id="{0A72AB7A-D9C9-4D25-9713-4B26FDA5AD7B}"/>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사용자 경험에 필요한 데이터만 다룬다</a:t>
            </a:r>
          </a:p>
        </p:txBody>
      </p:sp>
      <p:sp>
        <p:nvSpPr>
          <p:cNvPr id="3" name="">
            <a:extLst xmlns:a="http://schemas.openxmlformats.org/drawingml/2006/main">
              <a:ext uri="{FF2B5EF4-FFF2-40B4-BE49-F238E27FC236}">
                <a16:creationId xmlns:a16="http://schemas.microsoft.com/office/drawing/2014/main" id="{4183A46F-78C8-44B7-A80A-DF4BA8F18731}"/>
              </a:ext>
            </a:extLst>
          </p:cNvPr>
          <p:cNvSpPr>
            <a:spLocks xmlns:a="http://schemas.openxmlformats.org/drawingml/2006/main" noGrp="1"/>
          </p:cNvSpPr>
          <p:nvPr/>
        </p:nvSpPr>
        <p:spPr>
          <a:xfrm xmlns:a="http://schemas.openxmlformats.org/drawingml/2006/main">
            <a:off x="666750" y="192405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3646"/>
                </a:solidFill>
                <a:latin typeface="Malgun Gothic"/>
                <a:ea typeface="Malgun Gothic"/>
                <a:cs typeface="Malgun Gothic"/>
              </a:defRPr>
            </a:pPr>
            <a:r>
              <a:rPr sz="2100" b="1">
                <a:solidFill>
                  <a:srgbClr val="243646"/>
                </a:solidFill>
                <a:latin typeface="Malgun Gothic"/>
                <a:ea typeface="Malgun Gothic"/>
                <a:cs typeface="Malgun Gothic"/>
              </a:rPr>
              <a:t>기본 저장은 로컬. 온라인 계정·공개 랭킹·상시 서버는 출시 범위에서 제외.</a:t>
            </a:r>
          </a:p>
        </p:txBody>
      </p:sp>
      <p:sp>
        <p:nvSpPr>
          <p:cNvPr id="4" name="">
            <a:extLst xmlns:a="http://schemas.openxmlformats.org/drawingml/2006/main">
              <a:ext uri="{FF2B5EF4-FFF2-40B4-BE49-F238E27FC236}">
                <a16:creationId xmlns:a16="http://schemas.microsoft.com/office/drawing/2014/main" id="{FAF0D572-21A1-4D36-B968-C60AFEE7E451}"/>
              </a:ext>
            </a:extLst>
          </p:cNvPr>
          <p:cNvSpPr>
            <a:spLocks xmlns:a="http://schemas.openxmlformats.org/drawingml/2006/main" noGrp="1"/>
          </p:cNvSpPr>
          <p:nvPr/>
        </p:nvSpPr>
        <p:spPr>
          <a:xfrm xmlns:a="http://schemas.openxmlformats.org/drawingml/2006/main">
            <a:off x="666750" y="292417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테스트 분석은 동의한 참가자에 한해 익명 세션·게임 이벤트를 수집.</a:t>
            </a:r>
          </a:p>
        </p:txBody>
      </p:sp>
      <p:sp>
        <p:nvSpPr>
          <p:cNvPr id="5" name="">
            <a:extLst xmlns:a="http://schemas.openxmlformats.org/drawingml/2006/main">
              <a:ext uri="{FF2B5EF4-FFF2-40B4-BE49-F238E27FC236}">
                <a16:creationId xmlns:a16="http://schemas.microsoft.com/office/drawing/2014/main" id="{8A0A2DB1-C4C6-482F-B5EA-D95092389EA0}"/>
              </a:ext>
            </a:extLst>
          </p:cNvPr>
          <p:cNvSpPr>
            <a:spLocks xmlns:a="http://schemas.openxmlformats.org/drawingml/2006/main" noGrp="1"/>
          </p:cNvSpPr>
          <p:nvPr/>
        </p:nvSpPr>
        <p:spPr>
          <a:xfrm xmlns:a="http://schemas.openxmlformats.org/drawingml/2006/main">
            <a:off x="666750" y="392430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에셋·음원·폰트의 출처와 사용 권한, 외주 결과물 권리를 장부로 관리.</a:t>
            </a:r>
          </a:p>
        </p:txBody>
      </p:sp>
      <p:sp>
        <p:nvSpPr>
          <p:cNvPr id="6" name="">
            <a:extLst xmlns:a="http://schemas.openxmlformats.org/drawingml/2006/main">
              <a:ext uri="{FF2B5EF4-FFF2-40B4-BE49-F238E27FC236}">
                <a16:creationId xmlns:a16="http://schemas.microsoft.com/office/drawing/2014/main" id="{AAF60C16-5702-47FA-8BA0-6A0AE1EF85F6}"/>
              </a:ext>
            </a:extLst>
          </p:cNvPr>
          <p:cNvSpPr>
            <a:spLocks xmlns:a="http://schemas.openxmlformats.org/drawingml/2006/main" noGrp="1"/>
          </p:cNvSpPr>
          <p:nvPr/>
        </p:nvSpPr>
        <p:spPr>
          <a:xfrm xmlns:a="http://schemas.openxmlformats.org/drawingml/2006/main">
            <a:off x="666750" y="492442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출시 국가별 등급·사업·세무 요건과 Steam 콘텐츠 설문은 출시 담당자가 확인.</a:t>
            </a:r>
          </a:p>
        </p:txBody>
      </p:sp>
      <p:sp>
        <p:nvSpPr>
          <p:cNvPr id="7" name="">
            <a:extLst xmlns:a="http://schemas.openxmlformats.org/drawingml/2006/main">
              <a:ext uri="{FF2B5EF4-FFF2-40B4-BE49-F238E27FC236}">
                <a16:creationId xmlns:a16="http://schemas.microsoft.com/office/drawing/2014/main" id="{855BFDC1-E4CB-4262-98EE-AEC0BAAE5E18}"/>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5658EC11-844A-4A91-828C-AFD20C735A26}"/>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39</a:t>
            </a:r>
          </a:p>
        </p:txBody>
      </p:sp>
    </p:spTree>
    <p:extLst>
      <p:ext uri="{BB962C8B-B14F-4D97-AF65-F5344CB8AC3E}">
        <p14:creationId xmlns:p14="http://schemas.microsoft.com/office/powerpoint/2010/main" val="1694589568"/>
      </p:ext>
    </p:extLst>
  </p:cSld>
</p:sld>
</file>

<file path=ppt/slides/slide4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AA2C82-DB12-4F9B-B994-1C4BF5B0962E}"/>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판매 모델과 가격 가설</a:t>
            </a:r>
          </a:p>
        </p:txBody>
      </p:sp>
      <p:sp>
        <p:nvSpPr>
          <p:cNvPr id="2" name="">
            <a:extLst xmlns:a="http://schemas.openxmlformats.org/drawingml/2006/main">
              <a:ext uri="{FF2B5EF4-FFF2-40B4-BE49-F238E27FC236}">
                <a16:creationId xmlns:a16="http://schemas.microsoft.com/office/drawing/2014/main" id="{0E2BF3E3-1E60-49BC-A323-F49D86D0FDD6}"/>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완결된 소규모 PC 유료 게임으로 출시한다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제안</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확정 조건</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기준 가격</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한국 9,900원 / 미국 US$7.99 후보</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데모 반응·콘텐츠량·지역 가격표 검토</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본편</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3동물·3지역·성장·마을 포함</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출시 범위 실제 완성</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무료 데모</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펭귄·눈밭 / 한 판 성장과 보스 체험</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본편 전투 품질을 대표</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추가 매출</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OST 등은 본편 성과 후 검토</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제작비·지원 여력 확보</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운영</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출시 후 안정화와 소규모 개선</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유료 DLC·정기 시즌 약속 없음</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A195EEC-56B5-4F63-83B4-D6F03455ACA6}"/>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91FB22D2-8254-4D82-BA4F-17618FCA1952}"/>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40</a:t>
            </a:r>
          </a:p>
        </p:txBody>
      </p:sp>
    </p:spTree>
    <p:extLst>
      <p:ext uri="{BB962C8B-B14F-4D97-AF65-F5344CB8AC3E}">
        <p14:creationId xmlns:p14="http://schemas.microsoft.com/office/powerpoint/2010/main" val="1246447153"/>
      </p:ext>
    </p:extLst>
  </p:cSld>
</p:sld>
</file>

<file path=ppt/slides/slide4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82B4F4-A34A-44AE-832B-CB16246BF1C9}"/>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데모와 상점 메시지</a:t>
            </a:r>
          </a:p>
        </p:txBody>
      </p:sp>
      <p:sp>
        <p:nvSpPr>
          <p:cNvPr id="2" name="">
            <a:extLst xmlns:a="http://schemas.openxmlformats.org/drawingml/2006/main">
              <a:ext uri="{FF2B5EF4-FFF2-40B4-BE49-F238E27FC236}">
                <a16:creationId xmlns:a16="http://schemas.microsoft.com/office/drawing/2014/main" id="{3AE59718-D19A-4AFB-971A-8FD32748FC60}"/>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실제 플레이로 차별점을 증명한다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제작물</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보여줄 내용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확인할 반응</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10초 짧은 영상</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눈꽃에 적을 걸치며 이동</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조작과 공격을 이해하는가</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45~60초 트레일러</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세 동물·성장 전후·목표·보스</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다시 볼 장면이 있는가</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상점 이미지 5장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전투·분기·지역 차이·결과·마을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실제 출시 기능과 일치하는가</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무료 데모</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눈밭의 완결된12분 한 판</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재도전·완료·구매 의향</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보도 자료</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설명·개발자 정보·스크린샷·영상</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연락처와 다운로드 경로가 명확한가</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295DD8F-94C2-4ED5-BEBB-47B8C72DBAA2}"/>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A32867C4-95E8-4C16-9175-AD5911DF02AF}"/>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41</a:t>
            </a:r>
          </a:p>
        </p:txBody>
      </p:sp>
    </p:spTree>
    <p:extLst>
      <p:ext uri="{BB962C8B-B14F-4D97-AF65-F5344CB8AC3E}">
        <p14:creationId xmlns:p14="http://schemas.microsoft.com/office/powerpoint/2010/main" val="1404286713"/>
      </p:ext>
    </p:extLst>
  </p:cSld>
</p:sld>
</file>

<file path=ppt/slides/slide4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ECFB1F-87B0-4627-8FE1-171A2E845DD4}"/>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출시 전 마케팅 일정</a:t>
            </a:r>
          </a:p>
        </p:txBody>
      </p:sp>
      <p:sp>
        <p:nvSpPr>
          <p:cNvPr id="2" name="">
            <a:extLst xmlns:a="http://schemas.openxmlformats.org/drawingml/2006/main">
              <a:ext uri="{FF2B5EF4-FFF2-40B4-BE49-F238E27FC236}">
                <a16:creationId xmlns:a16="http://schemas.microsoft.com/office/drawing/2014/main" id="{7331C209-9CFB-4E4F-8406-B1A6A00CA5D8}"/>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개발의 실제 완성도에 맞춰 노출을 늘린다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시기</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작업</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판단 기준</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W5~8</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핵심 영상·상점 초안·소규모 테스트</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움직임과 공격 차이가 보임</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W9~12</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상점 공개 준비·짧은 영상 반복</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완성된 펭귄과 첫 지역 확보</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W13~16</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데모·외부 피드백·행사 준비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저장·조작·성능 치명문제 없음</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W17~20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적합한 Next Fest 검토·미디어 자료</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출시 전 행사 자격·일정 충족</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W21~24</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리뷰 빌드·출시 영상·고객 대응 준비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품질 기준 통과 후 출시</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E09A6AA-D9D8-4E2A-827F-30F2036A8F88}"/>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C05A4EF2-CBE9-4122-B21B-633396593825}"/>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42</a:t>
            </a:r>
          </a:p>
        </p:txBody>
      </p:sp>
    </p:spTree>
    <p:extLst>
      <p:ext uri="{BB962C8B-B14F-4D97-AF65-F5344CB8AC3E}">
        <p14:creationId xmlns:p14="http://schemas.microsoft.com/office/powerpoint/2010/main" val="459803140"/>
      </p:ext>
    </p:extLst>
  </p:cSld>
</p:sld>
</file>

<file path=ppt/slides/slide4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97F107-A9A4-49E6-9CF1-BA2E01D38AC5}"/>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퍼널과 마케팅 실험</a:t>
            </a:r>
          </a:p>
        </p:txBody>
      </p:sp>
      <p:sp>
        <p:nvSpPr>
          <p:cNvPr id="2" name="">
            <a:extLst xmlns:a="http://schemas.openxmlformats.org/drawingml/2006/main">
              <a:ext uri="{FF2B5EF4-FFF2-40B4-BE49-F238E27FC236}">
                <a16:creationId xmlns:a16="http://schemas.microsoft.com/office/drawing/2014/main" id="{51387C78-FCB5-455E-B31B-5C9141C2C75F}"/>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위시리스트 수를 매출로 단정하지 않는다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구간</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측정</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실행</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노출→상점</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채널별 추적 방문 수</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영상 첫5초 2안 비교</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상점→관심</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신규 위시리스트 / 추적 방문</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캡슐과 문구의 약속 일치 점검</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데모 시작→완료</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고유 시작·완료 세션 비율</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초반 이탈 위치 개선</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완료→재도전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같은 테스트 기간 재시작 비율</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캐릭터·분기 소개 개선</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구매→만족</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환불 사유·버그·피드백</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약속한 콘텐츠와 품질 점검</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31A6F65-A567-4B72-AE02-B8EF9B475D02}"/>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BEE1E6BC-8231-4024-88B0-1518C43FB87E}"/>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43</a:t>
            </a:r>
          </a:p>
        </p:txBody>
      </p:sp>
    </p:spTree>
    <p:extLst>
      <p:ext uri="{BB962C8B-B14F-4D97-AF65-F5344CB8AC3E}">
        <p14:creationId xmlns:p14="http://schemas.microsoft.com/office/powerpoint/2010/main" val="912232444"/>
      </p:ext>
    </p:extLst>
  </p:cSld>
</p:sld>
</file>

<file path=ppt/slides/slide4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20C65F-5DF6-4109-8BFE-AD496D38164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제작 조직과 24주 계획</a:t>
            </a:r>
          </a:p>
        </p:txBody>
      </p:sp>
      <p:sp>
        <p:nvSpPr>
          <p:cNvPr id="2" name="">
            <a:extLst xmlns:a="http://schemas.openxmlformats.org/drawingml/2006/main">
              <a:ext uri="{FF2B5EF4-FFF2-40B4-BE49-F238E27FC236}">
                <a16:creationId xmlns:a16="http://schemas.microsoft.com/office/drawing/2014/main" id="{20505CBE-CA25-4D45-B45F-C1D9E998252B}"/>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3명 전담에 외부 제작을 더하는 기준 시나리오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190750"/>
                <a:gridCol w="4000500"/>
                <a:gridCol w="4743450"/>
              </a:tblGrid>
              <a:tr h="571500">
                <a:tc>
                  <a:txBody>
                    <a:bodyPr>
                      <a:noAutofit/>
                    </a:bodyPr>
                    <a:lstStyle/>
                    <a:p>
                      <a:r>
                        <a:rPr sz="1725" b="1">
                          <a:solidFill>
                            <a:srgbClr val="427D86"/>
                          </a:solidFill>
                          <a:latin typeface="Malgun Gothic"/>
                          <a:ea typeface="Malgun Gothic"/>
                          <a:cs typeface="Malgun Gothic"/>
                        </a:rPr>
                        <a:t>기간</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담당과 산출물</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통과 조건</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W1~4</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기획·개발: 펭귄 루프와 포팅 검증</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능동 이동 재미·데스크톱 동작</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W5~8</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개발·아트: 성장과 첫 지역 완성</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한 판의 시작·성장·보스·결과</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W9~12</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전체: 동물3종·지역2개</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공통 시스템 재사용 확인</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W13~16</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전체: 지역3·마을·데모</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출시 콘텐츠 기능 완료</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W17~20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QA·현지화·마케팅</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외부 검증·밸런스·행사 준비</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W21~24</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전체: 최적화·회귀·출시</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출시 차단 결함0건</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FA7E6E7B-1CB4-430E-8DAE-41588F89E812}"/>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88C9DCF6-5C02-471A-88DF-497CF0248255}"/>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44</a:t>
            </a:r>
          </a:p>
        </p:txBody>
      </p:sp>
    </p:spTree>
    <p:extLst>
      <p:ext uri="{BB962C8B-B14F-4D97-AF65-F5344CB8AC3E}">
        <p14:creationId xmlns:p14="http://schemas.microsoft.com/office/powerpoint/2010/main" val="225163328"/>
      </p:ext>
    </p:extLst>
  </p:cSld>
</p:sld>
</file>

<file path=ppt/slides/slide4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CEEE9D-29B7-4BAE-AC98-F1E22044C9D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예산 기준 시나리오</a:t>
            </a:r>
          </a:p>
        </p:txBody>
      </p:sp>
      <p:sp>
        <p:nvSpPr>
          <p:cNvPr id="2" name="">
            <a:extLst xmlns:a="http://schemas.openxmlformats.org/drawingml/2006/main">
              <a:ext uri="{FF2B5EF4-FFF2-40B4-BE49-F238E27FC236}">
                <a16:creationId xmlns:a16="http://schemas.microsoft.com/office/drawing/2014/main" id="{FC9EF45F-4291-4C24-A823-19131C1AF8DB}"/>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단위: 만원 / 견적과 실제 계약 전의 계획 가정</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190750"/>
                <a:gridCol w="4000500"/>
                <a:gridCol w="4743450"/>
              </a:tblGrid>
              <a:tr h="5715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산식</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금액</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내부 인력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3명 × 6개월 × 월400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7,200</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외부 제작·QA·번역</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패키지 가정</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1,200</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마케팅 제작·소액 실험</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총 한도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600</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도구·장비·운영</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총 한도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600</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소계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7,200+1,200+600+600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9,600</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예비비 / 총계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소계15% / 소계+예비비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1,440 / 11,040</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79C88207-531A-4D67-B66C-712AE2F0BD2C}"/>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1CC372BA-CBB1-40CB-AEDD-32709D9449E7}"/>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45</a:t>
            </a:r>
          </a:p>
        </p:txBody>
      </p:sp>
    </p:spTree>
    <p:extLst>
      <p:ext uri="{BB962C8B-B14F-4D97-AF65-F5344CB8AC3E}">
        <p14:creationId xmlns:p14="http://schemas.microsoft.com/office/powerpoint/2010/main" val="280053846"/>
      </p:ext>
    </p:extLst>
  </p:cSld>
</p:sld>
</file>

<file path=ppt/slides/slide4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87D469-4260-4C8A-9F51-3D1E624B79D3}"/>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손익분기와 판매 시나리오</a:t>
            </a:r>
          </a:p>
        </p:txBody>
      </p:sp>
      <p:sp>
        <p:nvSpPr>
          <p:cNvPr id="2" name="">
            <a:extLst xmlns:a="http://schemas.openxmlformats.org/drawingml/2006/main">
              <a:ext uri="{FF2B5EF4-FFF2-40B4-BE49-F238E27FC236}">
                <a16:creationId xmlns:a16="http://schemas.microsoft.com/office/drawing/2014/main" id="{F1DE7789-7197-40E6-B0E4-16FB1DF2B3F1}"/>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매출 예측이 아닌 민감도 계산이다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190750"/>
                <a:gridCol w="4000500"/>
                <a:gridCol w="4743450"/>
              </a:tblGrid>
              <a:tr h="571500">
                <a:tc>
                  <a:txBody>
                    <a:bodyPr>
                      <a:noAutofit/>
                    </a:bodyPr>
                    <a:lstStyle/>
                    <a:p>
                      <a:r>
                        <a:rPr sz="1725" b="1">
                          <a:solidFill>
                            <a:srgbClr val="427D86"/>
                          </a:solidFill>
                          <a:latin typeface="Malgun Gothic"/>
                          <a:ea typeface="Malgun Gothic"/>
                          <a:cs typeface="Malgun Gothic"/>
                        </a:rPr>
                        <a:t>항목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가정·계산</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결과</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평균 결제액</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할인·지역 믹스 반영 가정</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8,500원</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장당 기여액</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8,500×0.93×0.90×0.70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약4,980원</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손익분기 판매량</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110,400,000 / 4,980.15 올림</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22,169장</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5,000장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기여액 2,490만원 - 비용</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약 -8,550만원</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15,000장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기여액 7,470만원 - 비용</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약 -3,570만원</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30,000장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기여액 14,940만원 - 비용</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약 +3,900만원</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55FD5442-17FB-4F5B-BDB4-2DBD1ED4ED7E}"/>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10A2D1C9-C76F-4972-BA5C-DB56FBE95589}"/>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46</a:t>
            </a:r>
          </a:p>
        </p:txBody>
      </p:sp>
    </p:spTree>
    <p:extLst>
      <p:ext uri="{BB962C8B-B14F-4D97-AF65-F5344CB8AC3E}">
        <p14:creationId xmlns:p14="http://schemas.microsoft.com/office/powerpoint/2010/main" val="359670033"/>
      </p:ext>
    </p:extLst>
  </p:cSld>
</p:sld>
</file>

<file path=ppt/slides/slide4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90B8C9-DCBD-4651-9ECD-7DCDFBF1553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비용과 단가 민감도</a:t>
            </a:r>
          </a:p>
        </p:txBody>
      </p:sp>
      <p:sp>
        <p:nvSpPr>
          <p:cNvPr id="2" name="">
            <a:extLst xmlns:a="http://schemas.openxmlformats.org/drawingml/2006/main">
              <a:ext uri="{FF2B5EF4-FFF2-40B4-BE49-F238E27FC236}">
                <a16:creationId xmlns:a16="http://schemas.microsoft.com/office/drawing/2014/main" id="{5ED22008-5304-432D-97FD-535AB682026A}"/>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필요 판매량을 범위로 보고 규모를 조정한다</a:t>
            </a:r>
          </a:p>
        </p:txBody>
      </p:sp>
      <p:graphicFrame>
        <p:nvGraphicFramePr>
          <p:cNvPr id="8" name=""/>
          <p:cNvGraphicFramePr/>
          <p:nvPr/>
        </p:nvGraphicFramePr>
        <p:xfrm>
          <a:off xmlns:a="http://schemas.openxmlformats.org/drawingml/2006/main" x="628650" y="1876425"/>
          <a:ext xmlns:a="http://schemas.openxmlformats.org/drawingml/2006/main" cx="10934700" cy="2438400"/>
        </p:xfrm>
        <a:graphic xmlns:a="http://schemas.openxmlformats.org/drawingml/2006/main">
          <a:graphicData uri="http://schemas.openxmlformats.org/drawingml/2006/table">
            <a:tbl>
              <a:tblPr/>
              <a:tblGrid>
                <a:gridCol w="2238375"/>
                <a:gridCol w="2905125"/>
                <a:gridCol w="2886075"/>
                <a:gridCol w="2905125"/>
              </a:tblGrid>
              <a:tr h="609600">
                <a:tc>
                  <a:txBody>
                    <a:bodyPr>
                      <a:noAutofit/>
                    </a:bodyPr>
                    <a:lstStyle/>
                    <a:p>
                      <a:r>
                        <a:rPr sz="1725" b="1">
                          <a:solidFill>
                            <a:srgbClr val="427D86"/>
                          </a:solidFill>
                          <a:latin typeface="Malgun Gothic"/>
                          <a:ea typeface="Malgun Gothic"/>
                          <a:cs typeface="Malgun Gothic"/>
                        </a:rPr>
                        <a:t>총 비용</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장당4,000원</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장당5,000원</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장당6,000원</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6,000만원</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15,000장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12,000장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10,000장</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1억1,040만원</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27,600장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22,080장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18,400장</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1억5,000만원</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37,500장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30,000장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25,000장</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0938CFA-E6C6-4BC1-A108-BB155EAD0F72}"/>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5B615C2A-E12D-4B73-B2CE-20F069DBBFCC}"/>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47</a:t>
            </a:r>
          </a:p>
        </p:txBody>
      </p:sp>
    </p:spTree>
    <p:extLst>
      <p:ext uri="{BB962C8B-B14F-4D97-AF65-F5344CB8AC3E}">
        <p14:creationId xmlns:p14="http://schemas.microsoft.com/office/powerpoint/2010/main" val="2113641199"/>
      </p:ext>
    </p:extLst>
  </p:cSld>
</p:sld>
</file>

<file path=ppt/slides/slide4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AC4B1A-B923-4638-BE78-7203C81F864D}"/>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단계별 계속·축소·보류 결정</a:t>
            </a:r>
          </a:p>
        </p:txBody>
      </p:sp>
      <p:sp>
        <p:nvSpPr>
          <p:cNvPr id="2" name="">
            <a:extLst xmlns:a="http://schemas.openxmlformats.org/drawingml/2006/main">
              <a:ext uri="{FF2B5EF4-FFF2-40B4-BE49-F238E27FC236}">
                <a16:creationId xmlns:a16="http://schemas.microsoft.com/office/drawing/2014/main" id="{7C2B7F55-99E6-48EE-9E12-0B21A04BA539}"/>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개발 완료율보다 위험이 해소됐는지 확인한다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190750"/>
                <a:gridCol w="4000500"/>
                <a:gridCol w="4743450"/>
              </a:tblGrid>
              <a:tr h="609600">
                <a:tc>
                  <a:txBody>
                    <a:bodyPr>
                      <a:noAutofit/>
                    </a:bodyPr>
                    <a:lstStyle/>
                    <a:p>
                      <a:r>
                        <a:rPr sz="1725" b="1">
                          <a:solidFill>
                            <a:srgbClr val="427D86"/>
                          </a:solidFill>
                          <a:latin typeface="Malgun Gothic"/>
                          <a:ea typeface="Malgun Gothic"/>
                          <a:cs typeface="Malgun Gothic"/>
                        </a:rPr>
                        <a:t>시점</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계속 조건</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미달 시 조치</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W4 핵심 재미</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능동 이동의 효용·자발적 재도전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2주 재설계 / 신규 콘텐츠 중단</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W8 첫 완성 구간</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성장·목표·보스가 한 판에 연결</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범위 축소와 일정 재산정</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W16 데모</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치명결함 없음·외부 반응 수집</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공개 행사 참가 연기</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W20 사업 검토</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잔여현금·품질·유입 개선 근거</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광고 확대 중단 / 출시창 재검토</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출시 직전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약속한 기능·권리·품질 기준 충족</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결함 수정 후 출시</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6B8074F-AEC9-45B7-94BC-413690123ADF}"/>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45F74AAB-5068-435E-A5E4-CE42D15A4FC5}"/>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48</a:t>
            </a:r>
          </a:p>
        </p:txBody>
      </p:sp>
    </p:spTree>
    <p:extLst>
      <p:ext uri="{BB962C8B-B14F-4D97-AF65-F5344CB8AC3E}">
        <p14:creationId xmlns:p14="http://schemas.microsoft.com/office/powerpoint/2010/main" val="928455871"/>
      </p:ext>
    </p:extLst>
  </p:cSld>
</p:sld>
</file>

<file path=ppt/slides/slide4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60402F-C684-4869-8606-B2B01EDD8366}"/>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출시 절차와 첫 30일</a:t>
            </a:r>
          </a:p>
        </p:txBody>
      </p:sp>
      <p:sp>
        <p:nvSpPr>
          <p:cNvPr id="2" name="">
            <a:extLst xmlns:a="http://schemas.openxmlformats.org/drawingml/2006/main">
              <a:ext uri="{FF2B5EF4-FFF2-40B4-BE49-F238E27FC236}">
                <a16:creationId xmlns:a16="http://schemas.microsoft.com/office/drawing/2014/main" id="{11B5CE05-8167-438E-87B9-8D60044A54E6}"/>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공개 전 검토와 공개 후 대응을 작업량에 포함한다</a:t>
            </a:r>
          </a:p>
        </p:txBody>
      </p:sp>
      <p:graphicFrame>
        <p:nvGraphicFramePr>
          <p:cNvPr id="8" name=""/>
          <p:cNvGraphicFramePr/>
          <p:nvPr/>
        </p:nvGraphicFramePr>
        <p:xfrm>
          <a:off xmlns:a="http://schemas.openxmlformats.org/drawingml/2006/main" x="628650" y="1876425"/>
          <a:ext xmlns:a="http://schemas.openxmlformats.org/drawingml/2006/main" cx="10934700" cy="3657600"/>
        </p:xfrm>
        <a:graphic xmlns:a="http://schemas.openxmlformats.org/drawingml/2006/main">
          <a:graphicData uri="http://schemas.openxmlformats.org/drawingml/2006/table">
            <a:tbl>
              <a:tblPr/>
              <a:tblGrid>
                <a:gridCol w="2333625"/>
                <a:gridCol w="8601075"/>
              </a:tblGrid>
              <a:tr h="609600">
                <a:tc>
                  <a:txBody>
                    <a:bodyPr>
                      <a:noAutofit/>
                    </a:bodyPr>
                    <a:lstStyle/>
                    <a:p>
                      <a:r>
                        <a:rPr sz="1725" b="1">
                          <a:solidFill>
                            <a:srgbClr val="427D86"/>
                          </a:solidFill>
                          <a:latin typeface="Malgun Gothic"/>
                          <a:ea typeface="Malgun Gothic"/>
                          <a:cs typeface="Malgun Gothic"/>
                        </a:rPr>
                        <a:t>구간</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준비·대응</a:t>
                      </a:r>
                    </a:p>
                  </a:txBody>
                  <a:tcPr marL="114300" marR="114300" marT="66675" marB="66675" anchor="ctr">
                    <a:solidFill>
                      <a:srgbClr val="E3EDF0"/>
                    </a:solidFill>
                  </a:tcPr>
                </a:tc>
              </a:tr>
              <a:tr h="609600">
                <a:tc>
                  <a:txBody>
                    <a:bodyPr>
                      <a:noAutofit/>
                    </a:bodyPr>
                    <a:lstStyle/>
                    <a:p>
                      <a:r>
                        <a:rPr sz="1725" b="0">
                          <a:solidFill>
                            <a:srgbClr val="243646"/>
                          </a:solidFill>
                          <a:latin typeface="Malgun Gothic"/>
                          <a:ea typeface="Malgun Gothic"/>
                          <a:cs typeface="Malgun Gothic"/>
                        </a:rPr>
                        <a:t>출시 준비</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상점·빌드 심사, 가격·콘텐츠 설문·등급 확인</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출시 전 검증</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오프라인·패드·중단저장·새 설치·업데이트 검사</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D0~3</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크래시·저장손실·진행불가 우선 대응</a:t>
                      </a:r>
                    </a:p>
                  </a:txBody>
                  <a:tcPr marL="114300" marR="114300" marT="66675" marB="66675" anchor="ctr">
                    <a:solidFill>
                      <a:srgbClr val="FFFFFF"/>
                    </a:solidFill>
                  </a:tcPr>
                </a:tc>
              </a:tr>
              <a:tr h="609600">
                <a:tc>
                  <a:txBody>
                    <a:bodyPr>
                      <a:noAutofit/>
                    </a:bodyPr>
                    <a:lstStyle/>
                    <a:p>
                      <a:r>
                        <a:rPr sz="1725" b="0">
                          <a:solidFill>
                            <a:srgbClr val="243646"/>
                          </a:solidFill>
                          <a:latin typeface="Malgun Gothic"/>
                          <a:ea typeface="Malgun Gothic"/>
                          <a:cs typeface="Malgun Gothic"/>
                        </a:rPr>
                        <a:t>D4~14</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반복 버그·난도 급경사·설명 부족 개선</a:t>
                      </a:r>
                    </a:p>
                  </a:txBody>
                  <a:tcPr marL="114300" marR="114300" marT="66675" marB="66675" anchor="ctr">
                    <a:solidFill>
                      <a:srgbClr val="F7F6F2"/>
                    </a:solidFill>
                  </a:tcPr>
                </a:tc>
              </a:tr>
              <a:tr h="609600">
                <a:tc>
                  <a:txBody>
                    <a:bodyPr>
                      <a:noAutofit/>
                    </a:bodyPr>
                    <a:lstStyle/>
                    <a:p>
                      <a:r>
                        <a:rPr sz="1725" b="0">
                          <a:solidFill>
                            <a:srgbClr val="243646"/>
                          </a:solidFill>
                          <a:latin typeface="Malgun Gothic"/>
                          <a:ea typeface="Malgun Gothic"/>
                          <a:cs typeface="Malgun Gothic"/>
                        </a:rPr>
                        <a:t>D15~30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환불 사유·판매·지원비 검토 후 다음 업데이트 결정</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180C5C8-B713-4C36-900D-B005C1C4E42A}"/>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9444AB2B-DB5D-4965-994F-7A1C742B0941}"/>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49</a:t>
            </a:r>
          </a:p>
        </p:txBody>
      </p:sp>
    </p:spTree>
    <p:extLst>
      <p:ext uri="{BB962C8B-B14F-4D97-AF65-F5344CB8AC3E}">
        <p14:creationId xmlns:p14="http://schemas.microsoft.com/office/powerpoint/2010/main" val="697550790"/>
      </p:ext>
    </p:extLst>
  </p:cSld>
</p:sld>
</file>

<file path=ppt/slides/slide5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D566C8-E400-4D99-8BB8-8BC3C88E5372}"/>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v0.2 적용 추적표</a:t>
            </a:r>
          </a:p>
        </p:txBody>
      </p:sp>
      <p:sp>
        <p:nvSpPr>
          <p:cNvPr id="2" name="">
            <a:extLst xmlns:a="http://schemas.openxmlformats.org/drawingml/2006/main">
              <a:ext uri="{FF2B5EF4-FFF2-40B4-BE49-F238E27FC236}">
                <a16:creationId xmlns:a16="http://schemas.microsoft.com/office/drawing/2014/main" id="{ACCFE1F8-328F-4EFF-8262-47CC2918F406}"/>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원본을 보존하고 변경 사항을 작업 단위로 전달한다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190750"/>
                <a:gridCol w="4000500"/>
                <a:gridCol w="4743450"/>
              </a:tblGrid>
              <a:tr h="571500">
                <a:tc>
                  <a:txBody>
                    <a:bodyPr>
                      <a:noAutofit/>
                    </a:bodyPr>
                    <a:lstStyle/>
                    <a:p>
                      <a:r>
                        <a:rPr sz="1725" b="1">
                          <a:solidFill>
                            <a:srgbClr val="427D86"/>
                          </a:solidFill>
                          <a:latin typeface="Malgun Gothic"/>
                          <a:ea typeface="Malgun Gothic"/>
                          <a:cs typeface="Malgun Gothic"/>
                        </a:rPr>
                        <a:t>원본 쪽</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처리</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새 작업</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2~6</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범위·진입·종료 수정</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주 모드, 지역 선택, 패드, 중단 재개</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7~10·16</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기본 공격 유지·성장 추가</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무기 레벨5와 최종 분기</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11~13</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적·생성 확장</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6역할, 지역별 구성, 정예·보스</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14</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기록·보상 확장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난도별 기록, 마을 별, 도감</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15~22</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표현 규격 통일</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픽셀3동물, 보스·목표·오디오</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23~28</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구조·검증·계획 확장</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데이터·QA·예산·출시 게이트</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99640690-3C1F-4C03-BD52-F96CE7523281}"/>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AC590045-0AA2-4AFF-8AE3-FD4041832099}"/>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50</a:t>
            </a:r>
          </a:p>
        </p:txBody>
      </p:sp>
    </p:spTree>
    <p:extLst>
      <p:ext uri="{BB962C8B-B14F-4D97-AF65-F5344CB8AC3E}">
        <p14:creationId xmlns:p14="http://schemas.microsoft.com/office/powerpoint/2010/main" val="946765644"/>
      </p:ext>
    </p:extLst>
  </p:cSld>
</p:sld>
</file>

<file path=ppt/slides/slide5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9F8C58-46AC-4DDD-A534-D0AE6304B2A7}"/>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첫 2주 개발 전달 목록</a:t>
            </a:r>
          </a:p>
        </p:txBody>
      </p:sp>
      <p:sp>
        <p:nvSpPr>
          <p:cNvPr id="2" name="">
            <a:extLst xmlns:a="http://schemas.openxmlformats.org/drawingml/2006/main">
              <a:ext uri="{FF2B5EF4-FFF2-40B4-BE49-F238E27FC236}">
                <a16:creationId xmlns:a16="http://schemas.microsoft.com/office/drawing/2014/main" id="{E5080D9B-842B-452F-8482-95AF3ECA33D6}"/>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펭귄으로 상용 루프의 위험부터 확인한다</a:t>
            </a:r>
          </a:p>
        </p:txBody>
      </p:sp>
      <p:graphicFrame>
        <p:nvGraphicFramePr>
          <p:cNvPr id="8" name=""/>
          <p:cNvGraphicFramePr/>
          <p:nvPr/>
        </p:nvGraphicFramePr>
        <p:xfrm>
          <a:off xmlns:a="http://schemas.openxmlformats.org/drawingml/2006/main" x="628650" y="1876425"/>
          <a:ext xmlns:a="http://schemas.openxmlformats.org/drawingml/2006/main" cx="10934700" cy="4000500"/>
        </p:xfrm>
        <a:graphic xmlns:a="http://schemas.openxmlformats.org/drawingml/2006/main">
          <a:graphicData uri="http://schemas.openxmlformats.org/drawingml/2006/table">
            <a:tbl>
              <a:tblPr/>
              <a:tblGrid>
                <a:gridCol w="2190750"/>
                <a:gridCol w="4000500"/>
                <a:gridCol w="4743450"/>
              </a:tblGrid>
              <a:tr h="571500">
                <a:tc>
                  <a:txBody>
                    <a:bodyPr>
                      <a:noAutofit/>
                    </a:bodyPr>
                    <a:lstStyle/>
                    <a:p>
                      <a:r>
                        <a:rPr sz="1725" b="1">
                          <a:solidFill>
                            <a:srgbClr val="427D86"/>
                          </a:solidFill>
                          <a:latin typeface="Malgun Gothic"/>
                          <a:ea typeface="Malgun Gothic"/>
                          <a:cs typeface="Malgun Gothic"/>
                        </a:rPr>
                        <a:t>우선</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작업</a:t>
                      </a:r>
                    </a:p>
                  </a:txBody>
                  <a:tcPr marL="114300" marR="114300" marT="66675" marB="66675" anchor="ctr">
                    <a:solidFill>
                      <a:srgbClr val="E3EDF0"/>
                    </a:solidFill>
                  </a:tcPr>
                </a:tc>
                <a:tc>
                  <a:txBody>
                    <a:bodyPr>
                      <a:noAutofit/>
                    </a:bodyPr>
                    <a:lstStyle/>
                    <a:p>
                      <a:r>
                        <a:rPr sz="1725" b="1">
                          <a:solidFill>
                            <a:srgbClr val="427D86"/>
                          </a:solidFill>
                          <a:latin typeface="Malgun Gothic"/>
                          <a:ea typeface="Malgun Gothic"/>
                          <a:cs typeface="Malgun Gothic"/>
                        </a:rPr>
                        <a:t>완료 증거</a:t>
                      </a:r>
                    </a:p>
                  </a:txBody>
                  <a:tcPr marL="114300" marR="114300" marT="66675" marB="66675" anchor="ctr">
                    <a:solidFill>
                      <a:srgbClr val="E3EDF0"/>
                    </a:solidFill>
                  </a:tcPr>
                </a:tc>
              </a:tr>
              <a:tr h="571500">
                <a:tc>
                  <a:txBody>
                    <a:bodyPr>
                      <a:noAutofit/>
                    </a:bodyPr>
                    <a:lstStyle/>
                    <a:p>
                      <a:r>
                        <a:rPr sz="1725" b="0">
                          <a:solidFill>
                            <a:srgbClr val="243646"/>
                          </a:solidFill>
                          <a:latin typeface="Malgun Gothic"/>
                          <a:ea typeface="Malgun Gothic"/>
                          <a:cs typeface="Malgun Gothic"/>
                        </a:rPr>
                        <a:t>P0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현재 코드·엔진·에셋·저장 현황 확인</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구현/미구현 목록과 실행 빌드</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P0</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펭귄 판정·거리조절 계측</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시드3개×전략3개×3회 기록</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P0</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데스크톱·패드·중단저장 기술 검증</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새 설치·재개·오프라인 테스트</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P1</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경험치·3택1·펭귄 최종분기</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레벨1~15 완주 녹화</a:t>
                      </a:r>
                    </a:p>
                  </a:txBody>
                  <a:tcPr marL="114300" marR="114300" marT="66675" marB="66675" anchor="ctr">
                    <a:solidFill>
                      <a:srgbClr val="F7F6F2"/>
                    </a:solidFill>
                  </a:tcPr>
                </a:tc>
              </a:tr>
              <a:tr h="571500">
                <a:tc>
                  <a:txBody>
                    <a:bodyPr>
                      <a:noAutofit/>
                    </a:bodyPr>
                    <a:lstStyle/>
                    <a:p>
                      <a:r>
                        <a:rPr sz="1725" b="0">
                          <a:solidFill>
                            <a:srgbClr val="243646"/>
                          </a:solidFill>
                          <a:latin typeface="Malgun Gothic"/>
                          <a:ea typeface="Malgun Gothic"/>
                          <a:cs typeface="Malgun Gothic"/>
                        </a:rPr>
                        <a:t>P1</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첫 목표와 눈구름 보스 초안</a:t>
                      </a:r>
                    </a:p>
                  </a:txBody>
                  <a:tcPr marL="114300" marR="114300" marT="66675" marB="66675" anchor="ctr">
                    <a:solidFill>
                      <a:srgbClr val="FFFFFF"/>
                    </a:solidFill>
                  </a:tcPr>
                </a:tc>
                <a:tc>
                  <a:txBody>
                    <a:bodyPr>
                      <a:noAutofit/>
                    </a:bodyPr>
                    <a:lstStyle/>
                    <a:p>
                      <a:r>
                        <a:rPr sz="1725" b="0">
                          <a:solidFill>
                            <a:srgbClr val="243646"/>
                          </a:solidFill>
                          <a:latin typeface="Malgun Gothic"/>
                          <a:ea typeface="Malgun Gothic"/>
                          <a:cs typeface="Malgun Gothic"/>
                        </a:rPr>
                        <a:t>회피 가능 경로·승패 결과</a:t>
                      </a:r>
                    </a:p>
                  </a:txBody>
                  <a:tcPr marL="114300" marR="114300" marT="66675" marB="66675" anchor="ctr">
                    <a:solidFill>
                      <a:srgbClr val="FFFFFF"/>
                    </a:solidFill>
                  </a:tcPr>
                </a:tc>
              </a:tr>
              <a:tr h="571500">
                <a:tc>
                  <a:txBody>
                    <a:bodyPr>
                      <a:noAutofit/>
                    </a:bodyPr>
                    <a:lstStyle/>
                    <a:p>
                      <a:r>
                        <a:rPr sz="1725" b="0">
                          <a:solidFill>
                            <a:srgbClr val="243646"/>
                          </a:solidFill>
                          <a:latin typeface="Malgun Gothic"/>
                          <a:ea typeface="Malgun Gothic"/>
                          <a:cs typeface="Malgun Gothic"/>
                        </a:rPr>
                        <a:t>P1</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외부 테스트와 비용 재산정</a:t>
                      </a:r>
                    </a:p>
                  </a:txBody>
                  <a:tcPr marL="114300" marR="114300" marT="66675" marB="66675" anchor="ctr">
                    <a:solidFill>
                      <a:srgbClr val="F7F6F2"/>
                    </a:solidFill>
                  </a:tcPr>
                </a:tc>
                <a:tc>
                  <a:txBody>
                    <a:bodyPr>
                      <a:noAutofit/>
                    </a:bodyPr>
                    <a:lstStyle/>
                    <a:p>
                      <a:r>
                        <a:rPr sz="1725" b="0">
                          <a:solidFill>
                            <a:srgbClr val="243646"/>
                          </a:solidFill>
                          <a:latin typeface="Malgun Gothic"/>
                          <a:ea typeface="Malgun Gothic"/>
                          <a:cs typeface="Malgun Gothic"/>
                        </a:rPr>
                        <a:t>관찰기록·실제 인력/견적 반영</a:t>
                      </a:r>
                    </a:p>
                  </a:txBody>
                  <a:tcPr marL="114300" marR="114300" marT="66675" marB="66675" anchor="ctr">
                    <a:solidFill>
                      <a:srgbClr val="F7F6F2"/>
                    </a:solidFill>
                  </a:tcPr>
                </a:tc>
              </a:tr>
            </a:tbl>
          </a:graphicData>
        </a:graphic>
      </p:graphicFrame>
      <p:sp>
        <p:nvSpPr>
          <p:cNvPr id="4" name="">
            <a:extLst xmlns:a="http://schemas.openxmlformats.org/drawingml/2006/main">
              <a:ext uri="{FF2B5EF4-FFF2-40B4-BE49-F238E27FC236}">
                <a16:creationId xmlns:a16="http://schemas.microsoft.com/office/drawing/2014/main" id="{5412AE35-1421-48AA-9DF6-706EBD62108A}"/>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5" name="">
            <a:extLst xmlns:a="http://schemas.openxmlformats.org/drawingml/2006/main">
              <a:ext uri="{FF2B5EF4-FFF2-40B4-BE49-F238E27FC236}">
                <a16:creationId xmlns:a16="http://schemas.microsoft.com/office/drawing/2014/main" id="{3480DD63-57FE-42E5-A38F-F64CD1E1AB70}"/>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51</a:t>
            </a:r>
          </a:p>
        </p:txBody>
      </p:sp>
    </p:spTree>
    <p:extLst>
      <p:ext uri="{BB962C8B-B14F-4D97-AF65-F5344CB8AC3E}">
        <p14:creationId xmlns:p14="http://schemas.microsoft.com/office/powerpoint/2010/main" val="1653493478"/>
      </p:ext>
    </p:extLst>
  </p:cSld>
</p:sld>
</file>

<file path=ppt/slides/slide5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5C635E-01E2-4ECF-A79C-3B70A3A86496}"/>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243646"/>
                </a:solidFill>
                <a:latin typeface="Malgun Gothic"/>
                <a:ea typeface="Malgun Gothic"/>
                <a:cs typeface="Malgun Gothic"/>
              </a:defRPr>
            </a:pPr>
            <a:r>
              <a:rPr sz="3150" b="1">
                <a:solidFill>
                  <a:srgbClr val="243646"/>
                </a:solidFill>
                <a:latin typeface="Malgun Gothic"/>
                <a:ea typeface="Malgun Gothic"/>
                <a:cs typeface="Malgun Gothic"/>
              </a:rPr>
              <a:t>레퍼런스와 근거의 범위</a:t>
            </a:r>
          </a:p>
        </p:txBody>
      </p:sp>
      <p:sp>
        <p:nvSpPr>
          <p:cNvPr id="2" name="">
            <a:extLst xmlns:a="http://schemas.openxmlformats.org/drawingml/2006/main">
              <a:ext uri="{FF2B5EF4-FFF2-40B4-BE49-F238E27FC236}">
                <a16:creationId xmlns:a16="http://schemas.microsoft.com/office/drawing/2014/main" id="{F4BCBB7F-AA41-4B93-93AB-3B34588AF605}"/>
              </a:ext>
            </a:extLst>
          </p:cNvPr>
          <p:cNvSpPr>
            <a:spLocks xmlns:a="http://schemas.openxmlformats.org/drawingml/2006/main" noGrp="1"/>
          </p:cNvSpPr>
          <p:nvPr/>
        </p:nvSpPr>
        <p:spPr>
          <a:xfrm xmlns:a="http://schemas.openxmlformats.org/drawingml/2006/main">
            <a:off x="628650" y="11144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27D86"/>
                </a:solidFill>
                <a:latin typeface="Malgun Gothic"/>
                <a:ea typeface="Malgun Gothic"/>
                <a:cs typeface="Malgun Gothic"/>
              </a:defRPr>
            </a:pPr>
            <a:r>
              <a:rPr sz="1800" b="0">
                <a:solidFill>
                  <a:srgbClr val="427D86"/>
                </a:solidFill>
                <a:latin typeface="Malgun Gothic"/>
                <a:ea typeface="Malgun Gothic"/>
                <a:cs typeface="Malgun Gothic"/>
              </a:rPr>
              <a:t>공식 자료 확인 + 설계 제안 / 실측 역기획은 다음 검증 단계</a:t>
            </a:r>
          </a:p>
        </p:txBody>
      </p:sp>
      <p:sp>
        <p:nvSpPr>
          <p:cNvPr id="3" name="">
            <a:extLst xmlns:a="http://schemas.openxmlformats.org/drawingml/2006/main">
              <a:ext uri="{FF2B5EF4-FFF2-40B4-BE49-F238E27FC236}">
                <a16:creationId xmlns:a16="http://schemas.microsoft.com/office/drawing/2014/main" id="{C22A0860-8ED7-4F0D-B94B-5EF3F83A1B82}"/>
              </a:ext>
            </a:extLst>
          </p:cNvPr>
          <p:cNvSpPr>
            <a:spLocks xmlns:a="http://schemas.openxmlformats.org/drawingml/2006/main" noGrp="1"/>
          </p:cNvSpPr>
          <p:nvPr/>
        </p:nvSpPr>
        <p:spPr>
          <a:xfrm xmlns:a="http://schemas.openxmlformats.org/drawingml/2006/main">
            <a:off x="666750" y="192405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3646"/>
                </a:solidFill>
                <a:latin typeface="Malgun Gothic"/>
                <a:ea typeface="Malgun Gothic"/>
                <a:cs typeface="Malgun Gothic"/>
              </a:defRPr>
            </a:pPr>
            <a:r>
              <a:rPr sz="2100" b="1">
                <a:solidFill>
                  <a:srgbClr val="243646"/>
                </a:solidFill>
                <a:latin typeface="Malgun Gothic"/>
                <a:ea typeface="Malgun Gothic"/>
                <a:cs typeface="Malgun Gothic"/>
              </a:rPr>
              <a:t>Brotato·Vampire Survivors: 웨이브, 성장, 수집의 구조를 참고.</a:t>
            </a:r>
          </a:p>
        </p:txBody>
      </p:sp>
      <p:sp>
        <p:nvSpPr>
          <p:cNvPr id="4" name="">
            <a:extLst xmlns:a="http://schemas.openxmlformats.org/drawingml/2006/main">
              <a:ext uri="{FF2B5EF4-FFF2-40B4-BE49-F238E27FC236}">
                <a16:creationId xmlns:a16="http://schemas.microsoft.com/office/drawing/2014/main" id="{C2813045-FBC0-4E19-AA33-17E1B3F47497}"/>
              </a:ext>
            </a:extLst>
          </p:cNvPr>
          <p:cNvSpPr>
            <a:spLocks xmlns:a="http://schemas.openxmlformats.org/drawingml/2006/main" noGrp="1"/>
          </p:cNvSpPr>
          <p:nvPr/>
        </p:nvSpPr>
        <p:spPr>
          <a:xfrm xmlns:a="http://schemas.openxmlformats.org/drawingml/2006/main">
            <a:off x="666750" y="292417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HoloCure·Goobies·Temtem: Swarm: 캐릭터 차이와 표현을 참고.</a:t>
            </a:r>
          </a:p>
        </p:txBody>
      </p:sp>
      <p:sp>
        <p:nvSpPr>
          <p:cNvPr id="5" name="">
            <a:extLst xmlns:a="http://schemas.openxmlformats.org/drawingml/2006/main">
              <a:ext uri="{FF2B5EF4-FFF2-40B4-BE49-F238E27FC236}">
                <a16:creationId xmlns:a16="http://schemas.microsoft.com/office/drawing/2014/main" id="{D77443D7-E063-4C7D-B5D3-695C3A141AFE}"/>
              </a:ext>
            </a:extLst>
          </p:cNvPr>
          <p:cNvSpPr>
            <a:spLocks xmlns:a="http://schemas.openxmlformats.org/drawingml/2006/main" noGrp="1"/>
          </p:cNvSpPr>
          <p:nvPr/>
        </p:nvSpPr>
        <p:spPr>
          <a:xfrm xmlns:a="http://schemas.openxmlformats.org/drawingml/2006/main">
            <a:off x="666750" y="3924300"/>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Steamworks: 가격·등록·심사·Next Fest·콘텐츠 설문 절차 참고.</a:t>
            </a:r>
          </a:p>
        </p:txBody>
      </p:sp>
      <p:sp>
        <p:nvSpPr>
          <p:cNvPr id="6" name="">
            <a:extLst xmlns:a="http://schemas.openxmlformats.org/drawingml/2006/main">
              <a:ext uri="{FF2B5EF4-FFF2-40B4-BE49-F238E27FC236}">
                <a16:creationId xmlns:a16="http://schemas.microsoft.com/office/drawing/2014/main" id="{CB6F1A57-78AE-4B2B-8DDC-8D4B92BCEBA1}"/>
              </a:ext>
            </a:extLst>
          </p:cNvPr>
          <p:cNvSpPr>
            <a:spLocks xmlns:a="http://schemas.openxmlformats.org/drawingml/2006/main" noGrp="1"/>
          </p:cNvSpPr>
          <p:nvPr/>
        </p:nvSpPr>
        <p:spPr>
          <a:xfrm xmlns:a="http://schemas.openxmlformats.org/drawingml/2006/main">
            <a:off x="666750" y="4924425"/>
            <a:ext cx="10744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43646"/>
                </a:solidFill>
                <a:latin typeface="Malgun Gothic"/>
                <a:ea typeface="Malgun Gothic"/>
                <a:cs typeface="Malgun Gothic"/>
              </a:defRPr>
            </a:pPr>
            <a:r>
              <a:rPr sz="2100" b="0">
                <a:solidFill>
                  <a:srgbClr val="243646"/>
                </a:solidFill>
                <a:latin typeface="Malgun Gothic"/>
                <a:ea typeface="Malgun Gothic"/>
                <a:cs typeface="Malgun Gothic"/>
              </a:rPr>
              <a:t>모든 상세 출처와 세부 규칙은 발표자 노트에 수록. 원본 시안은 구현 화면과 구분.</a:t>
            </a:r>
          </a:p>
        </p:txBody>
      </p:sp>
      <p:sp>
        <p:nvSpPr>
          <p:cNvPr id="7" name="">
            <a:extLst xmlns:a="http://schemas.openxmlformats.org/drawingml/2006/main">
              <a:ext uri="{FF2B5EF4-FFF2-40B4-BE49-F238E27FC236}">
                <a16:creationId xmlns:a16="http://schemas.microsoft.com/office/drawing/2014/main" id="{D4BA8352-5D96-4B22-91EC-EDA8F6B4510C}"/>
              </a:ext>
            </a:extLst>
          </p:cNvPr>
          <p:cNvSpPr>
            <a:spLocks xmlns:a="http://schemas.openxmlformats.org/drawingml/2006/main" noGrp="1"/>
          </p:cNvSpPr>
          <p:nvPr/>
        </p:nvSpPr>
        <p:spPr>
          <a:xfrm xmlns:a="http://schemas.openxmlformats.org/drawingml/2006/main">
            <a:off x="628650" y="6305550"/>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96B76"/>
                </a:solidFill>
                <a:latin typeface="Malgun Gothic"/>
                <a:ea typeface="Malgun Gothic"/>
                <a:cs typeface="Malgun Gothic"/>
              </a:defRPr>
            </a:pPr>
            <a:r>
              <a:rPr sz="1200" b="0">
                <a:solidFill>
                  <a:srgbClr val="596B76"/>
                </a:solidFill>
                <a:latin typeface="Malgun Gothic"/>
                <a:ea typeface="Malgun Gothic"/>
                <a:cs typeface="Malgun Gothic"/>
              </a:rPr>
              <a:t>상용 v1.0 제안안 · 수치는 검증용 초기값</a:t>
            </a:r>
          </a:p>
        </p:txBody>
      </p:sp>
      <p:sp>
        <p:nvSpPr>
          <p:cNvPr id="8" name="">
            <a:extLst xmlns:a="http://schemas.openxmlformats.org/drawingml/2006/main">
              <a:ext uri="{FF2B5EF4-FFF2-40B4-BE49-F238E27FC236}">
                <a16:creationId xmlns:a16="http://schemas.microsoft.com/office/drawing/2014/main" id="{2E861F4C-8F31-4D8D-BDC7-05E3CDFD35E3}"/>
              </a:ext>
            </a:extLst>
          </p:cNvPr>
          <p:cNvSpPr>
            <a:spLocks xmlns:a="http://schemas.openxmlformats.org/drawingml/2006/main" noGrp="1"/>
          </p:cNvSpPr>
          <p:nvPr/>
        </p:nvSpPr>
        <p:spPr>
          <a:xfrm xmlns:a="http://schemas.openxmlformats.org/drawingml/2006/main">
            <a:off x="110490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B76"/>
                </a:solidFill>
                <a:latin typeface="Malgun Gothic"/>
                <a:ea typeface="Malgun Gothic"/>
                <a:cs typeface="Malgun Gothic"/>
              </a:defRPr>
            </a:pPr>
            <a:r>
              <a:rPr sz="1350" b="0">
                <a:solidFill>
                  <a:srgbClr val="596B76"/>
                </a:solidFill>
                <a:latin typeface="Malgun Gothic"/>
                <a:ea typeface="Malgun Gothic"/>
                <a:cs typeface="Malgun Gothic"/>
              </a:rPr>
              <a:t>52</a:t>
            </a:r>
          </a:p>
        </p:txBody>
      </p:sp>
    </p:spTree>
    <p:extLst>
      <p:ext uri="{BB962C8B-B14F-4D97-AF65-F5344CB8AC3E}">
        <p14:creationId xmlns:p14="http://schemas.microsoft.com/office/powerpoint/2010/main" val="1445146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2026-09-10T05:22:31.1810000Z</dcterms:created>
  <dcterms:modified xsi:type="dcterms:W3CDTF">2026-09-10T05:22:31.1810000Z</dcterms:modified>
</coreProperties>
</file>